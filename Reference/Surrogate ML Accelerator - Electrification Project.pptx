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72097" r:id="rId2"/>
    <p:sldId id="2147472094" r:id="rId3"/>
    <p:sldId id="2147472095" r:id="rId4"/>
    <p:sldId id="2147472093" r:id="rId5"/>
    <p:sldId id="214747209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FF08"/>
    <a:srgbClr val="005E60"/>
    <a:srgbClr val="70AD47"/>
    <a:srgbClr val="FFFFFF"/>
    <a:srgbClr val="3379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68" autoAdjust="0"/>
    <p:restoredTop sz="94660"/>
  </p:normalViewPr>
  <p:slideViewPr>
    <p:cSldViewPr snapToGrid="0">
      <p:cViewPr varScale="1">
        <p:scale>
          <a:sx n="111" d="100"/>
          <a:sy n="111" d="100"/>
        </p:scale>
        <p:origin x="78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CE8E1-471D-9F1A-A0E5-6D7A27CB5D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D9DFF0-D8F5-33F0-A86E-389B3F228E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CC340C-13C1-88C6-7C2E-0507089A7BBC}"/>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5" name="Footer Placeholder 4">
            <a:extLst>
              <a:ext uri="{FF2B5EF4-FFF2-40B4-BE49-F238E27FC236}">
                <a16:creationId xmlns:a16="http://schemas.microsoft.com/office/drawing/2014/main" id="{F2AA2213-E551-C4A1-BD51-06C3C920B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46AC36-2305-3CDC-50BA-8A6DE647D412}"/>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592289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AA3A0-1A52-D81B-EE7E-F4902A2F2F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282B7D-F687-5140-38B0-29521DA660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75AE8-BC1B-4E2F-BA2E-30E11DE5328F}"/>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5" name="Footer Placeholder 4">
            <a:extLst>
              <a:ext uri="{FF2B5EF4-FFF2-40B4-BE49-F238E27FC236}">
                <a16:creationId xmlns:a16="http://schemas.microsoft.com/office/drawing/2014/main" id="{43CC6426-1C2D-12F1-4EDD-144330373D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618E9-E893-63B7-7256-4DF51547EDC7}"/>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3621864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E839-84B0-C413-C367-E838BA1C6C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DC8572-5203-F967-472E-3A96976BCA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61845E-3909-F35B-234C-F79080DC16B5}"/>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5" name="Footer Placeholder 4">
            <a:extLst>
              <a:ext uri="{FF2B5EF4-FFF2-40B4-BE49-F238E27FC236}">
                <a16:creationId xmlns:a16="http://schemas.microsoft.com/office/drawing/2014/main" id="{C9CECB9B-3A21-B556-F2CA-3AE354E854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12167-ECDA-1115-8ABB-7E75F9E34F91}"/>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1410143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708C-5247-3FA9-2319-CC96FF7399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307BBA-DC9F-0EE1-1ABC-6BB82C75A3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4CF710-C994-9C39-92E6-1E4826D600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7B0A71-73F8-7DC7-676A-924685F7C2E8}"/>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6" name="Footer Placeholder 5">
            <a:extLst>
              <a:ext uri="{FF2B5EF4-FFF2-40B4-BE49-F238E27FC236}">
                <a16:creationId xmlns:a16="http://schemas.microsoft.com/office/drawing/2014/main" id="{48F5C7D2-2BF4-C7CC-D97D-31D84CCE20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FA7300-B806-4823-8504-ED25525CCB21}"/>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2481176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04C75-0DF5-10FD-C396-43C6BC2252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CE7A78-35A4-6BA3-F3E5-EE4A3A6F3F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CE2EA-0E3F-38B5-856B-0FDD9FCB9D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7B4773-81DD-0915-A30B-D5784ACBFA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5744EE-2BC1-DBFF-423B-8473606601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556291-B333-E297-6B65-7598AF4DBB2D}"/>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8" name="Footer Placeholder 7">
            <a:extLst>
              <a:ext uri="{FF2B5EF4-FFF2-40B4-BE49-F238E27FC236}">
                <a16:creationId xmlns:a16="http://schemas.microsoft.com/office/drawing/2014/main" id="{502B8602-5D01-D7EC-D59C-6D2F0856AB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51C941-50AD-928E-5F73-F446ED90A3B1}"/>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2746212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3D36-39D7-8233-436C-D672017356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66F71D-06FC-FE82-6337-ABF796BE20ED}"/>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4" name="Footer Placeholder 3">
            <a:extLst>
              <a:ext uri="{FF2B5EF4-FFF2-40B4-BE49-F238E27FC236}">
                <a16:creationId xmlns:a16="http://schemas.microsoft.com/office/drawing/2014/main" id="{8EA07B68-60CC-B52D-8192-ECE1FA2AAA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EA8A5F-6DDB-020A-B527-443D5B48E30A}"/>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2039662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FAF710-198C-46E4-8E7E-E1E402AC376F}"/>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3" name="Footer Placeholder 2">
            <a:extLst>
              <a:ext uri="{FF2B5EF4-FFF2-40B4-BE49-F238E27FC236}">
                <a16:creationId xmlns:a16="http://schemas.microsoft.com/office/drawing/2014/main" id="{96A86D2A-37AF-B2BE-BAFD-1C198FA197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9C9CD3-E1D1-80A1-CAF7-3F1658EEC9FF}"/>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3344793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E362-23C6-7046-61C8-36E68EF31A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A4A7B6-4E57-20A2-D36F-9BEC370B2D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9EE128-8C72-EE31-4F7E-D6CF0265AB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0459D1-0B3C-CA94-FAF7-9E194EB029AD}"/>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6" name="Footer Placeholder 5">
            <a:extLst>
              <a:ext uri="{FF2B5EF4-FFF2-40B4-BE49-F238E27FC236}">
                <a16:creationId xmlns:a16="http://schemas.microsoft.com/office/drawing/2014/main" id="{7DA83F44-2C18-C61A-FE3D-28AEF6C797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74A566-FB69-4A20-4912-AB27D70AB25F}"/>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1563294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00A88-4E42-F13F-F3BC-80E514C19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C932CC-1DD3-6A1D-B000-70B1FD2CB4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8A9C49-1456-F4CE-D933-4E4AF2345B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AA0D37-FF57-D292-BBEA-F7FDD9D292ED}"/>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6" name="Footer Placeholder 5">
            <a:extLst>
              <a:ext uri="{FF2B5EF4-FFF2-40B4-BE49-F238E27FC236}">
                <a16:creationId xmlns:a16="http://schemas.microsoft.com/office/drawing/2014/main" id="{62284C46-85E7-B41A-BB24-A73AC5F97E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F7BF6E-29C1-3833-9007-2E72BC32DF20}"/>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2023827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CDCA-CDC0-6BFE-91F6-32D6FDF68E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B0F3FA-D369-5FCA-FE00-4493878E48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F4546-425E-9FAF-C26C-059BD05F5E4B}"/>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5" name="Footer Placeholder 4">
            <a:extLst>
              <a:ext uri="{FF2B5EF4-FFF2-40B4-BE49-F238E27FC236}">
                <a16:creationId xmlns:a16="http://schemas.microsoft.com/office/drawing/2014/main" id="{E6921348-BB60-099E-0513-2EC3A993AD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C5F1E-68E2-6FA4-6155-24C996E9CA63}"/>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2424455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E30442-82EE-1512-7CFD-ECC272042A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E7EFE2-05D0-A3CF-CC26-C4FAAAE791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43BFC4-576E-30F6-D5B7-8925A78083C2}"/>
              </a:ext>
            </a:extLst>
          </p:cNvPr>
          <p:cNvSpPr>
            <a:spLocks noGrp="1"/>
          </p:cNvSpPr>
          <p:nvPr>
            <p:ph type="dt" sz="half" idx="10"/>
          </p:nvPr>
        </p:nvSpPr>
        <p:spPr/>
        <p:txBody>
          <a:bodyPr/>
          <a:lstStyle/>
          <a:p>
            <a:fld id="{B8983B6E-8434-422B-B37B-95E4D9F0267C}" type="datetimeFigureOut">
              <a:rPr lang="en-US" smtClean="0"/>
              <a:t>10/6/2026</a:t>
            </a:fld>
            <a:endParaRPr lang="en-US"/>
          </a:p>
        </p:txBody>
      </p:sp>
      <p:sp>
        <p:nvSpPr>
          <p:cNvPr id="5" name="Footer Placeholder 4">
            <a:extLst>
              <a:ext uri="{FF2B5EF4-FFF2-40B4-BE49-F238E27FC236}">
                <a16:creationId xmlns:a16="http://schemas.microsoft.com/office/drawing/2014/main" id="{F9929226-D749-70FE-0EC4-E1F57C0255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D0D442-B63D-BF83-F37E-E2B158006263}"/>
              </a:ext>
            </a:extLst>
          </p:cNvPr>
          <p:cNvSpPr>
            <a:spLocks noGrp="1"/>
          </p:cNvSpPr>
          <p:nvPr>
            <p:ph type="sldNum" sz="quarter" idx="12"/>
          </p:nvPr>
        </p:nvSpPr>
        <p:spPr/>
        <p:txBody>
          <a:bodyPr/>
          <a:lstStyle/>
          <a:p>
            <a:fld id="{616416D3-DD05-47FB-9D7F-9AAB68A30AAC}" type="slidenum">
              <a:rPr lang="en-US" smtClean="0"/>
              <a:t>‹#›</a:t>
            </a:fld>
            <a:endParaRPr lang="en-US"/>
          </a:p>
        </p:txBody>
      </p:sp>
    </p:spTree>
    <p:extLst>
      <p:ext uri="{BB962C8B-B14F-4D97-AF65-F5344CB8AC3E}">
        <p14:creationId xmlns:p14="http://schemas.microsoft.com/office/powerpoint/2010/main" val="847493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BC02B1-DBF4-E4C0-0BF3-6D62312C64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A7EC8C-BD65-55FB-AA5E-3DC6954D8B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83719F-5F68-3E08-B9D4-13CA52CAEC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983B6E-8434-422B-B37B-95E4D9F0267C}" type="datetimeFigureOut">
              <a:rPr lang="en-US" smtClean="0"/>
              <a:t>10/6/2026</a:t>
            </a:fld>
            <a:endParaRPr lang="en-US"/>
          </a:p>
        </p:txBody>
      </p:sp>
      <p:sp>
        <p:nvSpPr>
          <p:cNvPr id="5" name="Footer Placeholder 4">
            <a:extLst>
              <a:ext uri="{FF2B5EF4-FFF2-40B4-BE49-F238E27FC236}">
                <a16:creationId xmlns:a16="http://schemas.microsoft.com/office/drawing/2014/main" id="{F2C60AB1-483F-CD40-D6FC-54ED1FD0BC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8AF2B9-9361-9AF8-3998-5C80AC582D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416D3-DD05-47FB-9D7F-9AAB68A30AAC}" type="slidenum">
              <a:rPr lang="en-US" smtClean="0"/>
              <a:t>‹#›</a:t>
            </a:fld>
            <a:endParaRPr lang="en-US"/>
          </a:p>
        </p:txBody>
      </p:sp>
    </p:spTree>
    <p:extLst>
      <p:ext uri="{BB962C8B-B14F-4D97-AF65-F5344CB8AC3E}">
        <p14:creationId xmlns:p14="http://schemas.microsoft.com/office/powerpoint/2010/main" val="3557867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09B13-F62F-C92C-2F34-8C612E72A0F2}"/>
            </a:ext>
          </a:extLst>
        </p:cNvPr>
        <p:cNvGrpSpPr/>
        <p:nvPr/>
      </p:nvGrpSpPr>
      <p:grpSpPr>
        <a:xfrm>
          <a:off x="0" y="0"/>
          <a:ext cx="0" cy="0"/>
          <a:chOff x="0" y="0"/>
          <a:chExt cx="0" cy="0"/>
        </a:xfrm>
      </p:grpSpPr>
      <p:sp>
        <p:nvSpPr>
          <p:cNvPr id="23" name="Title 16">
            <a:extLst>
              <a:ext uri="{FF2B5EF4-FFF2-40B4-BE49-F238E27FC236}">
                <a16:creationId xmlns:a16="http://schemas.microsoft.com/office/drawing/2014/main" id="{DA0A1456-C991-8105-9B33-6082D09643A3}"/>
              </a:ext>
            </a:extLst>
          </p:cNvPr>
          <p:cNvSpPr txBox="1">
            <a:spLocks/>
          </p:cNvSpPr>
          <p:nvPr/>
        </p:nvSpPr>
        <p:spPr>
          <a:xfrm>
            <a:off x="97142" y="217564"/>
            <a:ext cx="9604794" cy="4570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005E60"/>
                </a:solidFill>
              </a:rPr>
              <a:t>Surrogate ML Accelerator - Electrification Project</a:t>
            </a:r>
            <a:endParaRPr lang="en-US" sz="3600" dirty="0">
              <a:solidFill>
                <a:srgbClr val="005E60"/>
              </a:solidFill>
            </a:endParaRPr>
          </a:p>
        </p:txBody>
      </p:sp>
      <p:sp>
        <p:nvSpPr>
          <p:cNvPr id="2" name="TextBox 1">
            <a:extLst>
              <a:ext uri="{FF2B5EF4-FFF2-40B4-BE49-F238E27FC236}">
                <a16:creationId xmlns:a16="http://schemas.microsoft.com/office/drawing/2014/main" id="{474D49ED-CFA8-F15D-885D-B75059591EC9}"/>
              </a:ext>
            </a:extLst>
          </p:cNvPr>
          <p:cNvSpPr txBox="1"/>
          <p:nvPr/>
        </p:nvSpPr>
        <p:spPr>
          <a:xfrm>
            <a:off x="5934975" y="900102"/>
            <a:ext cx="1452001" cy="369332"/>
          </a:xfrm>
          <a:prstGeom prst="rect">
            <a:avLst/>
          </a:prstGeom>
          <a:noFill/>
        </p:spPr>
        <p:txBody>
          <a:bodyPr wrap="none" rtlCol="0">
            <a:spAutoFit/>
          </a:bodyPr>
          <a:lstStyle/>
          <a:p>
            <a:r>
              <a:rPr lang="en-US" b="1" u="sng" dirty="0">
                <a:solidFill>
                  <a:srgbClr val="005E60"/>
                </a:solidFill>
              </a:rPr>
              <a:t>Current State</a:t>
            </a:r>
          </a:p>
        </p:txBody>
      </p:sp>
      <p:sp>
        <p:nvSpPr>
          <p:cNvPr id="5" name="TextBox 4">
            <a:extLst>
              <a:ext uri="{FF2B5EF4-FFF2-40B4-BE49-F238E27FC236}">
                <a16:creationId xmlns:a16="http://schemas.microsoft.com/office/drawing/2014/main" id="{C5A3BED9-FAC4-0A7A-5FD8-36E5B2CC3F4A}"/>
              </a:ext>
            </a:extLst>
          </p:cNvPr>
          <p:cNvSpPr txBox="1"/>
          <p:nvPr/>
        </p:nvSpPr>
        <p:spPr>
          <a:xfrm>
            <a:off x="0" y="730708"/>
            <a:ext cx="1093056" cy="369332"/>
          </a:xfrm>
          <a:prstGeom prst="rect">
            <a:avLst/>
          </a:prstGeom>
          <a:noFill/>
        </p:spPr>
        <p:txBody>
          <a:bodyPr wrap="none" rtlCol="0">
            <a:spAutoFit/>
          </a:bodyPr>
          <a:lstStyle/>
          <a:p>
            <a:r>
              <a:rPr lang="en-US" b="1" u="sng" dirty="0">
                <a:solidFill>
                  <a:srgbClr val="005E60"/>
                </a:solidFill>
              </a:rPr>
              <a:t>Objective</a:t>
            </a:r>
          </a:p>
        </p:txBody>
      </p:sp>
      <p:sp>
        <p:nvSpPr>
          <p:cNvPr id="7" name="TextBox 6">
            <a:extLst>
              <a:ext uri="{FF2B5EF4-FFF2-40B4-BE49-F238E27FC236}">
                <a16:creationId xmlns:a16="http://schemas.microsoft.com/office/drawing/2014/main" id="{BE02631A-3ED1-7FB1-36BB-B6CDCF7A7329}"/>
              </a:ext>
            </a:extLst>
          </p:cNvPr>
          <p:cNvSpPr txBox="1"/>
          <p:nvPr/>
        </p:nvSpPr>
        <p:spPr>
          <a:xfrm>
            <a:off x="0" y="1158111"/>
            <a:ext cx="5878090" cy="1200329"/>
          </a:xfrm>
          <a:prstGeom prst="rect">
            <a:avLst/>
          </a:prstGeom>
          <a:noFill/>
        </p:spPr>
        <p:txBody>
          <a:bodyPr wrap="square" rtlCol="0">
            <a:spAutoFit/>
          </a:bodyPr>
          <a:lstStyle/>
          <a:p>
            <a:r>
              <a:rPr lang="en-US" dirty="0"/>
              <a:t>Bring burstable ML/GPU dense compute capabilities to GEVAR leveraging the AWS cloud - building a scalable solution which can be leveraged as a surrogate model  accelerator for the Electrification business</a:t>
            </a:r>
          </a:p>
        </p:txBody>
      </p:sp>
      <p:sp>
        <p:nvSpPr>
          <p:cNvPr id="11" name="TextBox 10">
            <a:extLst>
              <a:ext uri="{FF2B5EF4-FFF2-40B4-BE49-F238E27FC236}">
                <a16:creationId xmlns:a16="http://schemas.microsoft.com/office/drawing/2014/main" id="{F5DE2599-19A9-D417-B324-D41209EE9563}"/>
              </a:ext>
            </a:extLst>
          </p:cNvPr>
          <p:cNvSpPr txBox="1"/>
          <p:nvPr/>
        </p:nvSpPr>
        <p:spPr>
          <a:xfrm>
            <a:off x="0" y="4476506"/>
            <a:ext cx="2790379" cy="369332"/>
          </a:xfrm>
          <a:prstGeom prst="rect">
            <a:avLst/>
          </a:prstGeom>
          <a:noFill/>
        </p:spPr>
        <p:txBody>
          <a:bodyPr wrap="none" rtlCol="0">
            <a:spAutoFit/>
          </a:bodyPr>
          <a:lstStyle/>
          <a:p>
            <a:r>
              <a:rPr lang="en-US" b="1" u="sng" dirty="0">
                <a:solidFill>
                  <a:srgbClr val="005E60"/>
                </a:solidFill>
              </a:rPr>
              <a:t>Infrastructure (AWS &amp; Run)</a:t>
            </a:r>
          </a:p>
        </p:txBody>
      </p:sp>
      <p:sp>
        <p:nvSpPr>
          <p:cNvPr id="19" name="TextBox 18">
            <a:extLst>
              <a:ext uri="{FF2B5EF4-FFF2-40B4-BE49-F238E27FC236}">
                <a16:creationId xmlns:a16="http://schemas.microsoft.com/office/drawing/2014/main" id="{BCA64100-C0CC-6B9A-7324-A91ADBC33F58}"/>
              </a:ext>
            </a:extLst>
          </p:cNvPr>
          <p:cNvSpPr txBox="1"/>
          <p:nvPr/>
        </p:nvSpPr>
        <p:spPr>
          <a:xfrm>
            <a:off x="129397" y="4795897"/>
            <a:ext cx="5452170" cy="2062103"/>
          </a:xfrm>
          <a:prstGeom prst="rect">
            <a:avLst/>
          </a:prstGeom>
          <a:noFill/>
        </p:spPr>
        <p:txBody>
          <a:bodyPr wrap="square" rtlCol="0">
            <a:spAutoFit/>
          </a:bodyPr>
          <a:lstStyle/>
          <a:p>
            <a:r>
              <a:rPr lang="en-US" sz="1600" dirty="0">
                <a:sym typeface="Wingdings" panose="05000000000000000000" pitchFamily="2" charset="2"/>
              </a:rPr>
              <a:t></a:t>
            </a:r>
            <a:r>
              <a:rPr lang="en-US" sz="1600" dirty="0"/>
              <a:t>(4) </a:t>
            </a:r>
            <a:r>
              <a:rPr lang="en-US" sz="1600" b="1" dirty="0"/>
              <a:t>p5.48xlarge (32 GPUs) </a:t>
            </a:r>
            <a:r>
              <a:rPr lang="en-US" sz="1600" dirty="0"/>
              <a:t>instances deployed in an AWS account hosting in the GEV ENT </a:t>
            </a:r>
            <a:r>
              <a:rPr lang="en-US" sz="1600" dirty="0" err="1"/>
              <a:t>MasterPayer</a:t>
            </a:r>
            <a:r>
              <a:rPr lang="en-US" sz="1600" dirty="0"/>
              <a:t> / Org with all Sec / Compliance controls in place (like QB set up)</a:t>
            </a:r>
          </a:p>
          <a:p>
            <a:pPr marL="742950" lvl="1" indent="-285750">
              <a:buFont typeface="Arial" panose="020B0604020202020204" pitchFamily="34" charset="0"/>
              <a:buChar char="•"/>
            </a:pPr>
            <a:r>
              <a:rPr lang="en-US" sz="1600" b="1" dirty="0"/>
              <a:t>Paid for by Electrification 2026 Program $’s</a:t>
            </a:r>
          </a:p>
          <a:p>
            <a:r>
              <a:rPr lang="en-US" sz="1600" dirty="0">
                <a:sym typeface="Wingdings" panose="05000000000000000000" pitchFamily="2" charset="2"/>
              </a:rPr>
              <a:t> </a:t>
            </a:r>
            <a:r>
              <a:rPr lang="en-US" sz="1600" dirty="0"/>
              <a:t>Leveraging the QB design as REFERANCE ARCHITECTURE and understanding of how the business is currently leveraging our “on prem” environment to design and build out and environment in the cloud to deliver to ELE needs.</a:t>
            </a:r>
          </a:p>
        </p:txBody>
      </p:sp>
      <p:cxnSp>
        <p:nvCxnSpPr>
          <p:cNvPr id="4" name="Straight Connector 3">
            <a:extLst>
              <a:ext uri="{FF2B5EF4-FFF2-40B4-BE49-F238E27FC236}">
                <a16:creationId xmlns:a16="http://schemas.microsoft.com/office/drawing/2014/main" id="{EAF741E4-0385-8A66-4396-090978939072}"/>
              </a:ext>
            </a:extLst>
          </p:cNvPr>
          <p:cNvCxnSpPr/>
          <p:nvPr/>
        </p:nvCxnSpPr>
        <p:spPr>
          <a:xfrm>
            <a:off x="5835810" y="916034"/>
            <a:ext cx="84560" cy="5075191"/>
          </a:xfrm>
          <a:prstGeom prst="line">
            <a:avLst/>
          </a:prstGeom>
          <a:ln w="9525">
            <a:prstDash val="dash"/>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6AF37647-0D8F-B0D5-FCEB-56C2290B62F8}"/>
              </a:ext>
            </a:extLst>
          </p:cNvPr>
          <p:cNvSpPr txBox="1"/>
          <p:nvPr/>
        </p:nvSpPr>
        <p:spPr>
          <a:xfrm>
            <a:off x="5957978" y="1327762"/>
            <a:ext cx="5878090" cy="2031325"/>
          </a:xfrm>
          <a:prstGeom prst="rect">
            <a:avLst/>
          </a:prstGeom>
          <a:noFill/>
          <a:ln>
            <a:noFill/>
          </a:ln>
        </p:spPr>
        <p:txBody>
          <a:bodyPr wrap="square" rtlCol="0">
            <a:spAutoFit/>
          </a:bodyPr>
          <a:lstStyle/>
          <a:p>
            <a:pPr marL="285750" indent="-285750">
              <a:buFont typeface="Wingdings" panose="05000000000000000000" pitchFamily="2" charset="2"/>
              <a:buChar char="ü"/>
            </a:pPr>
            <a:r>
              <a:rPr lang="en-US" dirty="0"/>
              <a:t>ENG open with CTO/HQ to work with their Solution Architecture team (needed to GWD… called “Base” process</a:t>
            </a:r>
          </a:p>
          <a:p>
            <a:pPr marL="285750" indent="-285750">
              <a:buFont typeface="Wingdings" panose="05000000000000000000" pitchFamily="2" charset="2"/>
              <a:buChar char="ü"/>
            </a:pPr>
            <a:r>
              <a:rPr lang="en-US" dirty="0"/>
              <a:t>Service Now record for “Business App”</a:t>
            </a:r>
          </a:p>
          <a:p>
            <a:pPr marL="285750" indent="-285750">
              <a:buFont typeface="Wingdings" panose="05000000000000000000" pitchFamily="2" charset="2"/>
              <a:buChar char="ü"/>
            </a:pPr>
            <a:r>
              <a:rPr lang="en-US" dirty="0"/>
              <a:t>Discussion with AWS to secure P5 instances in planned account</a:t>
            </a:r>
          </a:p>
          <a:p>
            <a:pPr marL="285750" indent="-285750">
              <a:buFont typeface="Wingdings" panose="05000000000000000000" pitchFamily="2" charset="2"/>
              <a:buChar char="q"/>
            </a:pPr>
            <a:endParaRPr lang="en-US" dirty="0"/>
          </a:p>
        </p:txBody>
      </p:sp>
      <p:sp>
        <p:nvSpPr>
          <p:cNvPr id="10" name="TextBox 9">
            <a:extLst>
              <a:ext uri="{FF2B5EF4-FFF2-40B4-BE49-F238E27FC236}">
                <a16:creationId xmlns:a16="http://schemas.microsoft.com/office/drawing/2014/main" id="{6CA5FC7A-5F28-A316-EAF2-F63792914A27}"/>
              </a:ext>
            </a:extLst>
          </p:cNvPr>
          <p:cNvSpPr txBox="1"/>
          <p:nvPr/>
        </p:nvSpPr>
        <p:spPr>
          <a:xfrm>
            <a:off x="0" y="2398223"/>
            <a:ext cx="786690" cy="369332"/>
          </a:xfrm>
          <a:prstGeom prst="rect">
            <a:avLst/>
          </a:prstGeom>
          <a:noFill/>
        </p:spPr>
        <p:txBody>
          <a:bodyPr wrap="none" rtlCol="0">
            <a:spAutoFit/>
          </a:bodyPr>
          <a:lstStyle/>
          <a:p>
            <a:r>
              <a:rPr lang="en-US" b="1" u="sng" dirty="0">
                <a:solidFill>
                  <a:srgbClr val="005E60"/>
                </a:solidFill>
              </a:rPr>
              <a:t>Teams</a:t>
            </a:r>
          </a:p>
        </p:txBody>
      </p:sp>
      <p:sp>
        <p:nvSpPr>
          <p:cNvPr id="13" name="TextBox 12">
            <a:extLst>
              <a:ext uri="{FF2B5EF4-FFF2-40B4-BE49-F238E27FC236}">
                <a16:creationId xmlns:a16="http://schemas.microsoft.com/office/drawing/2014/main" id="{3C42B934-49F4-5BD0-D8E2-1151911480D9}"/>
              </a:ext>
            </a:extLst>
          </p:cNvPr>
          <p:cNvSpPr txBox="1"/>
          <p:nvPr/>
        </p:nvSpPr>
        <p:spPr>
          <a:xfrm>
            <a:off x="0" y="2825883"/>
            <a:ext cx="3165894" cy="1600438"/>
          </a:xfrm>
          <a:prstGeom prst="rect">
            <a:avLst/>
          </a:prstGeom>
          <a:noFill/>
          <a:ln>
            <a:solidFill>
              <a:schemeClr val="tx1"/>
            </a:solidFill>
          </a:ln>
        </p:spPr>
        <p:txBody>
          <a:bodyPr wrap="square" rtlCol="0">
            <a:spAutoFit/>
          </a:bodyPr>
          <a:lstStyle/>
          <a:p>
            <a:r>
              <a:rPr lang="en-US" sz="1400" b="1" dirty="0"/>
              <a:t>ARC DT</a:t>
            </a:r>
          </a:p>
          <a:p>
            <a:pPr marL="285750" indent="-285750">
              <a:buFont typeface="Arial" panose="020B0604020202020204" pitchFamily="34" charset="0"/>
              <a:buChar char="•"/>
            </a:pPr>
            <a:r>
              <a:rPr lang="en-US" sz="1400" dirty="0"/>
              <a:t>Mike Russo (Sponsor / Block Breaker)</a:t>
            </a:r>
          </a:p>
          <a:p>
            <a:pPr marL="285750" indent="-285750">
              <a:buFont typeface="Arial" panose="020B0604020202020204" pitchFamily="34" charset="0"/>
              <a:buChar char="•"/>
            </a:pPr>
            <a:r>
              <a:rPr lang="en-US" sz="1400" dirty="0"/>
              <a:t>Todd Shirback (Project Manager)</a:t>
            </a:r>
          </a:p>
          <a:p>
            <a:pPr marL="285750" indent="-285750">
              <a:buFont typeface="Arial" panose="020B0604020202020204" pitchFamily="34" charset="0"/>
              <a:buChar char="•"/>
            </a:pPr>
            <a:r>
              <a:rPr lang="en-US" sz="1400" dirty="0"/>
              <a:t>Dave Garber ( </a:t>
            </a:r>
            <a:r>
              <a:rPr lang="en-US" sz="1400" dirty="0" err="1"/>
              <a:t>Onprem</a:t>
            </a:r>
            <a:r>
              <a:rPr lang="en-US" sz="1400" dirty="0"/>
              <a:t>&lt;&gt;Cloud)</a:t>
            </a:r>
          </a:p>
          <a:p>
            <a:pPr marL="285750" indent="-285750">
              <a:buFont typeface="Arial" panose="020B0604020202020204" pitchFamily="34" charset="0"/>
              <a:buChar char="•"/>
            </a:pPr>
            <a:r>
              <a:rPr lang="en-US" sz="1400" dirty="0"/>
              <a:t>Nam Park (Cloud Engineer – TBD)</a:t>
            </a:r>
          </a:p>
          <a:p>
            <a:pPr marL="285750" indent="-285750">
              <a:buFont typeface="Arial" panose="020B0604020202020204" pitchFamily="34" charset="0"/>
              <a:buChar char="•"/>
            </a:pPr>
            <a:r>
              <a:rPr lang="en-US" sz="1400" dirty="0"/>
              <a:t>Rick Allen (Cloud Engineer – TBD)</a:t>
            </a:r>
          </a:p>
          <a:p>
            <a:pPr marL="285750" indent="-285750">
              <a:buFont typeface="Arial" panose="020B0604020202020204" pitchFamily="34" charset="0"/>
              <a:buChar char="•"/>
            </a:pPr>
            <a:r>
              <a:rPr lang="en-US" sz="1400" dirty="0"/>
              <a:t>Chris Burke (Cloud Engineer – TBD)</a:t>
            </a:r>
          </a:p>
        </p:txBody>
      </p:sp>
      <p:sp>
        <p:nvSpPr>
          <p:cNvPr id="8" name="TextBox 7">
            <a:extLst>
              <a:ext uri="{FF2B5EF4-FFF2-40B4-BE49-F238E27FC236}">
                <a16:creationId xmlns:a16="http://schemas.microsoft.com/office/drawing/2014/main" id="{B3E5BA52-DB17-CD89-08D3-8568572866F7}"/>
              </a:ext>
            </a:extLst>
          </p:cNvPr>
          <p:cNvSpPr txBox="1"/>
          <p:nvPr/>
        </p:nvSpPr>
        <p:spPr>
          <a:xfrm>
            <a:off x="3217653" y="2848887"/>
            <a:ext cx="2605178" cy="1600438"/>
          </a:xfrm>
          <a:prstGeom prst="rect">
            <a:avLst/>
          </a:prstGeom>
          <a:noFill/>
          <a:ln>
            <a:solidFill>
              <a:schemeClr val="tx1"/>
            </a:solidFill>
          </a:ln>
        </p:spPr>
        <p:txBody>
          <a:bodyPr wrap="square" rtlCol="0">
            <a:spAutoFit/>
          </a:bodyPr>
          <a:lstStyle/>
          <a:p>
            <a:r>
              <a:rPr lang="en-US" sz="1400" b="1" dirty="0"/>
              <a:t>Researchers / Business</a:t>
            </a:r>
          </a:p>
          <a:p>
            <a:pPr marL="285750" indent="-285750">
              <a:buFont typeface="Arial" panose="020B0604020202020204" pitchFamily="34" charset="0"/>
              <a:buChar char="•"/>
            </a:pPr>
            <a:r>
              <a:rPr lang="en-US" sz="1400" dirty="0"/>
              <a:t>Jim Tallman</a:t>
            </a:r>
          </a:p>
          <a:p>
            <a:pPr marL="285750" indent="-285750">
              <a:buFont typeface="Arial" panose="020B0604020202020204" pitchFamily="34" charset="0"/>
              <a:buChar char="•"/>
            </a:pPr>
            <a:r>
              <a:rPr lang="en-US" sz="1400" dirty="0"/>
              <a:t>Deepak </a:t>
            </a:r>
            <a:r>
              <a:rPr lang="en-US" sz="1400" dirty="0" err="1"/>
              <a:t>Akhare</a:t>
            </a:r>
            <a:endParaRPr lang="en-US" sz="1400" dirty="0"/>
          </a:p>
          <a:p>
            <a:pPr marL="285750" indent="-285750">
              <a:buFont typeface="Arial" panose="020B0604020202020204" pitchFamily="34" charset="0"/>
              <a:buChar char="•"/>
            </a:pPr>
            <a:r>
              <a:rPr lang="en-US" sz="1400" dirty="0"/>
              <a:t>Priyesh </a:t>
            </a:r>
            <a:r>
              <a:rPr lang="en-US" sz="1400" dirty="0" err="1"/>
              <a:t>Kakka</a:t>
            </a: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
        <p:nvSpPr>
          <p:cNvPr id="12" name="TextBox 11">
            <a:extLst>
              <a:ext uri="{FF2B5EF4-FFF2-40B4-BE49-F238E27FC236}">
                <a16:creationId xmlns:a16="http://schemas.microsoft.com/office/drawing/2014/main" id="{81FF1C2A-771F-0BA1-0B33-396BB599ED68}"/>
              </a:ext>
            </a:extLst>
          </p:cNvPr>
          <p:cNvSpPr txBox="1"/>
          <p:nvPr/>
        </p:nvSpPr>
        <p:spPr>
          <a:xfrm>
            <a:off x="5937850" y="3309029"/>
            <a:ext cx="6124754" cy="369332"/>
          </a:xfrm>
          <a:prstGeom prst="rect">
            <a:avLst/>
          </a:prstGeom>
          <a:noFill/>
        </p:spPr>
        <p:txBody>
          <a:bodyPr wrap="square">
            <a:spAutoFit/>
          </a:bodyPr>
          <a:lstStyle/>
          <a:p>
            <a:r>
              <a:rPr lang="en-US" b="1" u="sng" dirty="0">
                <a:solidFill>
                  <a:srgbClr val="005E60"/>
                </a:solidFill>
              </a:rPr>
              <a:t>Next Steps</a:t>
            </a:r>
            <a:endParaRPr lang="en-US" sz="1800" b="1" u="sng" dirty="0">
              <a:solidFill>
                <a:srgbClr val="005E60"/>
              </a:solidFill>
            </a:endParaRPr>
          </a:p>
        </p:txBody>
      </p:sp>
      <p:sp>
        <p:nvSpPr>
          <p:cNvPr id="15" name="TextBox 14">
            <a:extLst>
              <a:ext uri="{FF2B5EF4-FFF2-40B4-BE49-F238E27FC236}">
                <a16:creationId xmlns:a16="http://schemas.microsoft.com/office/drawing/2014/main" id="{275710A9-8423-A95D-3439-4929DFD2C43B}"/>
              </a:ext>
            </a:extLst>
          </p:cNvPr>
          <p:cNvSpPr txBox="1"/>
          <p:nvPr/>
        </p:nvSpPr>
        <p:spPr>
          <a:xfrm>
            <a:off x="5963729" y="3748502"/>
            <a:ext cx="6124754" cy="2308324"/>
          </a:xfrm>
          <a:prstGeom prst="rect">
            <a:avLst/>
          </a:prstGeom>
          <a:noFill/>
          <a:ln>
            <a:noFill/>
          </a:ln>
        </p:spPr>
        <p:txBody>
          <a:bodyPr wrap="square">
            <a:spAutoFit/>
          </a:bodyPr>
          <a:lstStyle/>
          <a:p>
            <a:pPr marL="285750" indent="-285750">
              <a:buFont typeface="Wingdings" panose="05000000000000000000" pitchFamily="2" charset="2"/>
              <a:buChar char="q"/>
            </a:pPr>
            <a:r>
              <a:rPr lang="en-US" dirty="0"/>
              <a:t>Kick off call with Jim / Business for intake</a:t>
            </a:r>
            <a:endParaRPr lang="en-US" sz="1800" dirty="0"/>
          </a:p>
          <a:p>
            <a:pPr marL="285750" indent="-285750">
              <a:buFont typeface="Wingdings" panose="05000000000000000000" pitchFamily="2" charset="2"/>
              <a:buChar char="q"/>
            </a:pPr>
            <a:r>
              <a:rPr lang="en-US" sz="1800" dirty="0"/>
              <a:t>Secure funding from business for GPU Servers</a:t>
            </a:r>
          </a:p>
          <a:p>
            <a:pPr marL="285750" indent="-285750">
              <a:buFont typeface="Wingdings" panose="05000000000000000000" pitchFamily="2" charset="2"/>
              <a:buChar char="q"/>
            </a:pPr>
            <a:r>
              <a:rPr lang="en-US" sz="1800" dirty="0"/>
              <a:t>Land Servers in destination account</a:t>
            </a:r>
          </a:p>
          <a:p>
            <a:pPr marL="285750" indent="-285750">
              <a:buFont typeface="Wingdings" panose="05000000000000000000" pitchFamily="2" charset="2"/>
              <a:buChar char="q"/>
            </a:pPr>
            <a:r>
              <a:rPr lang="en-US" dirty="0"/>
              <a:t>Get Nam / Rick AERO badges to work at 1RC (part-time)</a:t>
            </a:r>
          </a:p>
          <a:p>
            <a:pPr marL="285750" indent="-285750">
              <a:buFont typeface="Wingdings" panose="05000000000000000000" pitchFamily="2" charset="2"/>
              <a:buChar char="q"/>
            </a:pPr>
            <a:r>
              <a:rPr lang="en-US" dirty="0"/>
              <a:t>Design of MVP for Jim to GWD</a:t>
            </a:r>
          </a:p>
          <a:p>
            <a:pPr marL="285750" indent="-285750">
              <a:buFont typeface="Wingdings" panose="05000000000000000000" pitchFamily="2" charset="2"/>
              <a:buChar char="q"/>
            </a:pPr>
            <a:r>
              <a:rPr lang="en-US" dirty="0"/>
              <a:t>Meetings with CTO/HQ SA/ENG to get GIT pipelines set up for </a:t>
            </a:r>
            <a:r>
              <a:rPr lang="en-US" dirty="0" err="1"/>
              <a:t>IaC</a:t>
            </a:r>
            <a:r>
              <a:rPr lang="en-US" dirty="0"/>
              <a:t> deployments</a:t>
            </a:r>
          </a:p>
          <a:p>
            <a:pPr marL="285750" indent="-285750">
              <a:buFont typeface="Wingdings" panose="05000000000000000000" pitchFamily="2" charset="2"/>
              <a:buChar char="q"/>
            </a:pPr>
            <a:r>
              <a:rPr lang="en-US" sz="1800" dirty="0"/>
              <a:t>…</a:t>
            </a:r>
            <a:r>
              <a:rPr lang="en-US" sz="1800" dirty="0" err="1"/>
              <a:t>etc</a:t>
            </a:r>
            <a:r>
              <a:rPr lang="en-US" sz="1800" dirty="0"/>
              <a:t>…</a:t>
            </a:r>
          </a:p>
        </p:txBody>
      </p:sp>
    </p:spTree>
    <p:extLst>
      <p:ext uri="{BB962C8B-B14F-4D97-AF65-F5344CB8AC3E}">
        <p14:creationId xmlns:p14="http://schemas.microsoft.com/office/powerpoint/2010/main" val="2283975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7D0EA-504E-493A-25C0-5F32D3F39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770"/>
            <a:ext cx="12280374" cy="6443932"/>
          </a:xfrm>
          <a:prstGeom prst="rect">
            <a:avLst/>
          </a:prstGeom>
        </p:spPr>
      </p:pic>
      <p:sp>
        <p:nvSpPr>
          <p:cNvPr id="5" name="TextBox 4">
            <a:extLst>
              <a:ext uri="{FF2B5EF4-FFF2-40B4-BE49-F238E27FC236}">
                <a16:creationId xmlns:a16="http://schemas.microsoft.com/office/drawing/2014/main" id="{1B5500E7-D8BF-3A53-598D-C04F32935C81}"/>
              </a:ext>
            </a:extLst>
          </p:cNvPr>
          <p:cNvSpPr txBox="1"/>
          <p:nvPr/>
        </p:nvSpPr>
        <p:spPr>
          <a:xfrm>
            <a:off x="5731593" y="5546633"/>
            <a:ext cx="6097554" cy="923330"/>
          </a:xfrm>
          <a:prstGeom prst="rect">
            <a:avLst/>
          </a:prstGeom>
          <a:noFill/>
        </p:spPr>
        <p:txBody>
          <a:bodyPr wrap="square">
            <a:spAutoFit/>
          </a:bodyPr>
          <a:lstStyle/>
          <a:p>
            <a:r>
              <a:rPr lang="en-US" dirty="0"/>
              <a:t>https://confluence.apps.gevernova.net/devspace/pages/viewpage.action?pageId=358862179&amp;spaceKey=VCA&amp;title=GEVDMND0007346%2B-%2BQuantum%2BBlack%2B-%2BPRD</a:t>
            </a:r>
          </a:p>
        </p:txBody>
      </p:sp>
    </p:spTree>
    <p:extLst>
      <p:ext uri="{BB962C8B-B14F-4D97-AF65-F5344CB8AC3E}">
        <p14:creationId xmlns:p14="http://schemas.microsoft.com/office/powerpoint/2010/main" val="1789793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B0827-8FB2-B5B8-1BE9-441C9DA089E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E81C4E0-43B4-9AC5-7A04-6B8251B5DC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203" y="585390"/>
            <a:ext cx="9983593" cy="5687219"/>
          </a:xfrm>
          <a:prstGeom prst="rect">
            <a:avLst/>
          </a:prstGeom>
        </p:spPr>
      </p:pic>
    </p:spTree>
    <p:extLst>
      <p:ext uri="{BB962C8B-B14F-4D97-AF65-F5344CB8AC3E}">
        <p14:creationId xmlns:p14="http://schemas.microsoft.com/office/powerpoint/2010/main" val="4239076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7F1E4-14D2-389D-3483-46D62140E1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E185461-23D9-BDBC-C47E-153FCC6F0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649" y="504417"/>
            <a:ext cx="11650701" cy="5849166"/>
          </a:xfrm>
          <a:prstGeom prst="rect">
            <a:avLst/>
          </a:prstGeom>
        </p:spPr>
      </p:pic>
    </p:spTree>
    <p:extLst>
      <p:ext uri="{BB962C8B-B14F-4D97-AF65-F5344CB8AC3E}">
        <p14:creationId xmlns:p14="http://schemas.microsoft.com/office/powerpoint/2010/main" val="2064381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8196F-CA68-22D6-641F-B85A11343213}"/>
            </a:ext>
          </a:extLst>
        </p:cNvPr>
        <p:cNvGrpSpPr/>
        <p:nvPr/>
      </p:nvGrpSpPr>
      <p:grpSpPr>
        <a:xfrm>
          <a:off x="0" y="0"/>
          <a:ext cx="0" cy="0"/>
          <a:chOff x="0" y="0"/>
          <a:chExt cx="0" cy="0"/>
        </a:xfrm>
      </p:grpSpPr>
      <p:sp>
        <p:nvSpPr>
          <p:cNvPr id="23" name="Title 16">
            <a:extLst>
              <a:ext uri="{FF2B5EF4-FFF2-40B4-BE49-F238E27FC236}">
                <a16:creationId xmlns:a16="http://schemas.microsoft.com/office/drawing/2014/main" id="{877071AC-0D84-6030-4E46-4D16297007CD}"/>
              </a:ext>
            </a:extLst>
          </p:cNvPr>
          <p:cNvSpPr txBox="1">
            <a:spLocks/>
          </p:cNvSpPr>
          <p:nvPr/>
        </p:nvSpPr>
        <p:spPr>
          <a:xfrm>
            <a:off x="97142" y="217564"/>
            <a:ext cx="9604794" cy="45702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005E60"/>
                </a:solidFill>
              </a:rPr>
              <a:t>Surrogate ML Accelerator - Electrification Project</a:t>
            </a:r>
            <a:endParaRPr lang="en-US" sz="3600" dirty="0">
              <a:solidFill>
                <a:srgbClr val="005E60"/>
              </a:solidFill>
            </a:endParaRPr>
          </a:p>
        </p:txBody>
      </p:sp>
      <p:cxnSp>
        <p:nvCxnSpPr>
          <p:cNvPr id="4" name="Straight Connector 3">
            <a:extLst>
              <a:ext uri="{FF2B5EF4-FFF2-40B4-BE49-F238E27FC236}">
                <a16:creationId xmlns:a16="http://schemas.microsoft.com/office/drawing/2014/main" id="{B3BC3111-1F29-26F2-B863-B3C6C1A60031}"/>
              </a:ext>
            </a:extLst>
          </p:cNvPr>
          <p:cNvCxnSpPr>
            <a:cxnSpLocks/>
          </p:cNvCxnSpPr>
          <p:nvPr/>
        </p:nvCxnSpPr>
        <p:spPr>
          <a:xfrm flipH="1">
            <a:off x="431321" y="3006485"/>
            <a:ext cx="11231592" cy="0"/>
          </a:xfrm>
          <a:prstGeom prst="line">
            <a:avLst/>
          </a:prstGeom>
          <a:ln w="9525">
            <a:prstDash val="dash"/>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22C6E5BC-93FE-6EBD-9ED5-728C7FFBD9F9}"/>
              </a:ext>
            </a:extLst>
          </p:cNvPr>
          <p:cNvSpPr txBox="1"/>
          <p:nvPr/>
        </p:nvSpPr>
        <p:spPr>
          <a:xfrm>
            <a:off x="0" y="741951"/>
            <a:ext cx="1015727" cy="369332"/>
          </a:xfrm>
          <a:prstGeom prst="rect">
            <a:avLst/>
          </a:prstGeom>
          <a:noFill/>
        </p:spPr>
        <p:txBody>
          <a:bodyPr wrap="none" rtlCol="0">
            <a:spAutoFit/>
          </a:bodyPr>
          <a:lstStyle/>
          <a:p>
            <a:r>
              <a:rPr lang="en-US" b="1" u="sng" dirty="0">
                <a:solidFill>
                  <a:srgbClr val="005E60"/>
                </a:solidFill>
              </a:rPr>
              <a:t>Option 1</a:t>
            </a:r>
          </a:p>
        </p:txBody>
      </p:sp>
      <p:sp>
        <p:nvSpPr>
          <p:cNvPr id="9" name="TextBox 8">
            <a:extLst>
              <a:ext uri="{FF2B5EF4-FFF2-40B4-BE49-F238E27FC236}">
                <a16:creationId xmlns:a16="http://schemas.microsoft.com/office/drawing/2014/main" id="{43526575-6E3E-4174-1659-7ADE69C78B7C}"/>
              </a:ext>
            </a:extLst>
          </p:cNvPr>
          <p:cNvSpPr txBox="1"/>
          <p:nvPr/>
        </p:nvSpPr>
        <p:spPr>
          <a:xfrm>
            <a:off x="69012" y="1175363"/>
            <a:ext cx="10437962" cy="646331"/>
          </a:xfrm>
          <a:prstGeom prst="rect">
            <a:avLst/>
          </a:prstGeom>
          <a:noFill/>
        </p:spPr>
        <p:txBody>
          <a:bodyPr wrap="square" rtlCol="0">
            <a:spAutoFit/>
          </a:bodyPr>
          <a:lstStyle/>
          <a:p>
            <a:r>
              <a:rPr lang="en-US" dirty="0"/>
              <a:t>4 dedicated servers hosted in the GEV AWS environment with 32 Nvidia H100 GPUs leveraging “on-demand” costing model including the GEV Customer discount billed quarterly for 15 months. </a:t>
            </a:r>
          </a:p>
        </p:txBody>
      </p:sp>
      <p:sp>
        <p:nvSpPr>
          <p:cNvPr id="22" name="TextBox 21">
            <a:extLst>
              <a:ext uri="{FF2B5EF4-FFF2-40B4-BE49-F238E27FC236}">
                <a16:creationId xmlns:a16="http://schemas.microsoft.com/office/drawing/2014/main" id="{68B5F423-70D4-505B-DEE9-E60A478051C8}"/>
              </a:ext>
            </a:extLst>
          </p:cNvPr>
          <p:cNvSpPr txBox="1"/>
          <p:nvPr/>
        </p:nvSpPr>
        <p:spPr>
          <a:xfrm>
            <a:off x="83389" y="3292495"/>
            <a:ext cx="1015727" cy="369332"/>
          </a:xfrm>
          <a:prstGeom prst="rect">
            <a:avLst/>
          </a:prstGeom>
          <a:noFill/>
        </p:spPr>
        <p:txBody>
          <a:bodyPr wrap="none" rtlCol="0">
            <a:spAutoFit/>
          </a:bodyPr>
          <a:lstStyle/>
          <a:p>
            <a:r>
              <a:rPr lang="en-US" b="1" u="sng" dirty="0">
                <a:solidFill>
                  <a:srgbClr val="005E60"/>
                </a:solidFill>
              </a:rPr>
              <a:t>Option 2</a:t>
            </a:r>
          </a:p>
        </p:txBody>
      </p:sp>
      <p:sp>
        <p:nvSpPr>
          <p:cNvPr id="25" name="TextBox 24">
            <a:extLst>
              <a:ext uri="{FF2B5EF4-FFF2-40B4-BE49-F238E27FC236}">
                <a16:creationId xmlns:a16="http://schemas.microsoft.com/office/drawing/2014/main" id="{0C2F859A-C05A-E754-4D23-0C41118A72B4}"/>
              </a:ext>
            </a:extLst>
          </p:cNvPr>
          <p:cNvSpPr txBox="1"/>
          <p:nvPr/>
        </p:nvSpPr>
        <p:spPr>
          <a:xfrm>
            <a:off x="83389" y="3674149"/>
            <a:ext cx="10437962" cy="923330"/>
          </a:xfrm>
          <a:prstGeom prst="rect">
            <a:avLst/>
          </a:prstGeom>
          <a:noFill/>
        </p:spPr>
        <p:txBody>
          <a:bodyPr wrap="square" rtlCol="0">
            <a:spAutoFit/>
          </a:bodyPr>
          <a:lstStyle/>
          <a:p>
            <a:r>
              <a:rPr lang="en-US" dirty="0"/>
              <a:t>4 dedicated servers hosted in the GEV AWS environment with 32 Nvidia H100 GPUs paid “all up front” (AUF) for a 12-month commitment and 3 additional months at the “on-demand” costing model prices including all GEV Customer discounts</a:t>
            </a:r>
          </a:p>
        </p:txBody>
      </p:sp>
      <p:graphicFrame>
        <p:nvGraphicFramePr>
          <p:cNvPr id="26" name="Table 25">
            <a:extLst>
              <a:ext uri="{FF2B5EF4-FFF2-40B4-BE49-F238E27FC236}">
                <a16:creationId xmlns:a16="http://schemas.microsoft.com/office/drawing/2014/main" id="{D2D65483-04C2-E21F-74F5-026328E6C5D7}"/>
              </a:ext>
            </a:extLst>
          </p:cNvPr>
          <p:cNvGraphicFramePr>
            <a:graphicFrameLocks noGrp="1"/>
          </p:cNvGraphicFramePr>
          <p:nvPr>
            <p:extLst>
              <p:ext uri="{D42A27DB-BD31-4B8C-83A1-F6EECF244321}">
                <p14:modId xmlns:p14="http://schemas.microsoft.com/office/powerpoint/2010/main" val="474180985"/>
              </p:ext>
            </p:extLst>
          </p:nvPr>
        </p:nvGraphicFramePr>
        <p:xfrm>
          <a:off x="4667370" y="4769585"/>
          <a:ext cx="6756400" cy="1085850"/>
        </p:xfrm>
        <a:graphic>
          <a:graphicData uri="http://schemas.openxmlformats.org/drawingml/2006/table">
            <a:tbl>
              <a:tblPr/>
              <a:tblGrid>
                <a:gridCol w="787400">
                  <a:extLst>
                    <a:ext uri="{9D8B030D-6E8A-4147-A177-3AD203B41FA5}">
                      <a16:colId xmlns:a16="http://schemas.microsoft.com/office/drawing/2014/main" val="105333152"/>
                    </a:ext>
                  </a:extLst>
                </a:gridCol>
                <a:gridCol w="1257300">
                  <a:extLst>
                    <a:ext uri="{9D8B030D-6E8A-4147-A177-3AD203B41FA5}">
                      <a16:colId xmlns:a16="http://schemas.microsoft.com/office/drawing/2014/main" val="3417057058"/>
                    </a:ext>
                  </a:extLst>
                </a:gridCol>
                <a:gridCol w="723900">
                  <a:extLst>
                    <a:ext uri="{9D8B030D-6E8A-4147-A177-3AD203B41FA5}">
                      <a16:colId xmlns:a16="http://schemas.microsoft.com/office/drawing/2014/main" val="4145660593"/>
                    </a:ext>
                  </a:extLst>
                </a:gridCol>
                <a:gridCol w="774700">
                  <a:extLst>
                    <a:ext uri="{9D8B030D-6E8A-4147-A177-3AD203B41FA5}">
                      <a16:colId xmlns:a16="http://schemas.microsoft.com/office/drawing/2014/main" val="3207152619"/>
                    </a:ext>
                  </a:extLst>
                </a:gridCol>
                <a:gridCol w="1066800">
                  <a:extLst>
                    <a:ext uri="{9D8B030D-6E8A-4147-A177-3AD203B41FA5}">
                      <a16:colId xmlns:a16="http://schemas.microsoft.com/office/drawing/2014/main" val="13589523"/>
                    </a:ext>
                  </a:extLst>
                </a:gridCol>
                <a:gridCol w="1168400">
                  <a:extLst>
                    <a:ext uri="{9D8B030D-6E8A-4147-A177-3AD203B41FA5}">
                      <a16:colId xmlns:a16="http://schemas.microsoft.com/office/drawing/2014/main" val="1244171150"/>
                    </a:ext>
                  </a:extLst>
                </a:gridCol>
                <a:gridCol w="977900">
                  <a:extLst>
                    <a:ext uri="{9D8B030D-6E8A-4147-A177-3AD203B41FA5}">
                      <a16:colId xmlns:a16="http://schemas.microsoft.com/office/drawing/2014/main" val="837905987"/>
                    </a:ext>
                  </a:extLst>
                </a:gridCol>
              </a:tblGrid>
              <a:tr h="180975">
                <a:tc>
                  <a:txBody>
                    <a:bodyPr/>
                    <a:lstStyle/>
                    <a:p>
                      <a:pPr algn="l" fontAlgn="b">
                        <a:buNone/>
                      </a:pPr>
                      <a:r>
                        <a:rPr lang="en-US" sz="1100" b="0" i="0" u="none" strike="noStrike">
                          <a:solidFill>
                            <a:srgbClr val="000000"/>
                          </a:solidFill>
                          <a:effectLst/>
                          <a:latin typeface="Aptos Narrow" panose="020B0004020202020204" pitchFamily="34" charset="0"/>
                        </a:rPr>
                        <a:t>Server Count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12 Month (AUF)Price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Discount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Discount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Discounted Price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Duration (months)</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Cost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8960335"/>
                  </a:ext>
                </a:extLst>
              </a:tr>
              <a:tr h="180975">
                <a:tc>
                  <a:txBody>
                    <a:bodyPr/>
                    <a:lstStyle/>
                    <a:p>
                      <a:pPr algn="r" fontAlgn="b">
                        <a:buNone/>
                      </a:pPr>
                      <a:r>
                        <a:rPr lang="en-US" sz="1100" b="0" i="0" u="none" strike="noStrike">
                          <a:solidFill>
                            <a:srgbClr val="000000"/>
                          </a:solidFill>
                          <a:effectLst/>
                          <a:latin typeface="Aptos Narrow" panose="020B000402020202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$1,134,017.74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$272,164.26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$861,853.48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 $      861,853.48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354482"/>
                  </a:ext>
                </a:extLst>
              </a:tr>
              <a:tr h="180975">
                <a:tc>
                  <a:txBody>
                    <a:bodyPr/>
                    <a:lstStyle/>
                    <a:p>
                      <a:pPr algn="l" fontAlgn="b">
                        <a:buNone/>
                      </a:pPr>
                      <a:r>
                        <a:rPr lang="en-US" sz="1100" b="0" i="0" u="none" strike="noStrike">
                          <a:solidFill>
                            <a:srgbClr val="000000"/>
                          </a:solidFill>
                          <a:effectLst/>
                          <a:latin typeface="Aptos Narrow" panose="020B0004020202020204" pitchFamily="34" charset="0"/>
                        </a:rPr>
                        <a:t>Server Count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On-Demand Price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Discount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Discount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Discounted Price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Duration (months)</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Cost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3494504"/>
                  </a:ext>
                </a:extLst>
              </a:tr>
              <a:tr h="180975">
                <a:tc>
                  <a:txBody>
                    <a:bodyPr/>
                    <a:lstStyle/>
                    <a:p>
                      <a:pPr algn="r" fontAlgn="b">
                        <a:buNone/>
                      </a:pPr>
                      <a:r>
                        <a:rPr lang="en-US" sz="1100" b="0" i="0" u="none" strike="noStrike">
                          <a:solidFill>
                            <a:srgbClr val="000000"/>
                          </a:solidFill>
                          <a:effectLst/>
                          <a:latin typeface="Aptos Narrow" panose="020B000402020202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$40,179.20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$9,643.01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$30,536.19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$366,434.30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7096848"/>
                  </a:ext>
                </a:extLst>
              </a:tr>
              <a:tr h="180975">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Total Cost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6596983"/>
                  </a:ext>
                </a:extLst>
              </a:tr>
              <a:tr h="180975">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 $  1,228,287.79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9225281"/>
                  </a:ext>
                </a:extLst>
              </a:tr>
            </a:tbl>
          </a:graphicData>
        </a:graphic>
      </p:graphicFrame>
      <p:graphicFrame>
        <p:nvGraphicFramePr>
          <p:cNvPr id="27" name="Table 26">
            <a:extLst>
              <a:ext uri="{FF2B5EF4-FFF2-40B4-BE49-F238E27FC236}">
                <a16:creationId xmlns:a16="http://schemas.microsoft.com/office/drawing/2014/main" id="{2015BA4B-F734-18BF-7617-641F8A8E8CF1}"/>
              </a:ext>
            </a:extLst>
          </p:cNvPr>
          <p:cNvGraphicFramePr>
            <a:graphicFrameLocks noGrp="1"/>
          </p:cNvGraphicFramePr>
          <p:nvPr>
            <p:extLst>
              <p:ext uri="{D42A27DB-BD31-4B8C-83A1-F6EECF244321}">
                <p14:modId xmlns:p14="http://schemas.microsoft.com/office/powerpoint/2010/main" val="1662597559"/>
              </p:ext>
            </p:extLst>
          </p:nvPr>
        </p:nvGraphicFramePr>
        <p:xfrm>
          <a:off x="4641011" y="1880558"/>
          <a:ext cx="7317597" cy="966975"/>
        </p:xfrm>
        <a:graphic>
          <a:graphicData uri="http://schemas.openxmlformats.org/drawingml/2006/table">
            <a:tbl>
              <a:tblPr/>
              <a:tblGrid>
                <a:gridCol w="852803">
                  <a:extLst>
                    <a:ext uri="{9D8B030D-6E8A-4147-A177-3AD203B41FA5}">
                      <a16:colId xmlns:a16="http://schemas.microsoft.com/office/drawing/2014/main" val="1028055379"/>
                    </a:ext>
                  </a:extLst>
                </a:gridCol>
                <a:gridCol w="1361733">
                  <a:extLst>
                    <a:ext uri="{9D8B030D-6E8A-4147-A177-3AD203B41FA5}">
                      <a16:colId xmlns:a16="http://schemas.microsoft.com/office/drawing/2014/main" val="796480933"/>
                    </a:ext>
                  </a:extLst>
                </a:gridCol>
                <a:gridCol w="784028">
                  <a:extLst>
                    <a:ext uri="{9D8B030D-6E8A-4147-A177-3AD203B41FA5}">
                      <a16:colId xmlns:a16="http://schemas.microsoft.com/office/drawing/2014/main" val="3087350287"/>
                    </a:ext>
                  </a:extLst>
                </a:gridCol>
                <a:gridCol w="839048">
                  <a:extLst>
                    <a:ext uri="{9D8B030D-6E8A-4147-A177-3AD203B41FA5}">
                      <a16:colId xmlns:a16="http://schemas.microsoft.com/office/drawing/2014/main" val="3067749049"/>
                    </a:ext>
                  </a:extLst>
                </a:gridCol>
                <a:gridCol w="1155410">
                  <a:extLst>
                    <a:ext uri="{9D8B030D-6E8A-4147-A177-3AD203B41FA5}">
                      <a16:colId xmlns:a16="http://schemas.microsoft.com/office/drawing/2014/main" val="4041694010"/>
                    </a:ext>
                  </a:extLst>
                </a:gridCol>
                <a:gridCol w="1265449">
                  <a:extLst>
                    <a:ext uri="{9D8B030D-6E8A-4147-A177-3AD203B41FA5}">
                      <a16:colId xmlns:a16="http://schemas.microsoft.com/office/drawing/2014/main" val="3725132857"/>
                    </a:ext>
                  </a:extLst>
                </a:gridCol>
                <a:gridCol w="1059126">
                  <a:extLst>
                    <a:ext uri="{9D8B030D-6E8A-4147-A177-3AD203B41FA5}">
                      <a16:colId xmlns:a16="http://schemas.microsoft.com/office/drawing/2014/main" val="355485256"/>
                    </a:ext>
                  </a:extLst>
                </a:gridCol>
              </a:tblGrid>
              <a:tr h="240059">
                <a:tc>
                  <a:txBody>
                    <a:bodyPr/>
                    <a:lstStyle/>
                    <a:p>
                      <a:pPr algn="l" fontAlgn="b">
                        <a:buNone/>
                      </a:pPr>
                      <a:r>
                        <a:rPr lang="en-US" sz="1100" b="0" i="0" u="none" strike="noStrike">
                          <a:solidFill>
                            <a:srgbClr val="000000"/>
                          </a:solidFill>
                          <a:effectLst/>
                          <a:latin typeface="Aptos Narrow" panose="020B0004020202020204" pitchFamily="34" charset="0"/>
                        </a:rPr>
                        <a:t>Server Count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On-Demand Price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Discount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Discount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Discounted Price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Duration (months)</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Full Cost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0839256"/>
                  </a:ext>
                </a:extLst>
              </a:tr>
              <a:tr h="240059">
                <a:tc>
                  <a:txBody>
                    <a:bodyPr/>
                    <a:lstStyle/>
                    <a:p>
                      <a:pPr algn="r" fontAlgn="b">
                        <a:buNone/>
                      </a:pPr>
                      <a:r>
                        <a:rPr lang="en-US" sz="1100" b="0" i="0" u="none" strike="noStrike">
                          <a:solidFill>
                            <a:srgbClr val="000000"/>
                          </a:solidFill>
                          <a:effectLst/>
                          <a:latin typeface="Aptos Narrow" panose="020B000402020202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$40,179.20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$9,643.01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$30,536.19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a:solidFill>
                            <a:srgbClr val="000000"/>
                          </a:solidFill>
                          <a:effectLst/>
                          <a:latin typeface="Aptos Narrow" panose="020B0004020202020204" pitchFamily="34" charset="0"/>
                        </a:rPr>
                        <a:t>15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100" b="0" i="0" u="none" strike="noStrike" dirty="0">
                          <a:solidFill>
                            <a:srgbClr val="000000"/>
                          </a:solidFill>
                          <a:effectLst/>
                          <a:latin typeface="Aptos Narrow" panose="020B0004020202020204" pitchFamily="34" charset="0"/>
                        </a:rPr>
                        <a:t>$1,832,171.52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6134677"/>
                  </a:ext>
                </a:extLst>
              </a:tr>
              <a:tr h="240059">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100" b="0" i="0" u="none" strike="noStrike">
                          <a:solidFill>
                            <a:srgbClr val="000000"/>
                          </a:solidFill>
                          <a:effectLst/>
                          <a:latin typeface="Aptos Narrow" panose="020B0004020202020204" pitchFamily="34" charset="0"/>
                        </a:rPr>
                        <a:t>QTR Cost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972797"/>
                  </a:ext>
                </a:extLst>
              </a:tr>
              <a:tr h="246798">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a:noFill/>
                    </a:lnR>
                    <a:lnT>
                      <a:noFill/>
                    </a:lnT>
                    <a:lnB>
                      <a:noFill/>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4763" marR="4763" marT="4763"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US" sz="1100" b="0" i="0" u="none" strike="noStrike" dirty="0">
                          <a:solidFill>
                            <a:srgbClr val="000000"/>
                          </a:solidFill>
                          <a:effectLst/>
                          <a:latin typeface="Aptos Narrow" panose="020B0004020202020204" pitchFamily="34" charset="0"/>
                        </a:rPr>
                        <a:t>$366,434.30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7700819"/>
                  </a:ext>
                </a:extLst>
              </a:tr>
            </a:tbl>
          </a:graphicData>
        </a:graphic>
      </p:graphicFrame>
      <p:sp>
        <p:nvSpPr>
          <p:cNvPr id="29" name="TextBox 28">
            <a:extLst>
              <a:ext uri="{FF2B5EF4-FFF2-40B4-BE49-F238E27FC236}">
                <a16:creationId xmlns:a16="http://schemas.microsoft.com/office/drawing/2014/main" id="{9FE34E89-202A-EC9B-38B0-FC9189133B55}"/>
              </a:ext>
            </a:extLst>
          </p:cNvPr>
          <p:cNvSpPr txBox="1"/>
          <p:nvPr/>
        </p:nvSpPr>
        <p:spPr>
          <a:xfrm>
            <a:off x="100643" y="1983372"/>
            <a:ext cx="3660474" cy="400110"/>
          </a:xfrm>
          <a:prstGeom prst="rect">
            <a:avLst/>
          </a:prstGeom>
          <a:noFill/>
        </p:spPr>
        <p:txBody>
          <a:bodyPr wrap="square" rtlCol="0">
            <a:spAutoFit/>
          </a:bodyPr>
          <a:lstStyle/>
          <a:p>
            <a:r>
              <a:rPr lang="en-US" sz="2000" dirty="0"/>
              <a:t>Total Cost - </a:t>
            </a:r>
            <a:r>
              <a:rPr lang="en-US" sz="2000" dirty="0">
                <a:solidFill>
                  <a:srgbClr val="000000"/>
                </a:solidFill>
              </a:rPr>
              <a:t>$1,832,171.52</a:t>
            </a:r>
          </a:p>
        </p:txBody>
      </p:sp>
      <p:sp>
        <p:nvSpPr>
          <p:cNvPr id="31" name="TextBox 30">
            <a:extLst>
              <a:ext uri="{FF2B5EF4-FFF2-40B4-BE49-F238E27FC236}">
                <a16:creationId xmlns:a16="http://schemas.microsoft.com/office/drawing/2014/main" id="{2D5A53C5-9048-99AF-A55C-DCE437A37056}"/>
              </a:ext>
            </a:extLst>
          </p:cNvPr>
          <p:cNvSpPr txBox="1"/>
          <p:nvPr/>
        </p:nvSpPr>
        <p:spPr>
          <a:xfrm>
            <a:off x="106393" y="2377312"/>
            <a:ext cx="3654723" cy="400110"/>
          </a:xfrm>
          <a:prstGeom prst="rect">
            <a:avLst/>
          </a:prstGeom>
          <a:noFill/>
        </p:spPr>
        <p:txBody>
          <a:bodyPr wrap="square" rtlCol="0">
            <a:spAutoFit/>
          </a:bodyPr>
          <a:lstStyle/>
          <a:p>
            <a:r>
              <a:rPr lang="en-US" sz="2000" dirty="0"/>
              <a:t>QTRLY Cost - </a:t>
            </a:r>
            <a:r>
              <a:rPr lang="en-US" sz="2000" dirty="0">
                <a:solidFill>
                  <a:srgbClr val="000000"/>
                </a:solidFill>
              </a:rPr>
              <a:t>$366,434.30</a:t>
            </a:r>
          </a:p>
        </p:txBody>
      </p:sp>
      <p:sp>
        <p:nvSpPr>
          <p:cNvPr id="33" name="TextBox 32">
            <a:extLst>
              <a:ext uri="{FF2B5EF4-FFF2-40B4-BE49-F238E27FC236}">
                <a16:creationId xmlns:a16="http://schemas.microsoft.com/office/drawing/2014/main" id="{CEE102C7-8CEA-C155-1114-5478B204FCD8}"/>
              </a:ext>
            </a:extLst>
          </p:cNvPr>
          <p:cNvSpPr txBox="1"/>
          <p:nvPr/>
        </p:nvSpPr>
        <p:spPr>
          <a:xfrm>
            <a:off x="89141" y="4671938"/>
            <a:ext cx="4336210" cy="400110"/>
          </a:xfrm>
          <a:prstGeom prst="rect">
            <a:avLst/>
          </a:prstGeom>
          <a:noFill/>
        </p:spPr>
        <p:txBody>
          <a:bodyPr wrap="square" rtlCol="0">
            <a:spAutoFit/>
          </a:bodyPr>
          <a:lstStyle/>
          <a:p>
            <a:r>
              <a:rPr lang="en-US" sz="2000" dirty="0">
                <a:solidFill>
                  <a:srgbClr val="000000"/>
                </a:solidFill>
              </a:rPr>
              <a:t>AUF 12-month cost -  $ 861,853.48 </a:t>
            </a:r>
          </a:p>
        </p:txBody>
      </p:sp>
      <p:sp>
        <p:nvSpPr>
          <p:cNvPr id="35" name="TextBox 34">
            <a:extLst>
              <a:ext uri="{FF2B5EF4-FFF2-40B4-BE49-F238E27FC236}">
                <a16:creationId xmlns:a16="http://schemas.microsoft.com/office/drawing/2014/main" id="{0ED9183C-EB74-DD84-7251-E13A6D1BA980}"/>
              </a:ext>
            </a:extLst>
          </p:cNvPr>
          <p:cNvSpPr txBox="1"/>
          <p:nvPr/>
        </p:nvSpPr>
        <p:spPr>
          <a:xfrm>
            <a:off x="94890" y="5022746"/>
            <a:ext cx="4364967" cy="400110"/>
          </a:xfrm>
          <a:prstGeom prst="rect">
            <a:avLst/>
          </a:prstGeom>
          <a:noFill/>
        </p:spPr>
        <p:txBody>
          <a:bodyPr wrap="square" rtlCol="0">
            <a:spAutoFit/>
          </a:bodyPr>
          <a:lstStyle/>
          <a:p>
            <a:r>
              <a:rPr lang="en-US" sz="2000" dirty="0">
                <a:solidFill>
                  <a:srgbClr val="000000"/>
                </a:solidFill>
              </a:rPr>
              <a:t>3-Month On-Demand cost - $366,434.30</a:t>
            </a:r>
          </a:p>
        </p:txBody>
      </p:sp>
      <p:sp>
        <p:nvSpPr>
          <p:cNvPr id="37" name="TextBox 36">
            <a:extLst>
              <a:ext uri="{FF2B5EF4-FFF2-40B4-BE49-F238E27FC236}">
                <a16:creationId xmlns:a16="http://schemas.microsoft.com/office/drawing/2014/main" id="{3F4F5843-BA2B-8473-6ECF-8A3A1260E8C8}"/>
              </a:ext>
            </a:extLst>
          </p:cNvPr>
          <p:cNvSpPr txBox="1"/>
          <p:nvPr/>
        </p:nvSpPr>
        <p:spPr>
          <a:xfrm>
            <a:off x="115021" y="5396558"/>
            <a:ext cx="3660474" cy="400110"/>
          </a:xfrm>
          <a:prstGeom prst="rect">
            <a:avLst/>
          </a:prstGeom>
          <a:noFill/>
        </p:spPr>
        <p:txBody>
          <a:bodyPr wrap="square" rtlCol="0">
            <a:spAutoFit/>
          </a:bodyPr>
          <a:lstStyle/>
          <a:p>
            <a:r>
              <a:rPr lang="en-US" sz="2000" dirty="0"/>
              <a:t>Total Cost - </a:t>
            </a:r>
            <a:r>
              <a:rPr lang="en-US" sz="2000" dirty="0">
                <a:solidFill>
                  <a:srgbClr val="000000"/>
                </a:solidFill>
              </a:rPr>
              <a:t>$1,228,287.79</a:t>
            </a:r>
          </a:p>
        </p:txBody>
      </p:sp>
      <p:sp>
        <p:nvSpPr>
          <p:cNvPr id="38" name="Rectangle: Rounded Corners 37">
            <a:extLst>
              <a:ext uri="{FF2B5EF4-FFF2-40B4-BE49-F238E27FC236}">
                <a16:creationId xmlns:a16="http://schemas.microsoft.com/office/drawing/2014/main" id="{F3B35599-0DCC-1627-7FAF-843A8AC7C212}"/>
              </a:ext>
            </a:extLst>
          </p:cNvPr>
          <p:cNvSpPr/>
          <p:nvPr/>
        </p:nvSpPr>
        <p:spPr>
          <a:xfrm>
            <a:off x="353683" y="6012611"/>
            <a:ext cx="11550770" cy="621102"/>
          </a:xfrm>
          <a:prstGeom prst="roundRect">
            <a:avLst/>
          </a:prstGeom>
          <a:solidFill>
            <a:srgbClr val="C8FF08"/>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solidFill>
                  <a:sysClr val="windowText" lastClr="000000"/>
                </a:solidFill>
              </a:rPr>
              <a:t>Option 2 saving = $603,883.73</a:t>
            </a:r>
          </a:p>
        </p:txBody>
      </p:sp>
    </p:spTree>
    <p:extLst>
      <p:ext uri="{BB962C8B-B14F-4D97-AF65-F5344CB8AC3E}">
        <p14:creationId xmlns:p14="http://schemas.microsoft.com/office/powerpoint/2010/main" val="3658191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24953</TotalTime>
  <Words>540</Words>
  <Application>Microsoft Office PowerPoint</Application>
  <PresentationFormat>Widescreen</PresentationFormat>
  <Paragraphs>90</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 Narrow</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&lt;Project Name&gt;</dc:title>
  <dc:creator>Ojha, Ipsita (GE Vernova)</dc:creator>
  <cp:lastModifiedBy>Russo, Michael (GE Vernova)</cp:lastModifiedBy>
  <cp:revision>161</cp:revision>
  <dcterms:created xsi:type="dcterms:W3CDTF">2024-10-17T18:43:00Z</dcterms:created>
  <dcterms:modified xsi:type="dcterms:W3CDTF">2026-10-06T19:55:44Z</dcterms:modified>
</cp:coreProperties>
</file>