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8346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14400"/>
            <a:ext cx="10058400" cy="365760"/>
          </a:xfrm>
          <a:prstGeom prst="rect">
            <a:avLst/>
          </a:prstGeom>
          <a:noFill/>
        </p:spPr>
        <p:txBody>
          <a:bodyPr wrap="square" lIns="0" rIns="0" tIns="0" bIns="0">
            <a:spAutoFit/>
          </a:bodyPr>
          <a:lstStyle/>
          <a:p>
            <a:pPr algn="l">
              <a:lnSpc>
                <a:spcPct val="115000"/>
              </a:lnSpc>
              <a:spcAft>
                <a:spcPts val="600"/>
              </a:spcAft>
            </a:pPr>
            <a:r>
              <a:rPr sz="1200" b="1">
                <a:solidFill>
                  <a:srgbClr val="9FC6C6"/>
                </a:solidFill>
                <a:latin typeface="Segoe UI"/>
              </a:rPr>
              <a:t>SURROGATE ML ACCELERATOR</a:t>
            </a:r>
          </a:p>
        </p:txBody>
      </p:sp>
      <p:sp>
        <p:nvSpPr>
          <p:cNvPr id="4" name="TextBox 3"/>
          <p:cNvSpPr txBox="1"/>
          <p:nvPr/>
        </p:nvSpPr>
        <p:spPr>
          <a:xfrm>
            <a:off x="822960" y="1325880"/>
            <a:ext cx="10515600" cy="822960"/>
          </a:xfrm>
          <a:prstGeom prst="rect">
            <a:avLst/>
          </a:prstGeom>
          <a:noFill/>
        </p:spPr>
        <p:txBody>
          <a:bodyPr wrap="square" lIns="0" rIns="0" tIns="0" bIns="0">
            <a:spAutoFit/>
          </a:bodyPr>
          <a:lstStyle/>
          <a:p>
            <a:pPr algn="l">
              <a:lnSpc>
                <a:spcPct val="115000"/>
              </a:lnSpc>
              <a:spcAft>
                <a:spcPts val="600"/>
              </a:spcAft>
            </a:pPr>
            <a:r>
              <a:rPr sz="3800" b="1">
                <a:solidFill>
                  <a:srgbClr val="FFFFFF"/>
                </a:solidFill>
                <a:latin typeface="Segoe UI"/>
              </a:rPr>
              <a:t>Architecture Options &amp; Recommendation</a:t>
            </a:r>
          </a:p>
        </p:txBody>
      </p:sp>
      <p:sp>
        <p:nvSpPr>
          <p:cNvPr id="5" name="TextBox 4"/>
          <p:cNvSpPr txBox="1"/>
          <p:nvPr/>
        </p:nvSpPr>
        <p:spPr>
          <a:xfrm>
            <a:off x="822960" y="2148840"/>
            <a:ext cx="10058400" cy="365760"/>
          </a:xfrm>
          <a:prstGeom prst="rect">
            <a:avLst/>
          </a:prstGeom>
          <a:noFill/>
        </p:spPr>
        <p:txBody>
          <a:bodyPr wrap="square" lIns="0" rIns="0" tIns="0" bIns="0">
            <a:spAutoFit/>
          </a:bodyPr>
          <a:lstStyle/>
          <a:p>
            <a:pPr algn="l">
              <a:lnSpc>
                <a:spcPct val="115000"/>
              </a:lnSpc>
              <a:spcAft>
                <a:spcPts val="600"/>
              </a:spcAft>
            </a:pPr>
            <a:r>
              <a:rPr sz="1500" b="0">
                <a:solidFill>
                  <a:srgbClr val="C9D6E4"/>
                </a:solidFill>
                <a:latin typeface="Segoe UI"/>
              </a:rPr>
              <a:t>Three candidate architectures, evaluated against the project's stated needs</a:t>
            </a:r>
          </a:p>
        </p:txBody>
      </p:sp>
      <p:sp>
        <p:nvSpPr>
          <p:cNvPr id="6" name="TextBox 5"/>
          <p:cNvSpPr txBox="1"/>
          <p:nvPr/>
        </p:nvSpPr>
        <p:spPr>
          <a:xfrm>
            <a:off x="822960" y="3200400"/>
            <a:ext cx="10058400" cy="1097280"/>
          </a:xfrm>
          <a:prstGeom prst="rect">
            <a:avLst/>
          </a:prstGeom>
          <a:noFill/>
        </p:spPr>
        <p:txBody>
          <a:bodyPr wrap="square" lIns="0" rIns="0" tIns="0" bIns="0">
            <a:spAutoFit/>
          </a:bodyPr>
          <a:lstStyle/>
          <a:p>
            <a:pPr algn="l">
              <a:lnSpc>
                <a:spcPct val="115000"/>
              </a:lnSpc>
              <a:spcAft>
                <a:spcPts val="500"/>
              </a:spcAft>
            </a:pPr>
            <a:r>
              <a:rPr sz="1300" b="0">
                <a:solidFill>
                  <a:srgbClr val="22272E"/>
                </a:solidFill>
                <a:latin typeface="Segoe UI"/>
              </a:rPr>
              <a:t>GE Vernova ARC  ·  Logic Technology, Inc.</a:t>
            </a:r>
          </a:p>
          <a:p>
            <a:pPr algn="l">
              <a:lnSpc>
                <a:spcPct val="115000"/>
              </a:lnSpc>
              <a:spcAft>
                <a:spcPts val="500"/>
              </a:spcAft>
            </a:pPr>
            <a:r>
              <a:rPr sz="1300" b="0">
                <a:solidFill>
                  <a:srgbClr val="22272E"/>
                </a:solidFill>
                <a:latin typeface="Segoe UI"/>
              </a:rPr>
              <a:t>Phase 1 decision input  ·  19 October 2026</a:t>
            </a:r>
          </a:p>
          <a:p>
            <a:pPr algn="l">
              <a:lnSpc>
                <a:spcPct val="115000"/>
              </a:lnSpc>
              <a:spcAft>
                <a:spcPts val="500"/>
              </a:spcAft>
            </a:pPr>
            <a:r>
              <a:rPr sz="1300" b="0">
                <a:solidFill>
                  <a:srgbClr val="22272E"/>
                </a:solidFill>
                <a:latin typeface="Segoe UI"/>
              </a:rPr>
              <a:t>Footprint settled: 3 × p5.48xlarge — 24 H100 GPUs</a:t>
            </a:r>
          </a:p>
          <a:p>
            <a:pPr algn="l">
              <a:lnSpc>
                <a:spcPct val="115000"/>
              </a:lnSpc>
              <a:spcAft>
                <a:spcPts val="500"/>
              </a:spcAft>
            </a:pPr>
            <a:r>
              <a:rPr sz="1300" b="0">
                <a:solidFill>
                  <a:srgbClr val="22272E"/>
                </a:solidFill>
                <a:latin typeface="Segoe UI"/>
              </a:rPr>
              <a:t>Prepared by the LTI cloud team</a:t>
            </a:r>
          </a:p>
        </p:txBody>
      </p:sp>
      <p:sp>
        <p:nvSpPr>
          <p:cNvPr id="7" name="TextBox 6"/>
          <p:cNvSpPr txBox="1"/>
          <p:nvPr/>
        </p:nvSpPr>
        <p:spPr>
          <a:xfrm>
            <a:off x="822960" y="5943600"/>
            <a:ext cx="10058400" cy="457200"/>
          </a:xfrm>
          <a:prstGeom prst="rect">
            <a:avLst/>
          </a:prstGeom>
          <a:noFill/>
        </p:spPr>
        <p:txBody>
          <a:bodyPr wrap="square" lIns="0" rIns="0" tIns="0" bIns="0">
            <a:spAutoFit/>
          </a:bodyPr>
          <a:lstStyle/>
          <a:p>
            <a:pPr algn="l">
              <a:lnSpc>
                <a:spcPct val="115000"/>
              </a:lnSpc>
              <a:spcAft>
                <a:spcPts val="600"/>
              </a:spcAft>
            </a:pPr>
            <a:r>
              <a:rPr sz="900" b="0">
                <a:solidFill>
                  <a:srgbClr val="6B7280"/>
                </a:solidFill>
                <a:latin typeface="Segoe UI"/>
              </a:rPr>
              <a:t>GE Vernova Proprietary — not for external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PURPOSE</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What this deck decides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508760"/>
            <a:ext cx="11064240" cy="141732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783080"/>
            <a:ext cx="10515600" cy="914400"/>
          </a:xfrm>
          <a:prstGeom prst="rect">
            <a:avLst/>
          </a:prstGeom>
          <a:noFill/>
        </p:spPr>
        <p:txBody>
          <a:bodyPr wrap="square" lIns="0" rIns="0" tIns="0" bIns="0">
            <a:spAutoFit/>
          </a:bodyPr>
          <a:lstStyle/>
          <a:p>
            <a:pPr algn="l">
              <a:lnSpc>
                <a:spcPct val="115000"/>
              </a:lnSpc>
              <a:spcAft>
                <a:spcPts val="800"/>
              </a:spcAft>
            </a:pPr>
            <a:r>
              <a:rPr sz="1500" b="0">
                <a:solidFill>
                  <a:srgbClr val="22272E"/>
                </a:solidFill>
                <a:latin typeface="Segoe UI"/>
              </a:rPr>
              <a:t>One decision: which compute architecture Phase 1 builds on.</a:t>
            </a:r>
          </a:p>
          <a:p>
            <a:pPr algn="l">
              <a:lnSpc>
                <a:spcPct val="115000"/>
              </a:lnSpc>
              <a:spcAft>
                <a:spcPts val="800"/>
              </a:spcAft>
            </a:pPr>
            <a:r>
              <a:rPr sz="1500" b="0">
                <a:solidFill>
                  <a:srgbClr val="22272E"/>
                </a:solidFill>
                <a:latin typeface="Segoe UI"/>
              </a:rPr>
              <a:t>It gates the GPU capacity request, the build sequence, and the Architectural Reference Diagram deliverable.</a:t>
            </a:r>
          </a:p>
        </p:txBody>
      </p:sp>
      <p:sp>
        <p:nvSpPr>
          <p:cNvPr id="8" name="TextBox 7"/>
          <p:cNvSpPr txBox="1"/>
          <p:nvPr/>
        </p:nvSpPr>
        <p:spPr>
          <a:xfrm>
            <a:off x="548640" y="3200400"/>
            <a:ext cx="5394960" cy="320040"/>
          </a:xfrm>
          <a:prstGeom prst="rect">
            <a:avLst/>
          </a:prstGeom>
          <a:noFill/>
        </p:spPr>
        <p:txBody>
          <a:bodyPr wrap="square" lIns="0" rIns="0" tIns="0" bIns="0">
            <a:spAutoFit/>
          </a:bodyPr>
          <a:lstStyle/>
          <a:p>
            <a:pPr algn="l">
              <a:lnSpc>
                <a:spcPct val="115000"/>
              </a:lnSpc>
              <a:spcAft>
                <a:spcPts val="600"/>
              </a:spcAft>
            </a:pPr>
            <a:r>
              <a:rPr sz="1100" b="1">
                <a:solidFill>
                  <a:srgbClr val="2E8B8B"/>
                </a:solidFill>
                <a:latin typeface="Segoe UI"/>
              </a:rPr>
              <a:t>IN SCOPE</a:t>
            </a:r>
          </a:p>
        </p:txBody>
      </p:sp>
      <p:sp>
        <p:nvSpPr>
          <p:cNvPr id="9" name="TextBox 8"/>
          <p:cNvSpPr txBox="1"/>
          <p:nvPr/>
        </p:nvSpPr>
        <p:spPr>
          <a:xfrm>
            <a:off x="548640" y="3566160"/>
            <a:ext cx="5394960" cy="2194560"/>
          </a:xfrm>
          <a:prstGeom prst="rect">
            <a:avLst/>
          </a:prstGeom>
          <a:noFill/>
        </p:spPr>
        <p:txBody>
          <a:bodyPr wrap="square" lIns="0" rIns="0" tIns="0" bIns="0">
            <a:spAutoFit/>
          </a:bodyPr>
          <a:lstStyle/>
          <a:p>
            <a:pPr algn="l">
              <a:lnSpc>
                <a:spcPct val="115000"/>
              </a:lnSpc>
              <a:spcAft>
                <a:spcPts val="900"/>
              </a:spcAft>
            </a:pPr>
            <a:r>
              <a:rPr sz="1250" b="0">
                <a:solidFill>
                  <a:srgbClr val="22272E"/>
                </a:solidFill>
                <a:latin typeface="Segoe UI"/>
              </a:rPr>
              <a:t>•  The compute substrate and how jobs reach GPUs</a:t>
            </a:r>
          </a:p>
          <a:p>
            <a:pPr algn="l">
              <a:lnSpc>
                <a:spcPct val="115000"/>
              </a:lnSpc>
              <a:spcAft>
                <a:spcPts val="900"/>
              </a:spcAft>
            </a:pPr>
            <a:r>
              <a:rPr sz="1250" b="0">
                <a:solidFill>
                  <a:srgbClr val="22272E"/>
                </a:solidFill>
                <a:latin typeface="Segoe UI"/>
              </a:rPr>
              <a:t>•  How researchers get a shell and submit work</a:t>
            </a:r>
          </a:p>
          <a:p>
            <a:pPr algn="l">
              <a:lnSpc>
                <a:spcPct val="115000"/>
              </a:lnSpc>
              <a:spcAft>
                <a:spcPts val="900"/>
              </a:spcAft>
            </a:pPr>
            <a:r>
              <a:rPr sz="1250" b="0">
                <a:solidFill>
                  <a:srgbClr val="22272E"/>
                </a:solidFill>
                <a:latin typeface="Segoe UI"/>
              </a:rPr>
              <a:t>•  How the training data path is shaped</a:t>
            </a:r>
          </a:p>
          <a:p>
            <a:pPr algn="l">
              <a:lnSpc>
                <a:spcPct val="115000"/>
              </a:lnSpc>
              <a:spcAft>
                <a:spcPts val="900"/>
              </a:spcAft>
            </a:pPr>
            <a:r>
              <a:rPr sz="1250" b="0">
                <a:solidFill>
                  <a:srgbClr val="22272E"/>
                </a:solidFill>
                <a:latin typeface="Segoe UI"/>
              </a:rPr>
              <a:t>•  What each option costs us in operations</a:t>
            </a:r>
          </a:p>
        </p:txBody>
      </p:sp>
      <p:sp>
        <p:nvSpPr>
          <p:cNvPr id="10" name="TextBox 9"/>
          <p:cNvSpPr txBox="1"/>
          <p:nvPr/>
        </p:nvSpPr>
        <p:spPr>
          <a:xfrm>
            <a:off x="6309360" y="3200400"/>
            <a:ext cx="5303520" cy="320040"/>
          </a:xfrm>
          <a:prstGeom prst="rect">
            <a:avLst/>
          </a:prstGeom>
          <a:noFill/>
        </p:spPr>
        <p:txBody>
          <a:bodyPr wrap="square" lIns="0" rIns="0" tIns="0" bIns="0">
            <a:spAutoFit/>
          </a:bodyPr>
          <a:lstStyle/>
          <a:p>
            <a:pPr algn="l">
              <a:lnSpc>
                <a:spcPct val="115000"/>
              </a:lnSpc>
              <a:spcAft>
                <a:spcPts val="600"/>
              </a:spcAft>
            </a:pPr>
            <a:r>
              <a:rPr sz="1100" b="1">
                <a:solidFill>
                  <a:srgbClr val="6B7280"/>
                </a:solidFill>
                <a:latin typeface="Segoe UI"/>
              </a:rPr>
              <a:t>DECIDED ELSEWHERE</a:t>
            </a:r>
          </a:p>
        </p:txBody>
      </p:sp>
      <p:sp>
        <p:nvSpPr>
          <p:cNvPr id="11" name="TextBox 10"/>
          <p:cNvSpPr txBox="1"/>
          <p:nvPr/>
        </p:nvSpPr>
        <p:spPr>
          <a:xfrm>
            <a:off x="6309360" y="3566160"/>
            <a:ext cx="5303520" cy="2194560"/>
          </a:xfrm>
          <a:prstGeom prst="rect">
            <a:avLst/>
          </a:prstGeom>
          <a:noFill/>
        </p:spPr>
        <p:txBody>
          <a:bodyPr wrap="square" lIns="0" rIns="0" tIns="0" bIns="0">
            <a:spAutoFit/>
          </a:bodyPr>
          <a:lstStyle/>
          <a:p>
            <a:pPr algn="l">
              <a:lnSpc>
                <a:spcPct val="115000"/>
              </a:lnSpc>
              <a:spcAft>
                <a:spcPts val="900"/>
              </a:spcAft>
            </a:pPr>
            <a:r>
              <a:rPr sz="1250" b="0">
                <a:solidFill>
                  <a:srgbClr val="6B7280"/>
                </a:solidFill>
                <a:latin typeface="Segoe UI"/>
              </a:rPr>
              <a:t>•  Server count — settled: 3 × p5.48xlarge, 24 GPUs</a:t>
            </a:r>
          </a:p>
          <a:p>
            <a:pPr algn="l">
              <a:lnSpc>
                <a:spcPct val="115000"/>
              </a:lnSpc>
              <a:spcAft>
                <a:spcPts val="900"/>
              </a:spcAft>
            </a:pPr>
            <a:r>
              <a:rPr sz="1250" b="0">
                <a:solidFill>
                  <a:srgbClr val="6B7280"/>
                </a:solidFill>
                <a:latin typeface="Segoe UI"/>
              </a:rPr>
              <a:t>•  Costing option — on-demand or 12-month prepay</a:t>
            </a:r>
          </a:p>
          <a:p>
            <a:pPr algn="l">
              <a:lnSpc>
                <a:spcPct val="115000"/>
              </a:lnSpc>
              <a:spcAft>
                <a:spcPts val="900"/>
              </a:spcAft>
            </a:pPr>
            <a:r>
              <a:rPr sz="1250" b="0">
                <a:solidFill>
                  <a:srgbClr val="6B7280"/>
                </a:solidFill>
                <a:latin typeface="Segoe UI"/>
              </a:rPr>
              <a:t>•  Application tier — out of Phase 1 scope</a:t>
            </a:r>
          </a:p>
          <a:p>
            <a:pPr algn="l">
              <a:lnSpc>
                <a:spcPct val="115000"/>
              </a:lnSpc>
              <a:spcAft>
                <a:spcPts val="900"/>
              </a:spcAft>
            </a:pPr>
            <a:r>
              <a:rPr sz="1250" b="0">
                <a:solidFill>
                  <a:srgbClr val="6B7280"/>
                </a:solidFill>
                <a:latin typeface="Segoe UI"/>
              </a:rPr>
              <a:t>•  DT4D's Java/React stack — not this project's</a:t>
            </a:r>
          </a:p>
          <a:p>
            <a:pPr algn="l">
              <a:lnSpc>
                <a:spcPct val="115000"/>
              </a:lnSpc>
              <a:spcAft>
                <a:spcPts val="900"/>
              </a:spcAft>
            </a:pPr>
            <a:r>
              <a:rPr sz="1250" b="0">
                <a:solidFill>
                  <a:srgbClr val="6B7280"/>
                </a:solidFill>
                <a:latin typeface="Segoe UI"/>
              </a:rPr>
              <a:t>•  Region, and whether p5 capacity exists there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CURRENT PRACTICE, NOT A SPEC</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How they work today — 19 October</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TextBox 5"/>
          <p:cNvSpPr txBox="1"/>
          <p:nvPr/>
        </p:nvSpPr>
        <p:spPr>
          <a:xfrm>
            <a:off x="548640" y="1325880"/>
            <a:ext cx="11064240" cy="320040"/>
          </a:xfrm>
          <a:prstGeom prst="rect">
            <a:avLst/>
          </a:prstGeom>
          <a:noFill/>
        </p:spPr>
        <p:txBody>
          <a:bodyPr wrap="square" lIns="0" rIns="0" tIns="0" bIns="0">
            <a:spAutoFit/>
          </a:bodyPr>
          <a:lstStyle/>
          <a:p>
            <a:pPr algn="l">
              <a:lnSpc>
                <a:spcPct val="115000"/>
              </a:lnSpc>
              <a:spcAft>
                <a:spcPts val="600"/>
              </a:spcAft>
            </a:pPr>
            <a:r>
              <a:rPr sz="1200" b="0">
                <a:solidFill>
                  <a:srgbClr val="6B7280"/>
                </a:solidFill>
                <a:latin typeface="Segoe UI"/>
              </a:rPr>
              <a:t>Deepak Akhare described how the team works TODAY on on-prem hardware — not a specification for what to build. Several answers describe a limit being worked around.</a:t>
            </a:r>
          </a:p>
        </p:txBody>
      </p:sp>
      <p:sp>
        <p:nvSpPr>
          <p:cNvPr id="7" name="Rounded Rectangle 6"/>
          <p:cNvSpPr/>
          <p:nvPr/>
        </p:nvSpPr>
        <p:spPr>
          <a:xfrm>
            <a:off x="548640" y="1719072"/>
            <a:ext cx="11064240" cy="987552"/>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719072"/>
            <a:ext cx="63500" cy="987552"/>
          </a:xfrm>
          <a:prstGeom prst="rect">
            <a:avLst/>
          </a:prstGeom>
          <a:solidFill>
            <a:srgbClr val="B0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20"/>
            <a:ext cx="1033272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Multi-server training not used today</a:t>
            </a:r>
          </a:p>
        </p:txBody>
      </p:sp>
      <p:sp>
        <p:nvSpPr>
          <p:cNvPr id="10" name="TextBox 9"/>
          <p:cNvSpPr txBox="1"/>
          <p:nvPr/>
        </p:nvSpPr>
        <p:spPr>
          <a:xfrm>
            <a:off x="914400" y="2203704"/>
            <a:ext cx="10332720" cy="50292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Because on-prem cannot. The kickoff names multi-node as the destination, so EFA and cluster placement stay in the build — off the Phase 1 critical path, but near-free now and costly to retrofit.</a:t>
            </a:r>
          </a:p>
        </p:txBody>
      </p:sp>
      <p:sp>
        <p:nvSpPr>
          <p:cNvPr id="11" name="Rounded Rectangle 10"/>
          <p:cNvSpPr/>
          <p:nvPr/>
        </p:nvSpPr>
        <p:spPr>
          <a:xfrm>
            <a:off x="548640" y="2825496"/>
            <a:ext cx="11064240" cy="987552"/>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2825496"/>
            <a:ext cx="63500" cy="987552"/>
          </a:xfrm>
          <a:prstGeom prst="rect">
            <a:avLst/>
          </a:prstGeom>
          <a:solidFill>
            <a:srgbClr val="B0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80944"/>
            <a:ext cx="1033272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Jobs run for days — today</a:t>
            </a:r>
          </a:p>
        </p:txBody>
      </p:sp>
      <p:sp>
        <p:nvSpPr>
          <p:cNvPr id="14" name="TextBox 13"/>
          <p:cNvSpPr txBox="1"/>
          <p:nvPr/>
        </p:nvSpPr>
        <p:spPr>
          <a:xfrm>
            <a:off x="914400" y="3310128"/>
            <a:ext cx="10332720" cy="50292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The kickoff's goal is days to hours. If we succeed, jobs get shorter and more numerous, and the iteration loop matters MORE, not less. Do not optimise for the current duration.</a:t>
            </a:r>
          </a:p>
        </p:txBody>
      </p:sp>
      <p:sp>
        <p:nvSpPr>
          <p:cNvPr id="15" name="Rounded Rectangle 14"/>
          <p:cNvSpPr/>
          <p:nvPr/>
        </p:nvSpPr>
        <p:spPr>
          <a:xfrm>
            <a:off x="548640" y="3931920"/>
            <a:ext cx="11064240" cy="987552"/>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3931920"/>
            <a:ext cx="63500" cy="987552"/>
          </a:xfrm>
          <a:prstGeom prst="rect">
            <a:avLst/>
          </a:prstGeom>
          <a:solidFill>
            <a:srgbClr val="2E7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87368"/>
            <a:ext cx="1033272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The pipeline is CPU-heavy outside training</a:t>
            </a:r>
          </a:p>
        </p:txBody>
      </p:sp>
      <p:sp>
        <p:nvSpPr>
          <p:cNvPr id="18" name="TextBox 17"/>
          <p:cNvSpPr txBox="1"/>
          <p:nvPr/>
        </p:nvSpPr>
        <p:spPr>
          <a:xfrm>
            <a:off x="914400" y="4416552"/>
            <a:ext cx="10332720" cy="50292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100–200 CPUs preprocessing, 150 for rendering, 8–16 per GPU for loading. Real work either way — and a CPU pool is now first-class. No design carried one before.</a:t>
            </a:r>
          </a:p>
        </p:txBody>
      </p:sp>
      <p:sp>
        <p:nvSpPr>
          <p:cNvPr id="19" name="Rounded Rectangle 18"/>
          <p:cNvSpPr/>
          <p:nvPr/>
        </p:nvSpPr>
        <p:spPr>
          <a:xfrm>
            <a:off x="548640" y="5038344"/>
            <a:ext cx="11064240" cy="987552"/>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48640" y="5038344"/>
            <a:ext cx="63500" cy="987552"/>
          </a:xfrm>
          <a:prstGeom prst="rect">
            <a:avLst/>
          </a:prstGeom>
          <a:solidFill>
            <a:srgbClr val="2E7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193792"/>
            <a:ext cx="1033272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A serialised preprocessing stage</a:t>
            </a:r>
          </a:p>
        </p:txBody>
      </p:sp>
      <p:sp>
        <p:nvSpPr>
          <p:cNvPr id="22" name="TextBox 21"/>
          <p:cNvSpPr txBox="1"/>
          <p:nvPr/>
        </p:nvSpPr>
        <p:spPr>
          <a:xfrm>
            <a:off x="914400" y="5522976"/>
            <a:ext cx="10332720" cy="50292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One writer for the consolidated HDF5, then a global statistics pass. Flagged as a current implementation detail — an early win to parallelise across on-demand CPUs, not a constraint to design around.</a:t>
            </a:r>
          </a:p>
        </p:txBody>
      </p:sp>
      <p:sp>
        <p:nvSpPr>
          <p:cNvPr id="23" name="TextBox 22"/>
          <p:cNvSpPr txBox="1"/>
          <p:nvPr/>
        </p:nvSpPr>
        <p:spPr>
          <a:xfrm>
            <a:off x="548640" y="6053328"/>
            <a:ext cx="11064240" cy="301752"/>
          </a:xfrm>
          <a:prstGeom prst="rect">
            <a:avLst/>
          </a:prstGeom>
          <a:noFill/>
        </p:spPr>
        <p:txBody>
          <a:bodyPr wrap="square" lIns="0" rIns="0" tIns="0" bIns="0">
            <a:spAutoFit/>
          </a:bodyPr>
          <a:lstStyle/>
          <a:p>
            <a:pPr algn="l">
              <a:lnSpc>
                <a:spcPct val="115000"/>
              </a:lnSpc>
              <a:spcAft>
                <a:spcPts val="600"/>
              </a:spcAft>
            </a:pPr>
            <a:r>
              <a:rPr sz="1150" b="1">
                <a:solidFill>
                  <a:srgbClr val="1F3A5F"/>
                </a:solidFill>
                <a:latin typeface="Segoe UI"/>
              </a:rPr>
              <a:t>Read as a target spec, these answers would have us rebuild Alpharetta in AWS at $92k/month. Read as today's practice, they tell us what to fix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THE DUAL MANDATE</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Two obligations, pulling different ways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508760"/>
            <a:ext cx="5440680" cy="22860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508760"/>
            <a:ext cx="5440680" cy="508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4983480" cy="274320"/>
          </a:xfrm>
          <a:prstGeom prst="rect">
            <a:avLst/>
          </a:prstGeom>
          <a:noFill/>
        </p:spPr>
        <p:txBody>
          <a:bodyPr wrap="square" lIns="0" rIns="0" tIns="0" bIns="0">
            <a:spAutoFit/>
          </a:bodyPr>
          <a:lstStyle/>
          <a:p>
            <a:pPr algn="l">
              <a:lnSpc>
                <a:spcPct val="115000"/>
              </a:lnSpc>
              <a:spcAft>
                <a:spcPts val="600"/>
              </a:spcAft>
            </a:pPr>
            <a:r>
              <a:rPr sz="1100" b="1">
                <a:solidFill>
                  <a:srgbClr val="2E8B8B"/>
                </a:solidFill>
                <a:latin typeface="Segoe UI"/>
              </a:rPr>
              <a:t>SUPPORT THE WORK THEY DO TODAY</a:t>
            </a:r>
          </a:p>
        </p:txBody>
      </p:sp>
      <p:sp>
        <p:nvSpPr>
          <p:cNvPr id="9" name="TextBox 8"/>
          <p:cNvSpPr txBox="1"/>
          <p:nvPr/>
        </p:nvSpPr>
        <p:spPr>
          <a:xfrm>
            <a:off x="777240" y="2121408"/>
            <a:ext cx="4983480" cy="1554480"/>
          </a:xfrm>
          <a:prstGeom prst="rect">
            <a:avLst/>
          </a:prstGeom>
          <a:noFill/>
        </p:spPr>
        <p:txBody>
          <a:bodyPr wrap="square" lIns="0" rIns="0" tIns="0" bIns="0">
            <a:spAutoFit/>
          </a:bodyPr>
          <a:lstStyle/>
          <a:p>
            <a:pPr algn="l">
              <a:lnSpc>
                <a:spcPct val="112000"/>
              </a:lnSpc>
              <a:spcAft>
                <a:spcPts val="300"/>
              </a:spcAft>
            </a:pPr>
            <a:r>
              <a:rPr sz="1150" b="0">
                <a:solidFill>
                  <a:srgbClr val="22272E"/>
                </a:solidFill>
                <a:latin typeface="Segoe UI"/>
              </a:rPr>
              <a:t>Their pipeline must run unchanged on day one —</a:t>
            </a:r>
          </a:p>
          <a:p>
            <a:pPr algn="l">
              <a:lnSpc>
                <a:spcPct val="112000"/>
              </a:lnSpc>
              <a:spcAft>
                <a:spcPts val="300"/>
              </a:spcAft>
            </a:pPr>
            <a:r>
              <a:rPr sz="1150" b="0">
                <a:solidFill>
                  <a:srgbClr val="22272E"/>
                </a:solidFill>
                <a:latin typeface="Segoe UI"/>
              </a:rPr>
              <a:t>same HDF5, same container, same scripts.</a:t>
            </a:r>
          </a:p>
          <a:p>
            <a:pPr algn="l">
              <a:lnSpc>
                <a:spcPct val="112000"/>
              </a:lnSpc>
              <a:spcAft>
                <a:spcPts val="300"/>
              </a:spcAft>
            </a:pPr>
            <a:r>
              <a:rPr sz="1150" b="0">
                <a:solidFill>
                  <a:srgbClr val="22272E"/>
                </a:solidFill>
                <a:latin typeface="Segoe UI"/>
              </a:rPr>
              <a:t/>
            </a:r>
          </a:p>
          <a:p>
            <a:pPr algn="l">
              <a:lnSpc>
                <a:spcPct val="112000"/>
              </a:lnSpc>
              <a:spcAft>
                <a:spcPts val="300"/>
              </a:spcAft>
            </a:pPr>
            <a:r>
              <a:rPr sz="1150" b="0">
                <a:solidFill>
                  <a:srgbClr val="22272E"/>
                </a:solidFill>
                <a:latin typeface="Segoe UI"/>
              </a:rPr>
              <a:t>If researchers have to rewrite anything to get</a:t>
            </a:r>
          </a:p>
          <a:p>
            <a:pPr algn="l">
              <a:lnSpc>
                <a:spcPct val="112000"/>
              </a:lnSpc>
              <a:spcAft>
                <a:spcPts val="300"/>
              </a:spcAft>
            </a:pPr>
            <a:r>
              <a:rPr sz="1150" b="0">
                <a:solidFill>
                  <a:srgbClr val="22272E"/>
                </a:solidFill>
                <a:latin typeface="Segoe UI"/>
              </a:rPr>
              <a:t>started, adoption stalls and the 24-hour unblock</a:t>
            </a:r>
          </a:p>
          <a:p>
            <a:pPr algn="l">
              <a:lnSpc>
                <a:spcPct val="112000"/>
              </a:lnSpc>
              <a:spcAft>
                <a:spcPts val="300"/>
              </a:spcAft>
            </a:pPr>
            <a:r>
              <a:rPr sz="1150" b="0">
                <a:solidFill>
                  <a:srgbClr val="22272E"/>
                </a:solidFill>
                <a:latin typeface="Segoe UI"/>
              </a:rPr>
              <a:t>commitment turns into a support queue.</a:t>
            </a:r>
          </a:p>
        </p:txBody>
      </p:sp>
      <p:sp>
        <p:nvSpPr>
          <p:cNvPr id="10" name="Rounded Rectangle 9"/>
          <p:cNvSpPr/>
          <p:nvPr/>
        </p:nvSpPr>
        <p:spPr>
          <a:xfrm>
            <a:off x="6355080" y="1508760"/>
            <a:ext cx="5440680" cy="22860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355080" y="1508760"/>
            <a:ext cx="5440680" cy="50800"/>
          </a:xfrm>
          <a:prstGeom prst="rect">
            <a:avLst/>
          </a:prstGeom>
          <a:solidFill>
            <a:srgbClr val="2E7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755648"/>
            <a:ext cx="4983480" cy="274320"/>
          </a:xfrm>
          <a:prstGeom prst="rect">
            <a:avLst/>
          </a:prstGeom>
          <a:noFill/>
        </p:spPr>
        <p:txBody>
          <a:bodyPr wrap="square" lIns="0" rIns="0" tIns="0" bIns="0">
            <a:spAutoFit/>
          </a:bodyPr>
          <a:lstStyle/>
          <a:p>
            <a:pPr algn="l">
              <a:lnSpc>
                <a:spcPct val="115000"/>
              </a:lnSpc>
              <a:spcAft>
                <a:spcPts val="600"/>
              </a:spcAft>
            </a:pPr>
            <a:r>
              <a:rPr sz="1100" b="1">
                <a:solidFill>
                  <a:srgbClr val="2E7D54"/>
                </a:solidFill>
                <a:latin typeface="Segoe UI"/>
              </a:rPr>
              <a:t>BE DEMONSTRABLY BETTER THAN ON-PREM</a:t>
            </a:r>
          </a:p>
        </p:txBody>
      </p:sp>
      <p:sp>
        <p:nvSpPr>
          <p:cNvPr id="13" name="TextBox 12"/>
          <p:cNvSpPr txBox="1"/>
          <p:nvPr/>
        </p:nvSpPr>
        <p:spPr>
          <a:xfrm>
            <a:off x="6583680" y="2121408"/>
            <a:ext cx="4983480" cy="1554480"/>
          </a:xfrm>
          <a:prstGeom prst="rect">
            <a:avLst/>
          </a:prstGeom>
          <a:noFill/>
        </p:spPr>
        <p:txBody>
          <a:bodyPr wrap="square" lIns="0" rIns="0" tIns="0" bIns="0">
            <a:spAutoFit/>
          </a:bodyPr>
          <a:lstStyle/>
          <a:p>
            <a:pPr algn="l">
              <a:lnSpc>
                <a:spcPct val="112000"/>
              </a:lnSpc>
              <a:spcAft>
                <a:spcPts val="300"/>
              </a:spcAft>
            </a:pPr>
            <a:r>
              <a:rPr sz="1150" b="0">
                <a:solidFill>
                  <a:srgbClr val="22272E"/>
                </a:solidFill>
                <a:latin typeface="Segoe UI"/>
              </a:rPr>
              <a:t>This is not a lift-and-shift. It exists to remove</a:t>
            </a:r>
          </a:p>
          <a:p>
            <a:pPr algn="l">
              <a:lnSpc>
                <a:spcPct val="112000"/>
              </a:lnSpc>
              <a:spcAft>
                <a:spcPts val="300"/>
              </a:spcAft>
            </a:pPr>
            <a:r>
              <a:rPr sz="1150" b="0">
                <a:solidFill>
                  <a:srgbClr val="22272E"/>
                </a:solidFill>
                <a:latin typeface="Segoe UI"/>
              </a:rPr>
              <a:t>the constraints that shaped current practice:</a:t>
            </a:r>
          </a:p>
          <a:p>
            <a:pPr algn="l">
              <a:lnSpc>
                <a:spcPct val="112000"/>
              </a:lnSpc>
              <a:spcAft>
                <a:spcPts val="300"/>
              </a:spcAft>
            </a:pPr>
            <a:r>
              <a:rPr sz="1150" b="0">
                <a:solidFill>
                  <a:srgbClr val="22272E"/>
                </a:solidFill>
                <a:latin typeface="Segoe UI"/>
              </a:rPr>
              <a:t/>
            </a:r>
          </a:p>
          <a:p>
            <a:pPr algn="l">
              <a:lnSpc>
                <a:spcPct val="112000"/>
              </a:lnSpc>
              <a:spcAft>
                <a:spcPts val="300"/>
              </a:spcAft>
            </a:pPr>
            <a:r>
              <a:rPr sz="1150" b="0">
                <a:solidFill>
                  <a:srgbClr val="22272E"/>
                </a:solidFill>
                <a:latin typeface="Segoe UI"/>
              </a:rPr>
              <a:t>waiting for a free machine · single-node ceilings ·</a:t>
            </a:r>
          </a:p>
          <a:p>
            <a:pPr algn="l">
              <a:lnSpc>
                <a:spcPct val="112000"/>
              </a:lnSpc>
              <a:spcAft>
                <a:spcPts val="300"/>
              </a:spcAft>
            </a:pPr>
            <a:r>
              <a:rPr sz="1150" b="0">
                <a:solidFill>
                  <a:srgbClr val="22272E"/>
                </a:solidFill>
                <a:latin typeface="Segoe UI"/>
              </a:rPr>
              <a:t>days-long jobs · a serialised preprocessing stage</a:t>
            </a:r>
          </a:p>
          <a:p>
            <a:pPr algn="l">
              <a:lnSpc>
                <a:spcPct val="112000"/>
              </a:lnSpc>
              <a:spcAft>
                <a:spcPts val="300"/>
              </a:spcAft>
            </a:pPr>
            <a:r>
              <a:rPr sz="1150" b="0">
                <a:solidFill>
                  <a:srgbClr val="22272E"/>
                </a:solidFill>
                <a:latin typeface="Segoe UI"/>
              </a:rPr>
              <a:t>· rendering queued behind GPU work.</a:t>
            </a:r>
          </a:p>
        </p:txBody>
      </p:sp>
      <p:sp>
        <p:nvSpPr>
          <p:cNvPr id="14" name="TextBox 13"/>
          <p:cNvSpPr txBox="1"/>
          <p:nvPr/>
        </p:nvSpPr>
        <p:spPr>
          <a:xfrm>
            <a:off x="548640" y="3977639"/>
            <a:ext cx="11064240" cy="320040"/>
          </a:xfrm>
          <a:prstGeom prst="rect">
            <a:avLst/>
          </a:prstGeom>
          <a:noFill/>
        </p:spPr>
        <p:txBody>
          <a:bodyPr wrap="square" lIns="0" rIns="0" tIns="0" bIns="0">
            <a:spAutoFit/>
          </a:bodyPr>
          <a:lstStyle/>
          <a:p>
            <a:pPr algn="l">
              <a:lnSpc>
                <a:spcPct val="115000"/>
              </a:lnSpc>
              <a:spcAft>
                <a:spcPts val="600"/>
              </a:spcAft>
            </a:pPr>
            <a:r>
              <a:rPr sz="1200" b="1">
                <a:solidFill>
                  <a:srgbClr val="1F3A5F"/>
                </a:solidFill>
                <a:latin typeface="Segoe UI"/>
              </a:rPr>
              <a:t>Neither alone gives the right design. Build only for today and we reproduce Alpharetta in AWS at $92k/month. Build only for the destination and researchers arrive to an environment that will not run their code.</a:t>
            </a:r>
          </a:p>
        </p:txBody>
      </p:sp>
      <p:sp>
        <p:nvSpPr>
          <p:cNvPr id="15" name="Rectangle 14"/>
          <p:cNvSpPr/>
          <p:nvPr/>
        </p:nvSpPr>
        <p:spPr>
          <a:xfrm>
            <a:off x="548640" y="4526280"/>
            <a:ext cx="1783080" cy="23774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 y="4553712"/>
            <a:ext cx="1737360" cy="201168"/>
          </a:xfrm>
          <a:prstGeom prst="rect">
            <a:avLst/>
          </a:prstGeom>
          <a:noFill/>
        </p:spPr>
        <p:txBody>
          <a:bodyPr wrap="square" lIns="0" rIns="0" tIns="0" bIns="0">
            <a:spAutoFit/>
          </a:bodyPr>
          <a:lstStyle/>
          <a:p>
            <a:pPr algn="l">
              <a:lnSpc>
                <a:spcPct val="115000"/>
              </a:lnSpc>
              <a:spcAft>
                <a:spcPts val="600"/>
              </a:spcAft>
            </a:pPr>
            <a:r>
              <a:rPr sz="850" b="1">
                <a:solidFill>
                  <a:srgbClr val="FFFFFF"/>
                </a:solidFill>
                <a:latin typeface="Segoe UI"/>
              </a:rPr>
              <a:t>DAY ONE</a:t>
            </a:r>
          </a:p>
        </p:txBody>
      </p:sp>
      <p:sp>
        <p:nvSpPr>
          <p:cNvPr id="17" name="TextBox 16"/>
          <p:cNvSpPr txBox="1"/>
          <p:nvPr/>
        </p:nvSpPr>
        <p:spPr>
          <a:xfrm>
            <a:off x="2514600" y="4507992"/>
            <a:ext cx="2377440" cy="256032"/>
          </a:xfrm>
          <a:prstGeom prst="rect">
            <a:avLst/>
          </a:prstGeom>
          <a:noFill/>
        </p:spPr>
        <p:txBody>
          <a:bodyPr wrap="square" lIns="0" rIns="0" tIns="0" bIns="0">
            <a:spAutoFit/>
          </a:bodyPr>
          <a:lstStyle/>
          <a:p>
            <a:pPr algn="l">
              <a:lnSpc>
                <a:spcPct val="115000"/>
              </a:lnSpc>
              <a:spcAft>
                <a:spcPts val="600"/>
              </a:spcAft>
            </a:pPr>
            <a:r>
              <a:rPr sz="1250" b="1">
                <a:solidFill>
                  <a:srgbClr val="1F3A5F"/>
                </a:solidFill>
                <a:latin typeface="Segoe UI"/>
              </a:rPr>
              <a:t>Parity</a:t>
            </a:r>
          </a:p>
        </p:txBody>
      </p:sp>
      <p:sp>
        <p:nvSpPr>
          <p:cNvPr id="18" name="TextBox 17"/>
          <p:cNvSpPr txBox="1"/>
          <p:nvPr/>
        </p:nvSpPr>
        <p:spPr>
          <a:xfrm>
            <a:off x="5029200" y="4507992"/>
            <a:ext cx="6583680" cy="457200"/>
          </a:xfrm>
          <a:prstGeom prst="rect">
            <a:avLst/>
          </a:prstGeom>
          <a:noFill/>
        </p:spPr>
        <p:txBody>
          <a:bodyPr wrap="square" lIns="0" rIns="0" tIns="0" bIns="0">
            <a:spAutoFit/>
          </a:bodyPr>
          <a:lstStyle/>
          <a:p>
            <a:pPr algn="l">
              <a:lnSpc>
                <a:spcPct val="115000"/>
              </a:lnSpc>
              <a:spcAft>
                <a:spcPts val="600"/>
              </a:spcAft>
            </a:pPr>
            <a:r>
              <a:rPr sz="1050" b="0">
                <a:solidFill>
                  <a:srgbClr val="22272E"/>
                </a:solidFill>
                <a:latin typeface="Segoe UI"/>
              </a:rPr>
              <a:t>Their pipeline runs as-is: GPU container, 4–8 GPUs on one node, HDF5 staged locally, logs and checkpoints persisted. Nothing to rewrite.</a:t>
            </a:r>
          </a:p>
        </p:txBody>
      </p:sp>
      <p:sp>
        <p:nvSpPr>
          <p:cNvPr id="19" name="Rectangle 18"/>
          <p:cNvSpPr/>
          <p:nvPr/>
        </p:nvSpPr>
        <p:spPr>
          <a:xfrm>
            <a:off x="548640" y="5129784"/>
            <a:ext cx="1783080" cy="23774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5157216"/>
            <a:ext cx="1737360" cy="201168"/>
          </a:xfrm>
          <a:prstGeom prst="rect">
            <a:avLst/>
          </a:prstGeom>
          <a:noFill/>
        </p:spPr>
        <p:txBody>
          <a:bodyPr wrap="square" lIns="0" rIns="0" tIns="0" bIns="0">
            <a:spAutoFit/>
          </a:bodyPr>
          <a:lstStyle/>
          <a:p>
            <a:pPr algn="l">
              <a:lnSpc>
                <a:spcPct val="115000"/>
              </a:lnSpc>
              <a:spcAft>
                <a:spcPts val="600"/>
              </a:spcAft>
            </a:pPr>
            <a:r>
              <a:rPr sz="850" b="1">
                <a:solidFill>
                  <a:srgbClr val="FFFFFF"/>
                </a:solidFill>
                <a:latin typeface="Segoe UI"/>
              </a:rPr>
              <a:t>EARLY WINS</a:t>
            </a:r>
          </a:p>
        </p:txBody>
      </p:sp>
      <p:sp>
        <p:nvSpPr>
          <p:cNvPr id="21" name="TextBox 20"/>
          <p:cNvSpPr txBox="1"/>
          <p:nvPr/>
        </p:nvSpPr>
        <p:spPr>
          <a:xfrm>
            <a:off x="2514600" y="5111496"/>
            <a:ext cx="2377440" cy="256032"/>
          </a:xfrm>
          <a:prstGeom prst="rect">
            <a:avLst/>
          </a:prstGeom>
          <a:noFill/>
        </p:spPr>
        <p:txBody>
          <a:bodyPr wrap="square" lIns="0" rIns="0" tIns="0" bIns="0">
            <a:spAutoFit/>
          </a:bodyPr>
          <a:lstStyle/>
          <a:p>
            <a:pPr algn="l">
              <a:lnSpc>
                <a:spcPct val="115000"/>
              </a:lnSpc>
              <a:spcAft>
                <a:spcPts val="600"/>
              </a:spcAft>
            </a:pPr>
            <a:r>
              <a:rPr sz="1250" b="1">
                <a:solidFill>
                  <a:srgbClr val="1F3A5F"/>
                </a:solidFill>
                <a:latin typeface="Segoe UI"/>
              </a:rPr>
              <a:t>The constraints they feel</a:t>
            </a:r>
          </a:p>
        </p:txBody>
      </p:sp>
      <p:sp>
        <p:nvSpPr>
          <p:cNvPr id="22" name="TextBox 21"/>
          <p:cNvSpPr txBox="1"/>
          <p:nvPr/>
        </p:nvSpPr>
        <p:spPr>
          <a:xfrm>
            <a:off x="5029200" y="5111496"/>
            <a:ext cx="6583680" cy="457200"/>
          </a:xfrm>
          <a:prstGeom prst="rect">
            <a:avLst/>
          </a:prstGeom>
          <a:noFill/>
        </p:spPr>
        <p:txBody>
          <a:bodyPr wrap="square" lIns="0" rIns="0" tIns="0" bIns="0">
            <a:spAutoFit/>
          </a:bodyPr>
          <a:lstStyle/>
          <a:p>
            <a:pPr algn="l">
              <a:lnSpc>
                <a:spcPct val="115000"/>
              </a:lnSpc>
              <a:spcAft>
                <a:spcPts val="600"/>
              </a:spcAft>
            </a:pPr>
            <a:r>
              <a:rPr sz="1050" b="0">
                <a:solidFill>
                  <a:srgbClr val="22272E"/>
                </a:solidFill>
                <a:latin typeface="Segoe UI"/>
              </a:rPr>
              <a:t>Parallelise the single-writer preprocessing across 100–200 on-demand CPUs. Give rendering its own CPU pool. A GPU in seconds, not when a box frees up.</a:t>
            </a:r>
          </a:p>
        </p:txBody>
      </p:sp>
      <p:sp>
        <p:nvSpPr>
          <p:cNvPr id="23" name="Rectangle 22"/>
          <p:cNvSpPr/>
          <p:nvPr/>
        </p:nvSpPr>
        <p:spPr>
          <a:xfrm>
            <a:off x="548640" y="5733288"/>
            <a:ext cx="1783080" cy="23774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5760720"/>
            <a:ext cx="1737360" cy="201168"/>
          </a:xfrm>
          <a:prstGeom prst="rect">
            <a:avLst/>
          </a:prstGeom>
          <a:noFill/>
        </p:spPr>
        <p:txBody>
          <a:bodyPr wrap="square" lIns="0" rIns="0" tIns="0" bIns="0">
            <a:spAutoFit/>
          </a:bodyPr>
          <a:lstStyle/>
          <a:p>
            <a:pPr algn="l">
              <a:lnSpc>
                <a:spcPct val="115000"/>
              </a:lnSpc>
              <a:spcAft>
                <a:spcPts val="600"/>
              </a:spcAft>
            </a:pPr>
            <a:r>
              <a:rPr sz="850" b="1">
                <a:solidFill>
                  <a:srgbClr val="FFFFFF"/>
                </a:solidFill>
                <a:latin typeface="Segoe UI"/>
              </a:rPr>
              <a:t>BUILT IN, PROVEN LATER</a:t>
            </a:r>
          </a:p>
        </p:txBody>
      </p:sp>
      <p:sp>
        <p:nvSpPr>
          <p:cNvPr id="25" name="TextBox 24"/>
          <p:cNvSpPr txBox="1"/>
          <p:nvPr/>
        </p:nvSpPr>
        <p:spPr>
          <a:xfrm>
            <a:off x="2514600" y="5715000"/>
            <a:ext cx="2377440" cy="256032"/>
          </a:xfrm>
          <a:prstGeom prst="rect">
            <a:avLst/>
          </a:prstGeom>
          <a:noFill/>
        </p:spPr>
        <p:txBody>
          <a:bodyPr wrap="square" lIns="0" rIns="0" tIns="0" bIns="0">
            <a:spAutoFit/>
          </a:bodyPr>
          <a:lstStyle/>
          <a:p>
            <a:pPr algn="l">
              <a:lnSpc>
                <a:spcPct val="115000"/>
              </a:lnSpc>
              <a:spcAft>
                <a:spcPts val="600"/>
              </a:spcAft>
            </a:pPr>
            <a:r>
              <a:rPr sz="1250" b="1">
                <a:solidFill>
                  <a:srgbClr val="1F3A5F"/>
                </a:solidFill>
                <a:latin typeface="Segoe UI"/>
              </a:rPr>
              <a:t>The destination</a:t>
            </a:r>
          </a:p>
        </p:txBody>
      </p:sp>
      <p:sp>
        <p:nvSpPr>
          <p:cNvPr id="26" name="TextBox 25"/>
          <p:cNvSpPr txBox="1"/>
          <p:nvPr/>
        </p:nvSpPr>
        <p:spPr>
          <a:xfrm>
            <a:off x="5029200" y="5715000"/>
            <a:ext cx="6583680" cy="457200"/>
          </a:xfrm>
          <a:prstGeom prst="rect">
            <a:avLst/>
          </a:prstGeom>
          <a:noFill/>
        </p:spPr>
        <p:txBody>
          <a:bodyPr wrap="square" lIns="0" rIns="0" tIns="0" bIns="0">
            <a:spAutoFit/>
          </a:bodyPr>
          <a:lstStyle/>
          <a:p>
            <a:pPr algn="l">
              <a:lnSpc>
                <a:spcPct val="115000"/>
              </a:lnSpc>
              <a:spcAft>
                <a:spcPts val="600"/>
              </a:spcAft>
            </a:pPr>
            <a:r>
              <a:rPr sz="1050" b="0">
                <a:solidFill>
                  <a:srgbClr val="22272E"/>
                </a:solidFill>
                <a:latin typeface="Segoe UI"/>
              </a:rPr>
              <a:t>EFA, cluster placement and multi-node capability ship in Phase 1, demonstrated when a workload needs them. Capability is cheap now; retrofitting is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ORIENTATION</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The moving parts, in plain language</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TextBox 5"/>
          <p:cNvSpPr txBox="1"/>
          <p:nvPr/>
        </p:nvSpPr>
        <p:spPr>
          <a:xfrm>
            <a:off x="548640" y="1325880"/>
            <a:ext cx="11064240" cy="320040"/>
          </a:xfrm>
          <a:prstGeom prst="rect">
            <a:avLst/>
          </a:prstGeom>
          <a:noFill/>
        </p:spPr>
        <p:txBody>
          <a:bodyPr wrap="square" lIns="0" rIns="0" tIns="0" bIns="0">
            <a:spAutoFit/>
          </a:bodyPr>
          <a:lstStyle/>
          <a:p>
            <a:pPr algn="l">
              <a:lnSpc>
                <a:spcPct val="115000"/>
              </a:lnSpc>
              <a:spcAft>
                <a:spcPts val="600"/>
              </a:spcAft>
            </a:pPr>
            <a:r>
              <a:rPr sz="1100" b="0">
                <a:solidFill>
                  <a:srgbClr val="6B7280"/>
                </a:solidFill>
                <a:latin typeface="Segoe UI"/>
              </a:rPr>
              <a:t>Skip this slide if the terms are already familiar.</a:t>
            </a:r>
          </a:p>
        </p:txBody>
      </p:sp>
      <p:graphicFrame>
        <p:nvGraphicFramePr>
          <p:cNvPr id="7" name="Table 6"/>
          <p:cNvGraphicFramePr>
            <a:graphicFrameLocks noGrp="1"/>
          </p:cNvGraphicFramePr>
          <p:nvPr/>
        </p:nvGraphicFramePr>
        <p:xfrm>
          <a:off x="548640" y="1691640"/>
          <a:ext cx="11064239" cy="4224528"/>
        </p:xfrm>
        <a:graphic>
          <a:graphicData uri="http://schemas.openxmlformats.org/drawingml/2006/table">
            <a:tbl>
              <a:tblPr firstRow="1" bandRow="1">
                <a:tableStyleId>{5C22544A-7EE6-4342-B048-85BDC9FD1C3A}</a:tableStyleId>
              </a:tblPr>
              <a:tblGrid>
                <a:gridCol w="1920240"/>
                <a:gridCol w="5394960"/>
                <a:gridCol w="3749039"/>
              </a:tblGrid>
              <a:tr h="384048">
                <a:tc>
                  <a:txBody>
                    <a:bodyPr wrap="square"/>
                    <a:lstStyle/>
                    <a:p>
                      <a:pPr algn="l"/>
                      <a:r>
                        <a:rPr sz="1000" b="1">
                          <a:solidFill>
                            <a:srgbClr val="FFFFFF"/>
                          </a:solidFill>
                          <a:latin typeface="Segoe UI"/>
                        </a:rPr>
                        <a:t>Term</a:t>
                      </a:r>
                    </a:p>
                  </a:txBody>
                  <a:tcPr marL="64008" marR="64008" marT="18288" marB="18288" anchor="ctr">
                    <a:solidFill>
                      <a:srgbClr val="1F3A5F"/>
                    </a:solidFill>
                  </a:tcPr>
                </a:tc>
                <a:tc>
                  <a:txBody>
                    <a:bodyPr wrap="square"/>
                    <a:lstStyle/>
                    <a:p>
                      <a:pPr algn="l"/>
                      <a:r>
                        <a:rPr sz="1000" b="1">
                          <a:solidFill>
                            <a:srgbClr val="FFFFFF"/>
                          </a:solidFill>
                          <a:latin typeface="Segoe UI"/>
                        </a:rPr>
                        <a:t>What it actually is</a:t>
                      </a:r>
                    </a:p>
                  </a:txBody>
                  <a:tcPr marL="64008" marR="64008" marT="18288" marB="18288" anchor="ctr">
                    <a:solidFill>
                      <a:srgbClr val="1F3A5F"/>
                    </a:solidFill>
                  </a:tcPr>
                </a:tc>
                <a:tc>
                  <a:txBody>
                    <a:bodyPr wrap="square"/>
                    <a:lstStyle/>
                    <a:p>
                      <a:pPr algn="l"/>
                      <a:r>
                        <a:rPr sz="1000" b="1">
                          <a:solidFill>
                            <a:srgbClr val="FFFFFF"/>
                          </a:solidFill>
                          <a:latin typeface="Segoe UI"/>
                        </a:rPr>
                        <a:t>Why it matters here</a:t>
                      </a:r>
                    </a:p>
                  </a:txBody>
                  <a:tcPr marL="64008" marR="64008" marT="18288" marB="18288" anchor="ctr">
                    <a:solidFill>
                      <a:srgbClr val="1F3A5F"/>
                    </a:solidFill>
                  </a:tcPr>
                </a:tc>
              </a:tr>
              <a:tr h="384048">
                <a:tc>
                  <a:txBody>
                    <a:bodyPr wrap="square"/>
                    <a:lstStyle/>
                    <a:p>
                      <a:pPr algn="l"/>
                      <a:r>
                        <a:rPr sz="1050" b="0">
                          <a:solidFill>
                            <a:srgbClr val="22272E"/>
                          </a:solidFill>
                          <a:latin typeface="Segoe UI"/>
                        </a:rPr>
                        <a:t>Kubernetes / EKS</a:t>
                      </a:r>
                    </a:p>
                  </a:txBody>
                  <a:tcPr marL="64008" marR="64008" marT="18288" marB="18288" anchor="ctr">
                    <a:solidFill>
                      <a:srgbClr val="FFFFFF"/>
                    </a:solidFill>
                  </a:tcPr>
                </a:tc>
                <a:tc>
                  <a:txBody>
                    <a:bodyPr wrap="square"/>
                    <a:lstStyle/>
                    <a:p>
                      <a:pPr algn="l"/>
                      <a:r>
                        <a:rPr sz="1050" b="0">
                          <a:solidFill>
                            <a:srgbClr val="22272E"/>
                          </a:solidFill>
                          <a:latin typeface="Segoe UI"/>
                        </a:rPr>
                        <a:t>A cluster manager that runs containers across many machines</a:t>
                      </a:r>
                    </a:p>
                  </a:txBody>
                  <a:tcPr marL="64008" marR="64008" marT="18288" marB="18288" anchor="ctr">
                    <a:solidFill>
                      <a:srgbClr val="FFFFFF"/>
                    </a:solidFill>
                  </a:tcPr>
                </a:tc>
                <a:tc>
                  <a:txBody>
                    <a:bodyPr wrap="square"/>
                    <a:lstStyle/>
                    <a:p>
                      <a:pPr algn="l"/>
                      <a:r>
                        <a:rPr sz="1050" b="0">
                          <a:solidFill>
                            <a:srgbClr val="22272E"/>
                          </a:solidFill>
                          <a:latin typeface="Segoe UI"/>
                        </a:rPr>
                        <a:t>The substrate Ray and Argo both require</a:t>
                      </a:r>
                    </a:p>
                  </a:txBody>
                  <a:tcPr marL="64008" marR="64008" marT="18288" marB="18288" anchor="ctr">
                    <a:solidFill>
                      <a:srgbClr val="FFFFFF"/>
                    </a:solidFill>
                  </a:tcPr>
                </a:tc>
              </a:tr>
              <a:tr h="384048">
                <a:tc>
                  <a:txBody>
                    <a:bodyPr wrap="square"/>
                    <a:lstStyle/>
                    <a:p>
                      <a:pPr algn="l"/>
                      <a:r>
                        <a:rPr sz="1050" b="0">
                          <a:solidFill>
                            <a:srgbClr val="22272E"/>
                          </a:solidFill>
                          <a:latin typeface="Segoe UI"/>
                        </a:rPr>
                        <a:t>Karpenter</a:t>
                      </a:r>
                    </a:p>
                  </a:txBody>
                  <a:tcPr marL="64008" marR="64008" marT="18288" marB="18288" anchor="ctr">
                    <a:solidFill>
                      <a:srgbClr val="F4F6F8"/>
                    </a:solidFill>
                  </a:tcPr>
                </a:tc>
                <a:tc>
                  <a:txBody>
                    <a:bodyPr wrap="square"/>
                    <a:lstStyle/>
                    <a:p>
                      <a:pPr algn="l"/>
                      <a:r>
                        <a:rPr sz="1050" b="0">
                          <a:solidFill>
                            <a:srgbClr val="22272E"/>
                          </a:solidFill>
                          <a:latin typeface="Segoe UI"/>
                        </a:rPr>
                        <a:t>Watches for work that has nowhere to run, then buys the right EC2 machine</a:t>
                      </a:r>
                    </a:p>
                  </a:txBody>
                  <a:tcPr marL="64008" marR="64008" marT="18288" marB="18288" anchor="ctr">
                    <a:solidFill>
                      <a:srgbClr val="F4F6F8"/>
                    </a:solidFill>
                  </a:tcPr>
                </a:tc>
                <a:tc>
                  <a:txBody>
                    <a:bodyPr wrap="square"/>
                    <a:lstStyle/>
                    <a:p>
                      <a:pPr algn="l"/>
                      <a:r>
                        <a:rPr sz="1050" b="0">
                          <a:solidFill>
                            <a:srgbClr val="22272E"/>
                          </a:solidFill>
                          <a:latin typeface="Segoe UI"/>
                        </a:rPr>
                        <a:t>How a GPU server appears in 60 seconds and leaves when idle</a:t>
                      </a:r>
                    </a:p>
                  </a:txBody>
                  <a:tcPr marL="64008" marR="64008" marT="18288" marB="18288" anchor="ctr">
                    <a:solidFill>
                      <a:srgbClr val="F4F6F8"/>
                    </a:solidFill>
                  </a:tcPr>
                </a:tc>
              </a:tr>
              <a:tr h="384048">
                <a:tc>
                  <a:txBody>
                    <a:bodyPr wrap="square"/>
                    <a:lstStyle/>
                    <a:p>
                      <a:pPr algn="l"/>
                      <a:r>
                        <a:rPr sz="1050" b="0">
                          <a:solidFill>
                            <a:srgbClr val="22272E"/>
                          </a:solidFill>
                          <a:latin typeface="Segoe UI"/>
                        </a:rPr>
                        <a:t>Ray</a:t>
                      </a:r>
                    </a:p>
                  </a:txBody>
                  <a:tcPr marL="64008" marR="64008" marT="18288" marB="18288" anchor="ctr">
                    <a:solidFill>
                      <a:srgbClr val="FFFFFF"/>
                    </a:solidFill>
                  </a:tcPr>
                </a:tc>
                <a:tc>
                  <a:txBody>
                    <a:bodyPr wrap="square"/>
                    <a:lstStyle/>
                    <a:p>
                      <a:pPr algn="l"/>
                      <a:r>
                        <a:rPr sz="1050" b="0">
                          <a:solidFill>
                            <a:srgbClr val="22272E"/>
                          </a:solidFill>
                          <a:latin typeface="Segoe UI"/>
                        </a:rPr>
                        <a:t>A Python framework that spreads one program across many GPUs</a:t>
                      </a:r>
                    </a:p>
                  </a:txBody>
                  <a:tcPr marL="64008" marR="64008" marT="18288" marB="18288" anchor="ctr">
                    <a:solidFill>
                      <a:srgbClr val="FFFFFF"/>
                    </a:solidFill>
                  </a:tcPr>
                </a:tc>
                <a:tc>
                  <a:txBody>
                    <a:bodyPr wrap="square"/>
                    <a:lstStyle/>
                    <a:p>
                      <a:pPr algn="l"/>
                      <a:r>
                        <a:rPr sz="1050" b="0">
                          <a:solidFill>
                            <a:srgbClr val="22272E"/>
                          </a:solidFill>
                          <a:latin typeface="Segoe UI"/>
                        </a:rPr>
                        <a:t>What turns 8 GPUs into one training run</a:t>
                      </a:r>
                    </a:p>
                  </a:txBody>
                  <a:tcPr marL="64008" marR="64008" marT="18288" marB="18288" anchor="ctr">
                    <a:solidFill>
                      <a:srgbClr val="FFFFFF"/>
                    </a:solidFill>
                  </a:tcPr>
                </a:tc>
              </a:tr>
              <a:tr h="384048">
                <a:tc>
                  <a:txBody>
                    <a:bodyPr wrap="square"/>
                    <a:lstStyle/>
                    <a:p>
                      <a:pPr algn="l"/>
                      <a:r>
                        <a:rPr sz="1050" b="0">
                          <a:solidFill>
                            <a:srgbClr val="22272E"/>
                          </a:solidFill>
                          <a:latin typeface="Segoe UI"/>
                        </a:rPr>
                        <a:t>KubeRay</a:t>
                      </a:r>
                    </a:p>
                  </a:txBody>
                  <a:tcPr marL="64008" marR="64008" marT="18288" marB="18288" anchor="ctr">
                    <a:solidFill>
                      <a:srgbClr val="F4F6F8"/>
                    </a:solidFill>
                  </a:tcPr>
                </a:tc>
                <a:tc>
                  <a:txBody>
                    <a:bodyPr wrap="square"/>
                    <a:lstStyle/>
                    <a:p>
                      <a:pPr algn="l"/>
                      <a:r>
                        <a:rPr sz="1050" b="0">
                          <a:solidFill>
                            <a:srgbClr val="22272E"/>
                          </a:solidFill>
                          <a:latin typeface="Segoe UI"/>
                        </a:rPr>
                        <a:t>The piece that runs Ray clusters on Kubernetes</a:t>
                      </a:r>
                    </a:p>
                  </a:txBody>
                  <a:tcPr marL="64008" marR="64008" marT="18288" marB="18288" anchor="ctr">
                    <a:solidFill>
                      <a:srgbClr val="F4F6F8"/>
                    </a:solidFill>
                  </a:tcPr>
                </a:tc>
                <a:tc>
                  <a:txBody>
                    <a:bodyPr wrap="square"/>
                    <a:lstStyle/>
                    <a:p>
                      <a:pPr algn="l"/>
                      <a:r>
                        <a:rPr sz="1050" b="0">
                          <a:solidFill>
                            <a:srgbClr val="22272E"/>
                          </a:solidFill>
                          <a:latin typeface="Segoe UI"/>
                        </a:rPr>
                        <a:t>Makes Ray cluster lifecycle automatic rather than hand-rolled</a:t>
                      </a:r>
                    </a:p>
                  </a:txBody>
                  <a:tcPr marL="64008" marR="64008" marT="18288" marB="18288" anchor="ctr">
                    <a:solidFill>
                      <a:srgbClr val="F4F6F8"/>
                    </a:solidFill>
                  </a:tcPr>
                </a:tc>
              </a:tr>
              <a:tr h="384048">
                <a:tc>
                  <a:txBody>
                    <a:bodyPr wrap="square"/>
                    <a:lstStyle/>
                    <a:p>
                      <a:pPr algn="l"/>
                      <a:r>
                        <a:rPr sz="1050" b="0">
                          <a:solidFill>
                            <a:srgbClr val="22272E"/>
                          </a:solidFill>
                          <a:latin typeface="Segoe UI"/>
                        </a:rPr>
                        <a:t>AWS Batch</a:t>
                      </a:r>
                    </a:p>
                  </a:txBody>
                  <a:tcPr marL="64008" marR="64008" marT="18288" marB="18288" anchor="ctr">
                    <a:solidFill>
                      <a:srgbClr val="FFFFFF"/>
                    </a:solidFill>
                  </a:tcPr>
                </a:tc>
                <a:tc>
                  <a:txBody>
                    <a:bodyPr wrap="square"/>
                    <a:lstStyle/>
                    <a:p>
                      <a:pPr algn="l"/>
                      <a:r>
                        <a:rPr sz="1050" b="0">
                          <a:solidFill>
                            <a:srgbClr val="22272E"/>
                          </a:solidFill>
                          <a:latin typeface="Segoe UI"/>
                        </a:rPr>
                        <a:t>A managed job queue: submit work, AWS finds machines, runs it, tidies up</a:t>
                      </a:r>
                    </a:p>
                  </a:txBody>
                  <a:tcPr marL="64008" marR="64008" marT="18288" marB="18288" anchor="ctr">
                    <a:solidFill>
                      <a:srgbClr val="FFFFFF"/>
                    </a:solidFill>
                  </a:tcPr>
                </a:tc>
                <a:tc>
                  <a:txBody>
                    <a:bodyPr wrap="square"/>
                    <a:lstStyle/>
                    <a:p>
                      <a:pPr algn="l"/>
                      <a:r>
                        <a:rPr sz="1050" b="0">
                          <a:solidFill>
                            <a:srgbClr val="22272E"/>
                          </a:solidFill>
                          <a:latin typeface="Segoe UI"/>
                        </a:rPr>
                        <a:t>No scheduler to operate — but you wait in line</a:t>
                      </a:r>
                    </a:p>
                  </a:txBody>
                  <a:tcPr marL="64008" marR="64008" marT="18288" marB="18288" anchor="ctr">
                    <a:solidFill>
                      <a:srgbClr val="FFFFFF"/>
                    </a:solidFill>
                  </a:tcPr>
                </a:tc>
              </a:tr>
              <a:tr h="384048">
                <a:tc>
                  <a:txBody>
                    <a:bodyPr wrap="square"/>
                    <a:lstStyle/>
                    <a:p>
                      <a:pPr algn="l"/>
                      <a:r>
                        <a:rPr sz="1050" b="0">
                          <a:solidFill>
                            <a:srgbClr val="22272E"/>
                          </a:solidFill>
                          <a:latin typeface="Segoe UI"/>
                        </a:rPr>
                        <a:t>Amazon ECS</a:t>
                      </a:r>
                    </a:p>
                  </a:txBody>
                  <a:tcPr marL="64008" marR="64008" marT="18288" marB="18288" anchor="ctr">
                    <a:solidFill>
                      <a:srgbClr val="F4F6F8"/>
                    </a:solidFill>
                  </a:tcPr>
                </a:tc>
                <a:tc>
                  <a:txBody>
                    <a:bodyPr wrap="square"/>
                    <a:lstStyle/>
                    <a:p>
                      <a:pPr algn="l"/>
                      <a:r>
                        <a:rPr sz="1050" b="0">
                          <a:solidFill>
                            <a:srgbClr val="22272E"/>
                          </a:solidFill>
                          <a:latin typeface="Segoe UI"/>
                        </a:rPr>
                        <a:t>AWS's own container service; simpler than Kubernetes</a:t>
                      </a:r>
                    </a:p>
                  </a:txBody>
                  <a:tcPr marL="64008" marR="64008" marT="18288" marB="18288" anchor="ctr">
                    <a:solidFill>
                      <a:srgbClr val="F4F6F8"/>
                    </a:solidFill>
                  </a:tcPr>
                </a:tc>
                <a:tc>
                  <a:txBody>
                    <a:bodyPr wrap="square"/>
                    <a:lstStyle/>
                    <a:p>
                      <a:pPr algn="l"/>
                      <a:r>
                        <a:rPr sz="1050" b="0">
                          <a:solidFill>
                            <a:srgbClr val="22272E"/>
                          </a:solidFill>
                          <a:latin typeface="Segoe UI"/>
                        </a:rPr>
                        <a:t>Least to operate, but cannot start N machines as one unit</a:t>
                      </a:r>
                    </a:p>
                  </a:txBody>
                  <a:tcPr marL="64008" marR="64008" marT="18288" marB="18288" anchor="ctr">
                    <a:solidFill>
                      <a:srgbClr val="F4F6F8"/>
                    </a:solidFill>
                  </a:tcPr>
                </a:tc>
              </a:tr>
              <a:tr h="384048">
                <a:tc>
                  <a:txBody>
                    <a:bodyPr wrap="square"/>
                    <a:lstStyle/>
                    <a:p>
                      <a:pPr algn="l"/>
                      <a:r>
                        <a:rPr sz="1050" b="0">
                          <a:solidFill>
                            <a:srgbClr val="22272E"/>
                          </a:solidFill>
                          <a:latin typeface="Segoe UI"/>
                        </a:rPr>
                        <a:t>Gang scheduling</a:t>
                      </a:r>
                    </a:p>
                  </a:txBody>
                  <a:tcPr marL="64008" marR="64008" marT="18288" marB="18288" anchor="ctr">
                    <a:solidFill>
                      <a:srgbClr val="FFFFFF"/>
                    </a:solidFill>
                  </a:tcPr>
                </a:tc>
                <a:tc>
                  <a:txBody>
                    <a:bodyPr wrap="square"/>
                    <a:lstStyle/>
                    <a:p>
                      <a:pPr algn="l"/>
                      <a:r>
                        <a:rPr sz="1050" b="0">
                          <a:solidFill>
                            <a:srgbClr val="22272E"/>
                          </a:solidFill>
                          <a:latin typeface="Segoe UI"/>
                        </a:rPr>
                        <a:t>Starting N machines together, as a unit, so they can talk mid-job</a:t>
                      </a:r>
                    </a:p>
                  </a:txBody>
                  <a:tcPr marL="64008" marR="64008" marT="18288" marB="18288" anchor="ctr">
                    <a:solidFill>
                      <a:srgbClr val="FFFFFF"/>
                    </a:solidFill>
                  </a:tcPr>
                </a:tc>
                <a:tc>
                  <a:txBody>
                    <a:bodyPr wrap="square"/>
                    <a:lstStyle/>
                    <a:p>
                      <a:pPr algn="l"/>
                      <a:r>
                        <a:rPr sz="1050" b="0">
                          <a:solidFill>
                            <a:srgbClr val="22272E"/>
                          </a:solidFill>
                          <a:latin typeface="Segoe UI"/>
                        </a:rPr>
                        <a:t>Mandatory for training that spans more than one server</a:t>
                      </a:r>
                    </a:p>
                  </a:txBody>
                  <a:tcPr marL="64008" marR="64008" marT="18288" marB="18288" anchor="ctr">
                    <a:solidFill>
                      <a:srgbClr val="FFFFFF"/>
                    </a:solidFill>
                  </a:tcPr>
                </a:tc>
              </a:tr>
              <a:tr h="384048">
                <a:tc>
                  <a:txBody>
                    <a:bodyPr wrap="square"/>
                    <a:lstStyle/>
                    <a:p>
                      <a:pPr algn="l"/>
                      <a:r>
                        <a:rPr sz="1050" b="0">
                          <a:solidFill>
                            <a:srgbClr val="22272E"/>
                          </a:solidFill>
                          <a:latin typeface="Segoe UI"/>
                        </a:rPr>
                        <a:t>EFA</a:t>
                      </a:r>
                    </a:p>
                  </a:txBody>
                  <a:tcPr marL="64008" marR="64008" marT="18288" marB="18288" anchor="ctr">
                    <a:solidFill>
                      <a:srgbClr val="F4F6F8"/>
                    </a:solidFill>
                  </a:tcPr>
                </a:tc>
                <a:tc>
                  <a:txBody>
                    <a:bodyPr wrap="square"/>
                    <a:lstStyle/>
                    <a:p>
                      <a:pPr algn="l"/>
                      <a:r>
                        <a:rPr sz="1050" b="0">
                          <a:solidFill>
                            <a:srgbClr val="22272E"/>
                          </a:solidFill>
                          <a:latin typeface="Segoe UI"/>
                        </a:rPr>
                        <a:t>A high-speed network card for server-to-server GPU traffic</a:t>
                      </a:r>
                    </a:p>
                  </a:txBody>
                  <a:tcPr marL="64008" marR="64008" marT="18288" marB="18288" anchor="ctr">
                    <a:solidFill>
                      <a:srgbClr val="F4F6F8"/>
                    </a:solidFill>
                  </a:tcPr>
                </a:tc>
                <a:tc>
                  <a:txBody>
                    <a:bodyPr wrap="square"/>
                    <a:lstStyle/>
                    <a:p>
                      <a:pPr algn="l"/>
                      <a:r>
                        <a:rPr sz="1050" b="0">
                          <a:solidFill>
                            <a:srgbClr val="22272E"/>
                          </a:solidFill>
                          <a:latin typeface="Segoe UI"/>
                        </a:rPr>
                        <a:t>Without it, multi-node training does not scale</a:t>
                      </a:r>
                    </a:p>
                  </a:txBody>
                  <a:tcPr marL="64008" marR="64008" marT="18288" marB="18288" anchor="ctr">
                    <a:solidFill>
                      <a:srgbClr val="F4F6F8"/>
                    </a:solidFill>
                  </a:tcPr>
                </a:tc>
              </a:tr>
              <a:tr h="384048">
                <a:tc>
                  <a:txBody>
                    <a:bodyPr wrap="square"/>
                    <a:lstStyle/>
                    <a:p>
                      <a:pPr algn="l"/>
                      <a:r>
                        <a:rPr sz="1050" b="0">
                          <a:solidFill>
                            <a:srgbClr val="22272E"/>
                          </a:solidFill>
                          <a:latin typeface="Segoe UI"/>
                        </a:rPr>
                        <a:t>p5.48xlarge</a:t>
                      </a:r>
                    </a:p>
                  </a:txBody>
                  <a:tcPr marL="64008" marR="64008" marT="18288" marB="18288" anchor="ctr">
                    <a:solidFill>
                      <a:srgbClr val="FFFFFF"/>
                    </a:solidFill>
                  </a:tcPr>
                </a:tc>
                <a:tc>
                  <a:txBody>
                    <a:bodyPr wrap="square"/>
                    <a:lstStyle/>
                    <a:p>
                      <a:pPr algn="l"/>
                      <a:r>
                        <a:rPr sz="1050" b="0">
                          <a:solidFill>
                            <a:srgbClr val="22272E"/>
                          </a:solidFill>
                          <a:latin typeface="Segoe UI"/>
                        </a:rPr>
                        <a:t>One AWS server with 8 NVIDIA H100 GPUs (640 GB GPU memory)</a:t>
                      </a:r>
                    </a:p>
                  </a:txBody>
                  <a:tcPr marL="64008" marR="64008" marT="18288" marB="18288" anchor="ctr">
                    <a:solidFill>
                      <a:srgbClr val="FFFFFF"/>
                    </a:solidFill>
                  </a:tcPr>
                </a:tc>
                <a:tc>
                  <a:txBody>
                    <a:bodyPr wrap="square"/>
                    <a:lstStyle/>
                    <a:p>
                      <a:pPr algn="l"/>
                      <a:r>
                        <a:rPr sz="1050" b="0">
                          <a:solidFill>
                            <a:srgbClr val="22272E"/>
                          </a:solidFill>
                          <a:latin typeface="Segoe UI"/>
                        </a:rPr>
                        <a:t>We are buying 3 of them: 24 GPUs, ~$91.6k/month</a:t>
                      </a:r>
                    </a:p>
                  </a:txBody>
                  <a:tcPr marL="64008" marR="64008" marT="18288" marB="18288" anchor="ctr">
                    <a:solidFill>
                      <a:srgbClr val="FFFFFF"/>
                    </a:solidFill>
                  </a:tcPr>
                </a:tc>
              </a:tr>
              <a:tr h="384048">
                <a:tc>
                  <a:txBody>
                    <a:bodyPr wrap="square"/>
                    <a:lstStyle/>
                    <a:p>
                      <a:pPr algn="l"/>
                      <a:r>
                        <a:rPr sz="1050" b="0">
                          <a:solidFill>
                            <a:srgbClr val="22272E"/>
                          </a:solidFill>
                          <a:latin typeface="Segoe UI"/>
                        </a:rPr>
                        <a:t>FSx for Lustre</a:t>
                      </a:r>
                    </a:p>
                  </a:txBody>
                  <a:tcPr marL="64008" marR="64008" marT="18288" marB="18288" anchor="ctr">
                    <a:solidFill>
                      <a:srgbClr val="F4F6F8"/>
                    </a:solidFill>
                  </a:tcPr>
                </a:tc>
                <a:tc>
                  <a:txBody>
                    <a:bodyPr wrap="square"/>
                    <a:lstStyle/>
                    <a:p>
                      <a:pPr algn="l"/>
                      <a:r>
                        <a:rPr sz="1050" b="0">
                          <a:solidFill>
                            <a:srgbClr val="22272E"/>
                          </a:solidFill>
                          <a:latin typeface="Segoe UI"/>
                        </a:rPr>
                        <a:t>A fast shared filesystem built for HPC workloads</a:t>
                      </a:r>
                    </a:p>
                  </a:txBody>
                  <a:tcPr marL="64008" marR="64008" marT="18288" marB="18288" anchor="ctr">
                    <a:solidFill>
                      <a:srgbClr val="F4F6F8"/>
                    </a:solidFill>
                  </a:tcPr>
                </a:tc>
                <a:tc>
                  <a:txBody>
                    <a:bodyPr wrap="square"/>
                    <a:lstStyle/>
                    <a:p>
                      <a:pPr algn="l"/>
                      <a:r>
                        <a:rPr sz="1050" b="0">
                          <a:solidFill>
                            <a:srgbClr val="22272E"/>
                          </a:solidFill>
                          <a:latin typeface="Segoe UI"/>
                        </a:rPr>
                        <a:t>Needed only if jobs read each other's files, or meshes</a:t>
                      </a:r>
                    </a:p>
                  </a:txBody>
                  <a:tcPr marL="64008" marR="64008" marT="18288" marB="18288" anchor="ctr">
                    <a:solidFill>
                      <a:srgbClr val="F4F6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PROJECT NEEDS</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What we are evaluating against</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graphicFrame>
        <p:nvGraphicFramePr>
          <p:cNvPr id="6" name="Table 5"/>
          <p:cNvGraphicFramePr>
            <a:graphicFrameLocks noGrp="1"/>
          </p:cNvGraphicFramePr>
          <p:nvPr/>
        </p:nvGraphicFramePr>
        <p:xfrm>
          <a:off x="548640" y="1463040"/>
          <a:ext cx="11064240" cy="4398264"/>
        </p:xfrm>
        <a:graphic>
          <a:graphicData uri="http://schemas.openxmlformats.org/drawingml/2006/table">
            <a:tbl>
              <a:tblPr firstRow="1" bandRow="1">
                <a:tableStyleId>{5C22544A-7EE6-4342-B048-85BDC9FD1C3A}</a:tableStyleId>
              </a:tblPr>
              <a:tblGrid>
                <a:gridCol w="1371600"/>
                <a:gridCol w="9692640"/>
              </a:tblGrid>
              <a:tr h="338328">
                <a:tc>
                  <a:txBody>
                    <a:bodyPr wrap="square"/>
                    <a:lstStyle/>
                    <a:p>
                      <a:pPr algn="l"/>
                      <a:r>
                        <a:rPr sz="1000" b="1">
                          <a:solidFill>
                            <a:srgbClr val="FFFFFF"/>
                          </a:solidFill>
                          <a:latin typeface="Segoe UI"/>
                        </a:rPr>
                        <a:t>Source</a:t>
                      </a:r>
                    </a:p>
                  </a:txBody>
                  <a:tcPr marL="64008" marR="64008" marT="18288" marB="18288" anchor="ctr">
                    <a:solidFill>
                      <a:srgbClr val="1F3A5F"/>
                    </a:solidFill>
                  </a:tcPr>
                </a:tc>
                <a:tc>
                  <a:txBody>
                    <a:bodyPr wrap="square"/>
                    <a:lstStyle/>
                    <a:p>
                      <a:pPr algn="l"/>
                      <a:r>
                        <a:rPr sz="1000" b="1">
                          <a:solidFill>
                            <a:srgbClr val="FFFFFF"/>
                          </a:solidFill>
                          <a:latin typeface="Segoe UI"/>
                        </a:rPr>
                        <a:t>Requirement</a:t>
                      </a:r>
                    </a:p>
                  </a:txBody>
                  <a:tcPr marL="64008" marR="64008" marT="18288" marB="18288" anchor="ctr">
                    <a:solidFill>
                      <a:srgbClr val="1F3A5F"/>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FFFFF"/>
                    </a:solidFill>
                  </a:tcPr>
                </a:tc>
                <a:tc>
                  <a:txBody>
                    <a:bodyPr wrap="square"/>
                    <a:lstStyle/>
                    <a:p>
                      <a:pPr algn="l"/>
                      <a:r>
                        <a:rPr sz="1150" b="0">
                          <a:solidFill>
                            <a:srgbClr val="22272E"/>
                          </a:solidFill>
                          <a:latin typeface="Segoe UI"/>
                        </a:rPr>
                        <a:t>Rapid enablement — researchers productive on GPUs quickly</a:t>
                      </a:r>
                    </a:p>
                  </a:txBody>
                  <a:tcPr marL="64008" marR="64008" marT="18288" marB="18288" anchor="ctr">
                    <a:solidFill>
                      <a:srgbClr val="FFFFFF"/>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4F6F8"/>
                    </a:solidFill>
                  </a:tcPr>
                </a:tc>
                <a:tc>
                  <a:txBody>
                    <a:bodyPr wrap="square"/>
                    <a:lstStyle/>
                    <a:p>
                      <a:pPr algn="l"/>
                      <a:r>
                        <a:rPr sz="1150" b="0">
                          <a:solidFill>
                            <a:srgbClr val="22272E"/>
                          </a:solidFill>
                          <a:latin typeface="Segoe UI"/>
                        </a:rPr>
                        <a:t>Linear scaling 1 → N GPUs; training from days to hours (multi-node)</a:t>
                      </a:r>
                    </a:p>
                  </a:txBody>
                  <a:tcPr marL="64008" marR="64008" marT="18288" marB="18288" anchor="ctr">
                    <a:solidFill>
                      <a:srgbClr val="F4F6F8"/>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FFFFF"/>
                    </a:solidFill>
                  </a:tcPr>
                </a:tc>
                <a:tc>
                  <a:txBody>
                    <a:bodyPr wrap="square"/>
                    <a:lstStyle/>
                    <a:p>
                      <a:pPr algn="l"/>
                      <a:r>
                        <a:rPr sz="1150" b="0">
                          <a:solidFill>
                            <a:srgbClr val="22272E"/>
                          </a:solidFill>
                          <a:latin typeface="Segoe UI"/>
                        </a:rPr>
                        <a:t>&gt;90% utilization, against a 60–70% on-prem baseline</a:t>
                      </a:r>
                    </a:p>
                  </a:txBody>
                  <a:tcPr marL="64008" marR="64008" marT="18288" marB="18288" anchor="ctr">
                    <a:solidFill>
                      <a:srgbClr val="FFFFFF"/>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4F6F8"/>
                    </a:solidFill>
                  </a:tcPr>
                </a:tc>
                <a:tc>
                  <a:txBody>
                    <a:bodyPr wrap="square"/>
                    <a:lstStyle/>
                    <a:p>
                      <a:pPr algn="l"/>
                      <a:r>
                        <a:rPr sz="1150" b="0">
                          <a:solidFill>
                            <a:srgbClr val="22272E"/>
                          </a:solidFill>
                          <a:latin typeface="Segoe UI"/>
                        </a:rPr>
                        <a:t>Shell/SSH access prioritised over complex web UIs</a:t>
                      </a:r>
                    </a:p>
                  </a:txBody>
                  <a:tcPr marL="64008" marR="64008" marT="18288" marB="18288" anchor="ctr">
                    <a:solidFill>
                      <a:srgbClr val="F4F6F8"/>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FFFFF"/>
                    </a:solidFill>
                  </a:tcPr>
                </a:tc>
                <a:tc>
                  <a:txBody>
                    <a:bodyPr wrap="square"/>
                    <a:lstStyle/>
                    <a:p>
                      <a:pPr algn="l"/>
                      <a:r>
                        <a:rPr sz="1150" b="0">
                          <a:solidFill>
                            <a:srgbClr val="22272E"/>
                          </a:solidFill>
                          <a:latin typeface="Segoe UI"/>
                        </a:rPr>
                        <a:t>Self-service — no ticketing systems or deployment queues</a:t>
                      </a:r>
                    </a:p>
                  </a:txBody>
                  <a:tcPr marL="64008" marR="64008" marT="18288" marB="18288" anchor="ctr">
                    <a:solidFill>
                      <a:srgbClr val="FFFFFF"/>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4F6F8"/>
                    </a:solidFill>
                  </a:tcPr>
                </a:tc>
                <a:tc>
                  <a:txBody>
                    <a:bodyPr wrap="square"/>
                    <a:lstStyle/>
                    <a:p>
                      <a:pPr algn="l"/>
                      <a:r>
                        <a:rPr sz="1150" b="0">
                          <a:solidFill>
                            <a:srgbClr val="22272E"/>
                          </a:solidFill>
                          <a:latin typeface="Segoe UI"/>
                        </a:rPr>
                        <a:t>Flat support model; no blocker persists beyond 24 hours</a:t>
                      </a:r>
                    </a:p>
                  </a:txBody>
                  <a:tcPr marL="64008" marR="64008" marT="18288" marB="18288" anchor="ctr">
                    <a:solidFill>
                      <a:srgbClr val="F4F6F8"/>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FFFFF"/>
                    </a:solidFill>
                  </a:tcPr>
                </a:tc>
                <a:tc>
                  <a:txBody>
                    <a:bodyPr wrap="square"/>
                    <a:lstStyle/>
                    <a:p>
                      <a:pPr algn="l"/>
                      <a:r>
                        <a:rPr sz="1150" b="0">
                          <a:solidFill>
                            <a:srgbClr val="22272E"/>
                          </a:solidFill>
                          <a:latin typeface="Segoe UI"/>
                        </a:rPr>
                        <a:t>Project Lab Notebook — configuration and lessons captured</a:t>
                      </a:r>
                    </a:p>
                  </a:txBody>
                  <a:tcPr marL="64008" marR="64008" marT="18288" marB="18288" anchor="ctr">
                    <a:solidFill>
                      <a:srgbClr val="FFFFFF"/>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4F6F8"/>
                    </a:solidFill>
                  </a:tcPr>
                </a:tc>
                <a:tc>
                  <a:txBody>
                    <a:bodyPr wrap="square"/>
                    <a:lstStyle/>
                    <a:p>
                      <a:pPr algn="l"/>
                      <a:r>
                        <a:rPr sz="1150" b="0">
                          <a:solidFill>
                            <a:srgbClr val="22272E"/>
                          </a:solidFill>
                          <a:latin typeface="Segoe UI"/>
                        </a:rPr>
                        <a:t>SMaaS foundation for Phase 2 — a shared service across business units</a:t>
                      </a:r>
                    </a:p>
                  </a:txBody>
                  <a:tcPr marL="64008" marR="64008" marT="18288" marB="18288" anchor="ctr">
                    <a:solidFill>
                      <a:srgbClr val="F4F6F8"/>
                    </a:solidFill>
                  </a:tcPr>
                </a:tc>
              </a:tr>
              <a:tr h="338328">
                <a:tc>
                  <a:txBody>
                    <a:bodyPr wrap="square"/>
                    <a:lstStyle/>
                    <a:p>
                      <a:pPr algn="l"/>
                      <a:r>
                        <a:rPr sz="1150" b="0">
                          <a:solidFill>
                            <a:srgbClr val="22272E"/>
                          </a:solidFill>
                          <a:latin typeface="Segoe UI"/>
                        </a:rPr>
                        <a:t>Kickoff</a:t>
                      </a:r>
                    </a:p>
                  </a:txBody>
                  <a:tcPr marL="64008" marR="64008" marT="18288" marB="18288" anchor="ctr">
                    <a:solidFill>
                      <a:srgbClr val="FFFFFF"/>
                    </a:solidFill>
                  </a:tcPr>
                </a:tc>
                <a:tc>
                  <a:txBody>
                    <a:bodyPr wrap="square"/>
                    <a:lstStyle/>
                    <a:p>
                      <a:pPr algn="l"/>
                      <a:r>
                        <a:rPr sz="1150" b="0">
                          <a:solidFill>
                            <a:srgbClr val="22272E"/>
                          </a:solidFill>
                          <a:latin typeface="Segoe UI"/>
                        </a:rPr>
                        <a:t>Stack named as EKS / Ray / Argo</a:t>
                      </a:r>
                    </a:p>
                  </a:txBody>
                  <a:tcPr marL="64008" marR="64008" marT="18288" marB="18288" anchor="ctr">
                    <a:solidFill>
                      <a:srgbClr val="FFFFFF"/>
                    </a:solidFill>
                  </a:tcPr>
                </a:tc>
              </a:tr>
              <a:tr h="338328">
                <a:tc>
                  <a:txBody>
                    <a:bodyPr wrap="square"/>
                    <a:lstStyle/>
                    <a:p>
                      <a:pPr algn="l"/>
                      <a:r>
                        <a:rPr sz="1150" b="0">
                          <a:solidFill>
                            <a:srgbClr val="22272E"/>
                          </a:solidFill>
                          <a:latin typeface="Segoe UI"/>
                        </a:rPr>
                        <a:t>SOW</a:t>
                      </a:r>
                    </a:p>
                  </a:txBody>
                  <a:tcPr marL="64008" marR="64008" marT="18288" marB="18288" anchor="ctr">
                    <a:solidFill>
                      <a:srgbClr val="F4F6F8"/>
                    </a:solidFill>
                  </a:tcPr>
                </a:tc>
                <a:tc>
                  <a:txBody>
                    <a:bodyPr wrap="square"/>
                    <a:lstStyle/>
                    <a:p>
                      <a:pPr algn="l"/>
                      <a:r>
                        <a:rPr sz="1150" b="0">
                          <a:solidFill>
                            <a:srgbClr val="22272E"/>
                          </a:solidFill>
                          <a:latin typeface="Segoe UI"/>
                        </a:rPr>
                        <a:t>D7 — training equivalent to on-prem, across multiple GPUs</a:t>
                      </a:r>
                    </a:p>
                  </a:txBody>
                  <a:tcPr marL="64008" marR="64008" marT="18288" marB="18288" anchor="ctr">
                    <a:solidFill>
                      <a:srgbClr val="F4F6F8"/>
                    </a:solidFill>
                  </a:tcPr>
                </a:tc>
              </a:tr>
              <a:tr h="338328">
                <a:tc>
                  <a:txBody>
                    <a:bodyPr wrap="square"/>
                    <a:lstStyle/>
                    <a:p>
                      <a:pPr algn="l"/>
                      <a:r>
                        <a:rPr sz="1150" b="0">
                          <a:solidFill>
                            <a:srgbClr val="22272E"/>
                          </a:solidFill>
                          <a:latin typeface="Segoe UI"/>
                        </a:rPr>
                        <a:t>SOW</a:t>
                      </a:r>
                    </a:p>
                  </a:txBody>
                  <a:tcPr marL="64008" marR="64008" marT="18288" marB="18288" anchor="ctr">
                    <a:solidFill>
                      <a:srgbClr val="FFFFFF"/>
                    </a:solidFill>
                  </a:tcPr>
                </a:tc>
                <a:tc>
                  <a:txBody>
                    <a:bodyPr wrap="square"/>
                    <a:lstStyle/>
                    <a:p>
                      <a:pPr algn="l"/>
                      <a:r>
                        <a:rPr sz="1150" b="0">
                          <a:solidFill>
                            <a:srgbClr val="22272E"/>
                          </a:solidFill>
                          <a:latin typeface="Segoe UI"/>
                        </a:rPr>
                        <a:t>D8 — infrastructure supporting the Burstable MLaaS offering</a:t>
                      </a:r>
                    </a:p>
                  </a:txBody>
                  <a:tcPr marL="64008" marR="64008" marT="18288" marB="18288" anchor="ctr">
                    <a:solidFill>
                      <a:srgbClr val="FFFFFF"/>
                    </a:solidFill>
                  </a:tcPr>
                </a:tc>
              </a:tr>
              <a:tr h="338328">
                <a:tc>
                  <a:txBody>
                    <a:bodyPr wrap="square"/>
                    <a:lstStyle/>
                    <a:p>
                      <a:pPr algn="l"/>
                      <a:r>
                        <a:rPr sz="1150" b="0">
                          <a:solidFill>
                            <a:srgbClr val="22272E"/>
                          </a:solidFill>
                          <a:latin typeface="Segoe UI"/>
                        </a:rPr>
                        <a:t>LTI</a:t>
                      </a:r>
                    </a:p>
                  </a:txBody>
                  <a:tcPr marL="64008" marR="64008" marT="18288" marB="18288" anchor="ctr">
                    <a:solidFill>
                      <a:srgbClr val="F4F6F8"/>
                    </a:solidFill>
                  </a:tcPr>
                </a:tc>
                <a:tc>
                  <a:txBody>
                    <a:bodyPr wrap="square"/>
                    <a:lstStyle/>
                    <a:p>
                      <a:pPr algn="l"/>
                      <a:r>
                        <a:rPr sz="1150" b="0">
                          <a:solidFill>
                            <a:srgbClr val="22272E"/>
                          </a:solidFill>
                          <a:latin typeface="Segoe UI"/>
                        </a:rPr>
                        <a:t>Tri-environment parity — Mac, AWS, on-prem (our stated invariant)</a:t>
                      </a:r>
                    </a:p>
                  </a:txBody>
                  <a:tcPr marL="64008" marR="64008" marT="18288" marB="18288" anchor="ctr">
                    <a:solidFill>
                      <a:srgbClr val="F4F6F8"/>
                    </a:solidFill>
                  </a:tcPr>
                </a:tc>
              </a:tr>
            </a:tbl>
          </a:graphicData>
        </a:graphic>
      </p:graphicFrame>
      <p:sp>
        <p:nvSpPr>
          <p:cNvPr id="7" name="TextBox 6"/>
          <p:cNvSpPr txBox="1"/>
          <p:nvPr/>
        </p:nvSpPr>
        <p:spPr>
          <a:xfrm>
            <a:off x="548640" y="5989320"/>
            <a:ext cx="11064240" cy="365760"/>
          </a:xfrm>
          <a:prstGeom prst="rect">
            <a:avLst/>
          </a:prstGeom>
          <a:noFill/>
        </p:spPr>
        <p:txBody>
          <a:bodyPr wrap="square" lIns="0" rIns="0" tIns="0" bIns="0">
            <a:spAutoFit/>
          </a:bodyPr>
          <a:lstStyle/>
          <a:p>
            <a:pPr algn="l">
              <a:lnSpc>
                <a:spcPct val="115000"/>
              </a:lnSpc>
              <a:spcAft>
                <a:spcPts val="600"/>
              </a:spcAft>
            </a:pPr>
            <a:r>
              <a:rPr sz="950" b="0">
                <a:solidFill>
                  <a:srgbClr val="6B7280"/>
                </a:solidFill>
                <a:latin typeface="Segoe UI"/>
              </a:rPr>
              <a:t>Sources: 2026-10-12 research kickoff (Jim Tallman) · SOW scope document · LTI architecture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AT A GLANCE</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Three candidates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554480"/>
            <a:ext cx="3538728" cy="41148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822960" y="1783080"/>
            <a:ext cx="1371600" cy="25603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819656"/>
            <a:ext cx="1280160" cy="228600"/>
          </a:xfrm>
          <a:prstGeom prst="rect">
            <a:avLst/>
          </a:prstGeom>
          <a:noFill/>
        </p:spPr>
        <p:txBody>
          <a:bodyPr wrap="square" lIns="0" rIns="0" tIns="0" bIns="0">
            <a:spAutoFit/>
          </a:bodyPr>
          <a:lstStyle/>
          <a:p>
            <a:pPr algn="l">
              <a:lnSpc>
                <a:spcPct val="115000"/>
              </a:lnSpc>
              <a:spcAft>
                <a:spcPts val="600"/>
              </a:spcAft>
            </a:pPr>
            <a:r>
              <a:rPr sz="900" b="1">
                <a:solidFill>
                  <a:srgbClr val="FFFFFF"/>
                </a:solidFill>
                <a:latin typeface="Segoe UI"/>
              </a:rPr>
              <a:t>RECOMMENDED</a:t>
            </a:r>
          </a:p>
        </p:txBody>
      </p:sp>
      <p:sp>
        <p:nvSpPr>
          <p:cNvPr id="9" name="TextBox 8"/>
          <p:cNvSpPr txBox="1"/>
          <p:nvPr/>
        </p:nvSpPr>
        <p:spPr>
          <a:xfrm>
            <a:off x="822960" y="2240280"/>
            <a:ext cx="2990088" cy="731520"/>
          </a:xfrm>
          <a:prstGeom prst="rect">
            <a:avLst/>
          </a:prstGeom>
          <a:noFill/>
        </p:spPr>
        <p:txBody>
          <a:bodyPr wrap="square" lIns="0" rIns="0" tIns="0" bIns="0">
            <a:spAutoFit/>
          </a:bodyPr>
          <a:lstStyle/>
          <a:p>
            <a:pPr algn="l">
              <a:lnSpc>
                <a:spcPct val="115000"/>
              </a:lnSpc>
              <a:spcAft>
                <a:spcPts val="600"/>
              </a:spcAft>
            </a:pPr>
            <a:r>
              <a:rPr sz="1700" b="1">
                <a:solidFill>
                  <a:srgbClr val="1F3A5F"/>
                </a:solidFill>
                <a:latin typeface="Segoe UI"/>
              </a:rPr>
              <a:t>EKS + Karpenter + Ray</a:t>
            </a:r>
          </a:p>
        </p:txBody>
      </p:sp>
      <p:sp>
        <p:nvSpPr>
          <p:cNvPr id="10" name="TextBox 9"/>
          <p:cNvSpPr txBox="1"/>
          <p:nvPr/>
        </p:nvSpPr>
        <p:spPr>
          <a:xfrm>
            <a:off x="822960" y="3063240"/>
            <a:ext cx="2990088" cy="2194560"/>
          </a:xfrm>
          <a:prstGeom prst="rect">
            <a:avLst/>
          </a:prstGeom>
          <a:noFill/>
        </p:spPr>
        <p:txBody>
          <a:bodyPr wrap="square" lIns="0" rIns="0" tIns="0" bIns="0">
            <a:spAutoFit/>
          </a:bodyPr>
          <a:lstStyle/>
          <a:p>
            <a:pPr algn="l">
              <a:lnSpc>
                <a:spcPct val="125000"/>
              </a:lnSpc>
              <a:spcAft>
                <a:spcPts val="200"/>
              </a:spcAft>
            </a:pPr>
            <a:r>
              <a:rPr sz="1200" b="0">
                <a:solidFill>
                  <a:srgbClr val="22272E"/>
                </a:solidFill>
                <a:latin typeface="Segoe UI"/>
              </a:rPr>
              <a:t>Karpenter provisions p5 nodes when Ray</a:t>
            </a:r>
          </a:p>
          <a:p>
            <a:pPr algn="l">
              <a:lnSpc>
                <a:spcPct val="125000"/>
              </a:lnSpc>
              <a:spcAft>
                <a:spcPts val="200"/>
              </a:spcAft>
            </a:pPr>
            <a:r>
              <a:rPr sz="1200" b="0">
                <a:solidFill>
                  <a:srgbClr val="22272E"/>
                </a:solidFill>
                <a:latin typeface="Segoe UI"/>
              </a:rPr>
              <a:t>workers are pending; researchers</a:t>
            </a:r>
          </a:p>
          <a:p>
            <a:pPr algn="l">
              <a:lnSpc>
                <a:spcPct val="125000"/>
              </a:lnSpc>
              <a:spcAft>
                <a:spcPts val="200"/>
              </a:spcAft>
            </a:pPr>
            <a:r>
              <a:rPr sz="1200" b="0">
                <a:solidFill>
                  <a:srgbClr val="22272E"/>
                </a:solidFill>
                <a:latin typeface="Segoe UI"/>
              </a:rPr>
              <a:t>submit from a CPU dev pod and GPUs</a:t>
            </a:r>
          </a:p>
          <a:p>
            <a:pPr algn="l">
              <a:lnSpc>
                <a:spcPct val="125000"/>
              </a:lnSpc>
              <a:spcAft>
                <a:spcPts val="200"/>
              </a:spcAft>
            </a:pPr>
            <a:r>
              <a:rPr sz="1200" b="0">
                <a:solidFill>
                  <a:srgbClr val="22272E"/>
                </a:solidFill>
                <a:latin typeface="Segoe UI"/>
              </a:rPr>
              <a:t>attach to the job, not the person.</a:t>
            </a:r>
          </a:p>
        </p:txBody>
      </p:sp>
      <p:sp>
        <p:nvSpPr>
          <p:cNvPr id="11" name="Rounded Rectangle 10"/>
          <p:cNvSpPr/>
          <p:nvPr/>
        </p:nvSpPr>
        <p:spPr>
          <a:xfrm>
            <a:off x="4325112" y="1554480"/>
            <a:ext cx="3538728" cy="41148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599432" y="1783080"/>
            <a:ext cx="1371600" cy="256032"/>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819656"/>
            <a:ext cx="1280160" cy="228600"/>
          </a:xfrm>
          <a:prstGeom prst="rect">
            <a:avLst/>
          </a:prstGeom>
          <a:noFill/>
        </p:spPr>
        <p:txBody>
          <a:bodyPr wrap="square" lIns="0" rIns="0" tIns="0" bIns="0">
            <a:spAutoFit/>
          </a:bodyPr>
          <a:lstStyle/>
          <a:p>
            <a:pPr algn="l">
              <a:lnSpc>
                <a:spcPct val="115000"/>
              </a:lnSpc>
              <a:spcAft>
                <a:spcPts val="600"/>
              </a:spcAft>
            </a:pPr>
            <a:r>
              <a:rPr sz="900" b="1">
                <a:solidFill>
                  <a:srgbClr val="FFFFFF"/>
                </a:solidFill>
                <a:latin typeface="Segoe UI"/>
              </a:rPr>
              <a:t>ALTERNATIVE</a:t>
            </a:r>
          </a:p>
        </p:txBody>
      </p:sp>
      <p:sp>
        <p:nvSpPr>
          <p:cNvPr id="14" name="TextBox 13"/>
          <p:cNvSpPr txBox="1"/>
          <p:nvPr/>
        </p:nvSpPr>
        <p:spPr>
          <a:xfrm>
            <a:off x="4599432" y="2240280"/>
            <a:ext cx="2990088" cy="731520"/>
          </a:xfrm>
          <a:prstGeom prst="rect">
            <a:avLst/>
          </a:prstGeom>
          <a:noFill/>
        </p:spPr>
        <p:txBody>
          <a:bodyPr wrap="square" lIns="0" rIns="0" tIns="0" bIns="0">
            <a:spAutoFit/>
          </a:bodyPr>
          <a:lstStyle/>
          <a:p>
            <a:pPr algn="l">
              <a:lnSpc>
                <a:spcPct val="115000"/>
              </a:lnSpc>
              <a:spcAft>
                <a:spcPts val="600"/>
              </a:spcAft>
            </a:pPr>
            <a:r>
              <a:rPr sz="1700" b="1">
                <a:solidFill>
                  <a:srgbClr val="1F3A5F"/>
                </a:solidFill>
                <a:latin typeface="Segoe UI"/>
              </a:rPr>
              <a:t>AWS Batch</a:t>
            </a:r>
          </a:p>
        </p:txBody>
      </p:sp>
      <p:sp>
        <p:nvSpPr>
          <p:cNvPr id="15" name="TextBox 14"/>
          <p:cNvSpPr txBox="1"/>
          <p:nvPr/>
        </p:nvSpPr>
        <p:spPr>
          <a:xfrm>
            <a:off x="4599432" y="3063240"/>
            <a:ext cx="2990088" cy="2194560"/>
          </a:xfrm>
          <a:prstGeom prst="rect">
            <a:avLst/>
          </a:prstGeom>
          <a:noFill/>
        </p:spPr>
        <p:txBody>
          <a:bodyPr wrap="square" lIns="0" rIns="0" tIns="0" bIns="0">
            <a:spAutoFit/>
          </a:bodyPr>
          <a:lstStyle/>
          <a:p>
            <a:pPr algn="l">
              <a:lnSpc>
                <a:spcPct val="125000"/>
              </a:lnSpc>
              <a:spcAft>
                <a:spcPts val="200"/>
              </a:spcAft>
            </a:pPr>
            <a:r>
              <a:rPr sz="1200" b="0">
                <a:solidFill>
                  <a:srgbClr val="22272E"/>
                </a:solidFill>
                <a:latin typeface="Segoe UI"/>
              </a:rPr>
              <a:t>A managed queue materialises a cluster</a:t>
            </a:r>
          </a:p>
          <a:p>
            <a:pPr algn="l">
              <a:lnSpc>
                <a:spcPct val="125000"/>
              </a:lnSpc>
              <a:spcAft>
                <a:spcPts val="200"/>
              </a:spcAft>
            </a:pPr>
            <a:r>
              <a:rPr sz="1200" b="0">
                <a:solidFill>
                  <a:srgbClr val="22272E"/>
                </a:solidFill>
                <a:latin typeface="Segoe UI"/>
              </a:rPr>
              <a:t>per job and destroys it. Gang</a:t>
            </a:r>
          </a:p>
          <a:p>
            <a:pPr algn="l">
              <a:lnSpc>
                <a:spcPct val="125000"/>
              </a:lnSpc>
              <a:spcAft>
                <a:spcPts val="200"/>
              </a:spcAft>
            </a:pPr>
            <a:r>
              <a:rPr sz="1200" b="0">
                <a:solidFill>
                  <a:srgbClr val="22272E"/>
                </a:solidFill>
                <a:latin typeface="Segoe UI"/>
              </a:rPr>
              <a:t>scheduling and fair-share are built in;</a:t>
            </a:r>
          </a:p>
          <a:p>
            <a:pPr algn="l">
              <a:lnSpc>
                <a:spcPct val="125000"/>
              </a:lnSpc>
              <a:spcAft>
                <a:spcPts val="200"/>
              </a:spcAft>
            </a:pPr>
            <a:r>
              <a:rPr sz="1200" b="0">
                <a:solidFill>
                  <a:srgbClr val="22272E"/>
                </a:solidFill>
                <a:latin typeface="Segoe UI"/>
              </a:rPr>
              <a:t>the interactive loop is not.</a:t>
            </a:r>
          </a:p>
        </p:txBody>
      </p:sp>
      <p:sp>
        <p:nvSpPr>
          <p:cNvPr id="16" name="Rounded Rectangle 15"/>
          <p:cNvSpPr/>
          <p:nvPr/>
        </p:nvSpPr>
        <p:spPr>
          <a:xfrm>
            <a:off x="8101584" y="1554480"/>
            <a:ext cx="3538728" cy="41148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375904" y="1783080"/>
            <a:ext cx="1371600" cy="256032"/>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1819656"/>
            <a:ext cx="1280160" cy="228600"/>
          </a:xfrm>
          <a:prstGeom prst="rect">
            <a:avLst/>
          </a:prstGeom>
          <a:noFill/>
        </p:spPr>
        <p:txBody>
          <a:bodyPr wrap="square" lIns="0" rIns="0" tIns="0" bIns="0">
            <a:spAutoFit/>
          </a:bodyPr>
          <a:lstStyle/>
          <a:p>
            <a:pPr algn="l">
              <a:lnSpc>
                <a:spcPct val="115000"/>
              </a:lnSpc>
              <a:spcAft>
                <a:spcPts val="600"/>
              </a:spcAft>
            </a:pPr>
            <a:r>
              <a:rPr sz="900" b="1">
                <a:solidFill>
                  <a:srgbClr val="FFFFFF"/>
                </a:solidFill>
                <a:latin typeface="Segoe UI"/>
              </a:rPr>
              <a:t>ALTERNATIVE</a:t>
            </a:r>
          </a:p>
        </p:txBody>
      </p:sp>
      <p:sp>
        <p:nvSpPr>
          <p:cNvPr id="19" name="TextBox 18"/>
          <p:cNvSpPr txBox="1"/>
          <p:nvPr/>
        </p:nvSpPr>
        <p:spPr>
          <a:xfrm>
            <a:off x="8375904" y="2240280"/>
            <a:ext cx="2990088" cy="731520"/>
          </a:xfrm>
          <a:prstGeom prst="rect">
            <a:avLst/>
          </a:prstGeom>
          <a:noFill/>
        </p:spPr>
        <p:txBody>
          <a:bodyPr wrap="square" lIns="0" rIns="0" tIns="0" bIns="0">
            <a:spAutoFit/>
          </a:bodyPr>
          <a:lstStyle/>
          <a:p>
            <a:pPr algn="l">
              <a:lnSpc>
                <a:spcPct val="115000"/>
              </a:lnSpc>
              <a:spcAft>
                <a:spcPts val="600"/>
              </a:spcAft>
            </a:pPr>
            <a:r>
              <a:rPr sz="1700" b="1">
                <a:solidFill>
                  <a:srgbClr val="1F3A5F"/>
                </a:solidFill>
                <a:latin typeface="Segoe UI"/>
              </a:rPr>
              <a:t>Amazon ECS</a:t>
            </a:r>
          </a:p>
        </p:txBody>
      </p:sp>
      <p:sp>
        <p:nvSpPr>
          <p:cNvPr id="20" name="TextBox 19"/>
          <p:cNvSpPr txBox="1"/>
          <p:nvPr/>
        </p:nvSpPr>
        <p:spPr>
          <a:xfrm>
            <a:off x="8375904" y="3063240"/>
            <a:ext cx="2990088" cy="2194560"/>
          </a:xfrm>
          <a:prstGeom prst="rect">
            <a:avLst/>
          </a:prstGeom>
          <a:noFill/>
        </p:spPr>
        <p:txBody>
          <a:bodyPr wrap="square" lIns="0" rIns="0" tIns="0" bIns="0">
            <a:spAutoFit/>
          </a:bodyPr>
          <a:lstStyle/>
          <a:p>
            <a:pPr algn="l">
              <a:lnSpc>
                <a:spcPct val="125000"/>
              </a:lnSpc>
              <a:spcAft>
                <a:spcPts val="200"/>
              </a:spcAft>
            </a:pPr>
            <a:r>
              <a:rPr sz="1200" b="0">
                <a:solidFill>
                  <a:srgbClr val="22272E"/>
                </a:solidFill>
                <a:latin typeface="Segoe UI"/>
              </a:rPr>
              <a:t>ECS Managed Instances with AWS owning</a:t>
            </a:r>
          </a:p>
          <a:p>
            <a:pPr algn="l">
              <a:lnSpc>
                <a:spcPct val="125000"/>
              </a:lnSpc>
              <a:spcAft>
                <a:spcPts val="200"/>
              </a:spcAft>
            </a:pPr>
            <a:r>
              <a:rPr sz="1200" b="0">
                <a:solidFill>
                  <a:srgbClr val="22272E"/>
                </a:solidFill>
                <a:latin typeface="Segoe UI"/>
              </a:rPr>
              <a:t>drivers and patching. Most managed,</a:t>
            </a:r>
          </a:p>
          <a:p>
            <a:pPr algn="l">
              <a:lnSpc>
                <a:spcPct val="125000"/>
              </a:lnSpc>
              <a:spcAft>
                <a:spcPts val="200"/>
              </a:spcAft>
            </a:pPr>
            <a:r>
              <a:rPr sz="1200" b="0">
                <a:solidFill>
                  <a:srgbClr val="22272E"/>
                </a:solidFill>
                <a:latin typeface="Segoe UI"/>
              </a:rPr>
              <a:t>least controllable — and no gang</a:t>
            </a:r>
          </a:p>
          <a:p>
            <a:pPr algn="l">
              <a:lnSpc>
                <a:spcPct val="125000"/>
              </a:lnSpc>
              <a:spcAft>
                <a:spcPts val="200"/>
              </a:spcAft>
            </a:pPr>
            <a:r>
              <a:rPr sz="1200" b="0">
                <a:solidFill>
                  <a:srgbClr val="22272E"/>
                </a:solidFill>
                <a:latin typeface="Segoe UI"/>
              </a:rPr>
              <a:t>scheduling primitive at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OPTION A — RECOMMENDED</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EKS + Karpenter + Ray</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graphicFrame>
        <p:nvGraphicFramePr>
          <p:cNvPr id="6" name="Table 5"/>
          <p:cNvGraphicFramePr>
            <a:graphicFrameLocks noGrp="1"/>
          </p:cNvGraphicFramePr>
          <p:nvPr/>
        </p:nvGraphicFramePr>
        <p:xfrm>
          <a:off x="548640" y="1463040"/>
          <a:ext cx="11064240" cy="3072384"/>
        </p:xfrm>
        <a:graphic>
          <a:graphicData uri="http://schemas.openxmlformats.org/drawingml/2006/table">
            <a:tbl>
              <a:tblPr firstRow="1" bandRow="1">
                <a:tableStyleId>{5C22544A-7EE6-4342-B048-85BDC9FD1C3A}</a:tableStyleId>
              </a:tblPr>
              <a:tblGrid>
                <a:gridCol w="1828800"/>
                <a:gridCol w="9235440"/>
              </a:tblGrid>
              <a:tr h="384048">
                <a:tc>
                  <a:txBody>
                    <a:bodyPr wrap="square"/>
                    <a:lstStyle/>
                    <a:p>
                      <a:pPr algn="l"/>
                      <a:r>
                        <a:rPr sz="1000" b="1">
                          <a:solidFill>
                            <a:srgbClr val="FFFFFF"/>
                          </a:solidFill>
                          <a:latin typeface="Segoe UI"/>
                        </a:rPr>
                        <a:t>Layer</a:t>
                      </a:r>
                    </a:p>
                  </a:txBody>
                  <a:tcPr marL="64008" marR="64008" marT="18288" marB="18288" anchor="ctr">
                    <a:solidFill>
                      <a:srgbClr val="1F3A5F"/>
                    </a:solidFill>
                  </a:tcPr>
                </a:tc>
                <a:tc>
                  <a:txBody>
                    <a:bodyPr wrap="square"/>
                    <a:lstStyle/>
                    <a:p>
                      <a:pPr algn="l"/>
                      <a:r>
                        <a:rPr sz="1000" b="1">
                          <a:solidFill>
                            <a:srgbClr val="FFFFFF"/>
                          </a:solidFill>
                          <a:latin typeface="Segoe UI"/>
                        </a:rPr>
                        <a:t>Choice</a:t>
                      </a:r>
                    </a:p>
                  </a:txBody>
                  <a:tcPr marL="64008" marR="64008" marT="18288" marB="18288" anchor="ctr">
                    <a:solidFill>
                      <a:srgbClr val="1F3A5F"/>
                    </a:solidFill>
                  </a:tcPr>
                </a:tc>
              </a:tr>
              <a:tr h="384048">
                <a:tc>
                  <a:txBody>
                    <a:bodyPr wrap="square"/>
                    <a:lstStyle/>
                    <a:p>
                      <a:pPr algn="l"/>
                      <a:r>
                        <a:rPr sz="1150" b="0">
                          <a:solidFill>
                            <a:srgbClr val="22272E"/>
                          </a:solidFill>
                          <a:latin typeface="Segoe UI"/>
                        </a:rPr>
                        <a:t>Compute</a:t>
                      </a:r>
                    </a:p>
                  </a:txBody>
                  <a:tcPr marL="64008" marR="64008" marT="18288" marB="18288" anchor="ctr">
                    <a:solidFill>
                      <a:srgbClr val="FFFFFF"/>
                    </a:solidFill>
                  </a:tcPr>
                </a:tc>
                <a:tc>
                  <a:txBody>
                    <a:bodyPr wrap="square"/>
                    <a:lstStyle/>
                    <a:p>
                      <a:pPr algn="l"/>
                      <a:r>
                        <a:rPr sz="1150" b="0">
                          <a:solidFill>
                            <a:srgbClr val="22272E"/>
                          </a:solidFill>
                          <a:latin typeface="Segoe UI"/>
                        </a:rPr>
                        <a:t>One EKS cluster; Karpenter-managed p5.48xlarge</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Capacity</a:t>
                      </a:r>
                    </a:p>
                  </a:txBody>
                  <a:tcPr marL="64008" marR="64008" marT="18288" marB="18288" anchor="ctr">
                    <a:solidFill>
                      <a:srgbClr val="F4F6F8"/>
                    </a:solidFill>
                  </a:tcPr>
                </a:tc>
                <a:tc>
                  <a:txBody>
                    <a:bodyPr wrap="square"/>
                    <a:lstStyle/>
                    <a:p>
                      <a:pPr algn="l"/>
                      <a:r>
                        <a:rPr sz="1150" b="0">
                          <a:solidFill>
                            <a:srgbClr val="22272E"/>
                          </a:solidFill>
                          <a:latin typeface="Segoe UI"/>
                        </a:rPr>
                        <a:t>3 × p5.48xlarge = 24 H100 GPUs; single-AZ, placement group, EFA, ODCR</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Jobs</a:t>
                      </a:r>
                    </a:p>
                  </a:txBody>
                  <a:tcPr marL="64008" marR="64008" marT="18288" marB="18288" anchor="ctr">
                    <a:solidFill>
                      <a:srgbClr val="FFFFFF"/>
                    </a:solidFill>
                  </a:tcPr>
                </a:tc>
                <a:tc>
                  <a:txBody>
                    <a:bodyPr wrap="square"/>
                    <a:lstStyle/>
                    <a:p>
                      <a:pPr algn="l"/>
                      <a:r>
                        <a:rPr sz="1150" b="0">
                          <a:solidFill>
                            <a:srgbClr val="22272E"/>
                          </a:solidFill>
                          <a:latin typeface="Segoe UI"/>
                        </a:rPr>
                        <a:t>KubeRay — persistent RayCluster, RayJob for batch runs</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Access</a:t>
                      </a:r>
                    </a:p>
                  </a:txBody>
                  <a:tcPr marL="64008" marR="64008" marT="18288" marB="18288" anchor="ctr">
                    <a:solidFill>
                      <a:srgbClr val="F4F6F8"/>
                    </a:solidFill>
                  </a:tcPr>
                </a:tc>
                <a:tc>
                  <a:txBody>
                    <a:bodyPr wrap="square"/>
                    <a:lstStyle/>
                    <a:p>
                      <a:pPr algn="l"/>
                      <a:r>
                        <a:rPr sz="1150" b="0">
                          <a:solidFill>
                            <a:srgbClr val="22272E"/>
                          </a:solidFill>
                          <a:latin typeface="Segoe UI"/>
                        </a:rPr>
                        <a:t>kubectl exec into a CPU dev pod; ray job submit from the laptop</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Data</a:t>
                      </a:r>
                    </a:p>
                  </a:txBody>
                  <a:tcPr marL="64008" marR="64008" marT="18288" marB="18288" anchor="ctr">
                    <a:solidFill>
                      <a:srgbClr val="FFFFFF"/>
                    </a:solidFill>
                  </a:tcPr>
                </a:tc>
                <a:tc>
                  <a:txBody>
                    <a:bodyPr wrap="square"/>
                    <a:lstStyle/>
                    <a:p>
                      <a:pPr algn="l"/>
                      <a:r>
                        <a:rPr sz="1150" b="0">
                          <a:solidFill>
                            <a:srgbClr val="22272E"/>
                          </a:solidFill>
                          <a:latin typeface="Segoe UI"/>
                        </a:rPr>
                        <a:t>S3 as system of record; FSx for Lustre if artifacts interact</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Platform</a:t>
                      </a:r>
                    </a:p>
                  </a:txBody>
                  <a:tcPr marL="64008" marR="64008" marT="18288" marB="18288" anchor="ctr">
                    <a:solidFill>
                      <a:srgbClr val="F4F6F8"/>
                    </a:solidFill>
                  </a:tcPr>
                </a:tc>
                <a:tc>
                  <a:txBody>
                    <a:bodyPr wrap="square"/>
                    <a:lstStyle/>
                    <a:p>
                      <a:pPr algn="l"/>
                      <a:r>
                        <a:rPr sz="1150" b="0">
                          <a:solidFill>
                            <a:srgbClr val="22272E"/>
                          </a:solidFill>
                          <a:latin typeface="Segoe UI"/>
                        </a:rPr>
                        <a:t>Argo CD for GitOps; Argo Workflows deferred; MLflow</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Telemetry</a:t>
                      </a:r>
                    </a:p>
                  </a:txBody>
                  <a:tcPr marL="64008" marR="64008" marT="18288" marB="18288" anchor="ctr">
                    <a:solidFill>
                      <a:srgbClr val="FFFFFF"/>
                    </a:solidFill>
                  </a:tcPr>
                </a:tc>
                <a:tc>
                  <a:txBody>
                    <a:bodyPr wrap="square"/>
                    <a:lstStyle/>
                    <a:p>
                      <a:pPr algn="l"/>
                      <a:r>
                        <a:rPr sz="1150" b="0">
                          <a:solidFill>
                            <a:srgbClr val="22272E"/>
                          </a:solidFill>
                          <a:latin typeface="Segoe UI"/>
                        </a:rPr>
                        <a:t>DCGM → Prometheus → Grafana</a:t>
                      </a:r>
                    </a:p>
                  </a:txBody>
                  <a:tcPr marL="64008" marR="64008" marT="18288" marB="18288" anchor="ctr">
                    <a:solidFill>
                      <a:srgbClr val="FFFFFF"/>
                    </a:solidFill>
                  </a:tcPr>
                </a:tc>
              </a:tr>
            </a:tbl>
          </a:graphicData>
        </a:graphic>
      </p:graphicFrame>
      <p:sp>
        <p:nvSpPr>
          <p:cNvPr id="7" name="Rounded Rectangle 6"/>
          <p:cNvSpPr/>
          <p:nvPr/>
        </p:nvSpPr>
        <p:spPr>
          <a:xfrm>
            <a:off x="548640" y="4892040"/>
            <a:ext cx="11064240" cy="914400"/>
          </a:xfrm>
          <a:prstGeom prst="roundRect">
            <a:avLst>
              <a:gd name="adj" fmla="val 4000"/>
            </a:avLst>
          </a:prstGeom>
          <a:solidFill>
            <a:srgbClr val="ECF3F3"/>
          </a:solidFill>
          <a:ln w="9525">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5120640"/>
            <a:ext cx="10515600" cy="548640"/>
          </a:xfrm>
          <a:prstGeom prst="rect">
            <a:avLst/>
          </a:prstGeom>
          <a:noFill/>
        </p:spPr>
        <p:txBody>
          <a:bodyPr wrap="square" lIns="0" rIns="0" tIns="0" bIns="0">
            <a:spAutoFit/>
          </a:bodyPr>
          <a:lstStyle/>
          <a:p>
            <a:pPr algn="l">
              <a:lnSpc>
                <a:spcPct val="115000"/>
              </a:lnSpc>
              <a:spcAft>
                <a:spcPts val="600"/>
              </a:spcAft>
            </a:pPr>
            <a:r>
              <a:rPr sz="1250" b="0">
                <a:solidFill>
                  <a:srgbClr val="1F3A5F"/>
                </a:solidFill>
                <a:latin typeface="Segoe UI"/>
              </a:rPr>
              <a:t>Mechanism: Ray workers go pending → Karpenter provisions a p5 → the job runs → nodes consolidate away. GPUs attach to the job, never to a person.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OPTION A — MECHANISM</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How the recommended option works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828800"/>
            <a:ext cx="1984248" cy="1325880"/>
          </a:xfrm>
          <a:prstGeom prst="roundRect">
            <a:avLst>
              <a:gd name="adj" fmla="val 4000"/>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2029968"/>
            <a:ext cx="1709928" cy="274320"/>
          </a:xfrm>
          <a:prstGeom prst="rect">
            <a:avLst/>
          </a:prstGeom>
          <a:noFill/>
        </p:spPr>
        <p:txBody>
          <a:bodyPr wrap="square" lIns="0" rIns="0" tIns="0" bIns="0">
            <a:spAutoFit/>
          </a:bodyPr>
          <a:lstStyle/>
          <a:p>
            <a:pPr algn="ctr">
              <a:lnSpc>
                <a:spcPct val="115000"/>
              </a:lnSpc>
              <a:spcAft>
                <a:spcPts val="600"/>
              </a:spcAft>
            </a:pPr>
            <a:r>
              <a:rPr sz="1400" b="1">
                <a:solidFill>
                  <a:srgbClr val="6B7280"/>
                </a:solidFill>
                <a:latin typeface="Segoe UI"/>
              </a:rPr>
              <a:t>Researcher</a:t>
            </a:r>
          </a:p>
        </p:txBody>
      </p:sp>
      <p:sp>
        <p:nvSpPr>
          <p:cNvPr id="8" name="TextBox 7"/>
          <p:cNvSpPr txBox="1"/>
          <p:nvPr/>
        </p:nvSpPr>
        <p:spPr>
          <a:xfrm>
            <a:off x="658368" y="2450592"/>
            <a:ext cx="1764792" cy="548640"/>
          </a:xfrm>
          <a:prstGeom prst="rect">
            <a:avLst/>
          </a:prstGeom>
          <a:noFill/>
        </p:spPr>
        <p:txBody>
          <a:bodyPr wrap="square" lIns="0" rIns="0" tIns="0" bIns="0">
            <a:spAutoFit/>
          </a:bodyPr>
          <a:lstStyle/>
          <a:p>
            <a:pPr algn="ctr">
              <a:lnSpc>
                <a:spcPct val="115000"/>
              </a:lnSpc>
              <a:spcAft>
                <a:spcPts val="200"/>
              </a:spcAft>
            </a:pPr>
            <a:r>
              <a:rPr sz="1050" b="0">
                <a:solidFill>
                  <a:srgbClr val="22272E"/>
                </a:solidFill>
                <a:latin typeface="Segoe UI"/>
              </a:rPr>
              <a:t>laptop</a:t>
            </a:r>
          </a:p>
          <a:p>
            <a:pPr algn="ctr">
              <a:lnSpc>
                <a:spcPct val="115000"/>
              </a:lnSpc>
              <a:spcAft>
                <a:spcPts val="200"/>
              </a:spcAft>
            </a:pPr>
            <a:r>
              <a:rPr sz="1050" b="0">
                <a:solidFill>
                  <a:srgbClr val="22272E"/>
                </a:solidFill>
                <a:latin typeface="Segoe UI"/>
              </a:rPr>
              <a:t>edit code</a:t>
            </a:r>
          </a:p>
        </p:txBody>
      </p:sp>
      <p:sp>
        <p:nvSpPr>
          <p:cNvPr id="9" name="Right Arrow 8"/>
          <p:cNvSpPr/>
          <p:nvPr/>
        </p:nvSpPr>
        <p:spPr>
          <a:xfrm>
            <a:off x="2587752" y="2377440"/>
            <a:ext cx="192024" cy="219456"/>
          </a:xfrm>
          <a:prstGeom prst="rightArrow">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1828800"/>
            <a:ext cx="1984248" cy="1325880"/>
          </a:xfrm>
          <a:prstGeom prst="roundRect">
            <a:avLst>
              <a:gd name="adj" fmla="val 4000"/>
            </a:avLst>
          </a:prstGeom>
          <a:solidFill>
            <a:srgbClr val="FFFFFF"/>
          </a:solidFill>
          <a:ln w="19050">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971800" y="2029968"/>
            <a:ext cx="1709928" cy="274320"/>
          </a:xfrm>
          <a:prstGeom prst="rect">
            <a:avLst/>
          </a:prstGeom>
          <a:noFill/>
        </p:spPr>
        <p:txBody>
          <a:bodyPr wrap="square" lIns="0" rIns="0" tIns="0" bIns="0">
            <a:spAutoFit/>
          </a:bodyPr>
          <a:lstStyle/>
          <a:p>
            <a:pPr algn="ctr">
              <a:lnSpc>
                <a:spcPct val="115000"/>
              </a:lnSpc>
              <a:spcAft>
                <a:spcPts val="600"/>
              </a:spcAft>
            </a:pPr>
            <a:r>
              <a:rPr sz="1400" b="1">
                <a:solidFill>
                  <a:srgbClr val="2E8B8B"/>
                </a:solidFill>
                <a:latin typeface="Segoe UI"/>
              </a:rPr>
              <a:t>Dev pod</a:t>
            </a:r>
          </a:p>
        </p:txBody>
      </p:sp>
      <p:sp>
        <p:nvSpPr>
          <p:cNvPr id="12" name="TextBox 11"/>
          <p:cNvSpPr txBox="1"/>
          <p:nvPr/>
        </p:nvSpPr>
        <p:spPr>
          <a:xfrm>
            <a:off x="2944368" y="2450592"/>
            <a:ext cx="1764792" cy="548640"/>
          </a:xfrm>
          <a:prstGeom prst="rect">
            <a:avLst/>
          </a:prstGeom>
          <a:noFill/>
        </p:spPr>
        <p:txBody>
          <a:bodyPr wrap="square" lIns="0" rIns="0" tIns="0" bIns="0">
            <a:spAutoFit/>
          </a:bodyPr>
          <a:lstStyle/>
          <a:p>
            <a:pPr algn="ctr">
              <a:lnSpc>
                <a:spcPct val="115000"/>
              </a:lnSpc>
              <a:spcAft>
                <a:spcPts val="200"/>
              </a:spcAft>
            </a:pPr>
            <a:r>
              <a:rPr sz="1050" b="0">
                <a:solidFill>
                  <a:srgbClr val="22272E"/>
                </a:solidFill>
                <a:latin typeface="Segoe UI"/>
              </a:rPr>
              <a:t>CPU only</a:t>
            </a:r>
          </a:p>
          <a:p>
            <a:pPr algn="ctr">
              <a:lnSpc>
                <a:spcPct val="115000"/>
              </a:lnSpc>
              <a:spcAft>
                <a:spcPts val="200"/>
              </a:spcAft>
            </a:pPr>
            <a:r>
              <a:rPr sz="1050" b="0">
                <a:solidFill>
                  <a:srgbClr val="22272E"/>
                </a:solidFill>
                <a:latin typeface="Segoe UI"/>
              </a:rPr>
              <a:t>cheap, always on</a:t>
            </a:r>
          </a:p>
        </p:txBody>
      </p:sp>
      <p:sp>
        <p:nvSpPr>
          <p:cNvPr id="13" name="Right Arrow 12"/>
          <p:cNvSpPr/>
          <p:nvPr/>
        </p:nvSpPr>
        <p:spPr>
          <a:xfrm>
            <a:off x="4873752" y="2377440"/>
            <a:ext cx="192024" cy="219456"/>
          </a:xfrm>
          <a:prstGeom prst="rightArrow">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828800"/>
            <a:ext cx="1984248" cy="1325880"/>
          </a:xfrm>
          <a:prstGeom prst="roundRect">
            <a:avLst>
              <a:gd name="adj" fmla="val 4000"/>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57800" y="2029968"/>
            <a:ext cx="1709928" cy="274320"/>
          </a:xfrm>
          <a:prstGeom prst="rect">
            <a:avLst/>
          </a:prstGeom>
          <a:noFill/>
        </p:spPr>
        <p:txBody>
          <a:bodyPr wrap="square" lIns="0" rIns="0" tIns="0" bIns="0">
            <a:spAutoFit/>
          </a:bodyPr>
          <a:lstStyle/>
          <a:p>
            <a:pPr algn="ctr">
              <a:lnSpc>
                <a:spcPct val="115000"/>
              </a:lnSpc>
              <a:spcAft>
                <a:spcPts val="600"/>
              </a:spcAft>
            </a:pPr>
            <a:r>
              <a:rPr sz="1400" b="1">
                <a:solidFill>
                  <a:srgbClr val="1F3A5F"/>
                </a:solidFill>
                <a:latin typeface="Segoe UI"/>
              </a:rPr>
              <a:t>Ray</a:t>
            </a:r>
          </a:p>
        </p:txBody>
      </p:sp>
      <p:sp>
        <p:nvSpPr>
          <p:cNvPr id="16" name="TextBox 15"/>
          <p:cNvSpPr txBox="1"/>
          <p:nvPr/>
        </p:nvSpPr>
        <p:spPr>
          <a:xfrm>
            <a:off x="5230368" y="2450592"/>
            <a:ext cx="1764792" cy="548640"/>
          </a:xfrm>
          <a:prstGeom prst="rect">
            <a:avLst/>
          </a:prstGeom>
          <a:noFill/>
        </p:spPr>
        <p:txBody>
          <a:bodyPr wrap="square" lIns="0" rIns="0" tIns="0" bIns="0">
            <a:spAutoFit/>
          </a:bodyPr>
          <a:lstStyle/>
          <a:p>
            <a:pPr algn="ctr">
              <a:lnSpc>
                <a:spcPct val="115000"/>
              </a:lnSpc>
              <a:spcAft>
                <a:spcPts val="200"/>
              </a:spcAft>
            </a:pPr>
            <a:r>
              <a:rPr sz="1050" b="0">
                <a:solidFill>
                  <a:srgbClr val="22272E"/>
                </a:solidFill>
                <a:latin typeface="Segoe UI"/>
              </a:rPr>
              <a:t>schedules the job</a:t>
            </a:r>
          </a:p>
          <a:p>
            <a:pPr algn="ctr">
              <a:lnSpc>
                <a:spcPct val="115000"/>
              </a:lnSpc>
              <a:spcAft>
                <a:spcPts val="200"/>
              </a:spcAft>
            </a:pPr>
            <a:r>
              <a:rPr sz="1050" b="0">
                <a:solidFill>
                  <a:srgbClr val="22272E"/>
                </a:solidFill>
                <a:latin typeface="Segoe UI"/>
              </a:rPr>
              <a:t>across GPUs</a:t>
            </a:r>
          </a:p>
        </p:txBody>
      </p:sp>
      <p:sp>
        <p:nvSpPr>
          <p:cNvPr id="17" name="Right Arrow 16"/>
          <p:cNvSpPr/>
          <p:nvPr/>
        </p:nvSpPr>
        <p:spPr>
          <a:xfrm>
            <a:off x="7159752" y="2377440"/>
            <a:ext cx="192024" cy="219456"/>
          </a:xfrm>
          <a:prstGeom prst="rightArrow">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06640" y="1828800"/>
            <a:ext cx="1984248" cy="1325880"/>
          </a:xfrm>
          <a:prstGeom prst="roundRect">
            <a:avLst>
              <a:gd name="adj" fmla="val 4000"/>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43800" y="2029968"/>
            <a:ext cx="1709928" cy="274320"/>
          </a:xfrm>
          <a:prstGeom prst="rect">
            <a:avLst/>
          </a:prstGeom>
          <a:noFill/>
        </p:spPr>
        <p:txBody>
          <a:bodyPr wrap="square" lIns="0" rIns="0" tIns="0" bIns="0">
            <a:spAutoFit/>
          </a:bodyPr>
          <a:lstStyle/>
          <a:p>
            <a:pPr algn="ctr">
              <a:lnSpc>
                <a:spcPct val="115000"/>
              </a:lnSpc>
              <a:spcAft>
                <a:spcPts val="600"/>
              </a:spcAft>
            </a:pPr>
            <a:r>
              <a:rPr sz="1400" b="1">
                <a:solidFill>
                  <a:srgbClr val="1F3A5F"/>
                </a:solidFill>
                <a:latin typeface="Segoe UI"/>
              </a:rPr>
              <a:t>Karpenter</a:t>
            </a:r>
          </a:p>
        </p:txBody>
      </p:sp>
      <p:sp>
        <p:nvSpPr>
          <p:cNvPr id="20" name="TextBox 19"/>
          <p:cNvSpPr txBox="1"/>
          <p:nvPr/>
        </p:nvSpPr>
        <p:spPr>
          <a:xfrm>
            <a:off x="7516368" y="2450592"/>
            <a:ext cx="1764792" cy="548640"/>
          </a:xfrm>
          <a:prstGeom prst="rect">
            <a:avLst/>
          </a:prstGeom>
          <a:noFill/>
        </p:spPr>
        <p:txBody>
          <a:bodyPr wrap="square" lIns="0" rIns="0" tIns="0" bIns="0">
            <a:spAutoFit/>
          </a:bodyPr>
          <a:lstStyle/>
          <a:p>
            <a:pPr algn="ctr">
              <a:lnSpc>
                <a:spcPct val="115000"/>
              </a:lnSpc>
              <a:spcAft>
                <a:spcPts val="200"/>
              </a:spcAft>
            </a:pPr>
            <a:r>
              <a:rPr sz="1050" b="0">
                <a:solidFill>
                  <a:srgbClr val="22272E"/>
                </a:solidFill>
                <a:latin typeface="Segoe UI"/>
              </a:rPr>
              <a:t>buys a GPU server</a:t>
            </a:r>
          </a:p>
          <a:p>
            <a:pPr algn="ctr">
              <a:lnSpc>
                <a:spcPct val="115000"/>
              </a:lnSpc>
              <a:spcAft>
                <a:spcPts val="200"/>
              </a:spcAft>
            </a:pPr>
            <a:r>
              <a:rPr sz="1050" b="0">
                <a:solidFill>
                  <a:srgbClr val="22272E"/>
                </a:solidFill>
                <a:latin typeface="Segoe UI"/>
              </a:rPr>
              <a:t>when work is pending</a:t>
            </a:r>
          </a:p>
        </p:txBody>
      </p:sp>
      <p:sp>
        <p:nvSpPr>
          <p:cNvPr id="21" name="Right Arrow 20"/>
          <p:cNvSpPr/>
          <p:nvPr/>
        </p:nvSpPr>
        <p:spPr>
          <a:xfrm>
            <a:off x="9445752" y="2377440"/>
            <a:ext cx="192024" cy="219456"/>
          </a:xfrm>
          <a:prstGeom prst="rightArrow">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92640" y="1828800"/>
            <a:ext cx="1984248" cy="1325880"/>
          </a:xfrm>
          <a:prstGeom prst="roundRect">
            <a:avLst>
              <a:gd name="adj" fmla="val 4000"/>
            </a:avLst>
          </a:prstGeom>
          <a:solidFill>
            <a:srgbClr val="FFFFFF"/>
          </a:solidFill>
          <a:ln w="19050">
            <a:solidFill>
              <a:srgbClr val="2E7D5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829800" y="2029968"/>
            <a:ext cx="1709928" cy="274320"/>
          </a:xfrm>
          <a:prstGeom prst="rect">
            <a:avLst/>
          </a:prstGeom>
          <a:noFill/>
        </p:spPr>
        <p:txBody>
          <a:bodyPr wrap="square" lIns="0" rIns="0" tIns="0" bIns="0">
            <a:spAutoFit/>
          </a:bodyPr>
          <a:lstStyle/>
          <a:p>
            <a:pPr algn="ctr">
              <a:lnSpc>
                <a:spcPct val="115000"/>
              </a:lnSpc>
              <a:spcAft>
                <a:spcPts val="600"/>
              </a:spcAft>
            </a:pPr>
            <a:r>
              <a:rPr sz="1400" b="1">
                <a:solidFill>
                  <a:srgbClr val="2E7D54"/>
                </a:solidFill>
                <a:latin typeface="Segoe UI"/>
              </a:rPr>
              <a:t>p5 servers</a:t>
            </a:r>
          </a:p>
        </p:txBody>
      </p:sp>
      <p:sp>
        <p:nvSpPr>
          <p:cNvPr id="24" name="TextBox 23"/>
          <p:cNvSpPr txBox="1"/>
          <p:nvPr/>
        </p:nvSpPr>
        <p:spPr>
          <a:xfrm>
            <a:off x="9802368" y="2450592"/>
            <a:ext cx="1764792" cy="548640"/>
          </a:xfrm>
          <a:prstGeom prst="rect">
            <a:avLst/>
          </a:prstGeom>
          <a:noFill/>
        </p:spPr>
        <p:txBody>
          <a:bodyPr wrap="square" lIns="0" rIns="0" tIns="0" bIns="0">
            <a:spAutoFit/>
          </a:bodyPr>
          <a:lstStyle/>
          <a:p>
            <a:pPr algn="ctr">
              <a:lnSpc>
                <a:spcPct val="115000"/>
              </a:lnSpc>
              <a:spcAft>
                <a:spcPts val="200"/>
              </a:spcAft>
            </a:pPr>
            <a:r>
              <a:rPr sz="1050" b="0">
                <a:solidFill>
                  <a:srgbClr val="22272E"/>
                </a:solidFill>
                <a:latin typeface="Segoe UI"/>
              </a:rPr>
              <a:t>3 nodes, 8 × H100 each</a:t>
            </a:r>
          </a:p>
          <a:p>
            <a:pPr algn="ctr">
              <a:lnSpc>
                <a:spcPct val="115000"/>
              </a:lnSpc>
              <a:spcAft>
                <a:spcPts val="200"/>
              </a:spcAft>
            </a:pPr>
            <a:r>
              <a:rPr sz="1050" b="0">
                <a:solidFill>
                  <a:srgbClr val="22272E"/>
                </a:solidFill>
                <a:latin typeface="Segoe UI"/>
              </a:rPr>
              <a:t>24 GPUs, linked by EFA</a:t>
            </a:r>
          </a:p>
        </p:txBody>
      </p:sp>
      <p:sp>
        <p:nvSpPr>
          <p:cNvPr id="25" name="TextBox 24"/>
          <p:cNvSpPr txBox="1"/>
          <p:nvPr/>
        </p:nvSpPr>
        <p:spPr>
          <a:xfrm>
            <a:off x="2377440" y="3246120"/>
            <a:ext cx="2807208" cy="274320"/>
          </a:xfrm>
          <a:prstGeom prst="rect">
            <a:avLst/>
          </a:prstGeom>
          <a:noFill/>
        </p:spPr>
        <p:txBody>
          <a:bodyPr wrap="square" lIns="0" rIns="0" tIns="0" bIns="0">
            <a:spAutoFit/>
          </a:bodyPr>
          <a:lstStyle/>
          <a:p>
            <a:pPr algn="ctr">
              <a:lnSpc>
                <a:spcPct val="115000"/>
              </a:lnSpc>
              <a:spcAft>
                <a:spcPts val="600"/>
              </a:spcAft>
            </a:pPr>
            <a:r>
              <a:rPr sz="950" b="0">
                <a:solidFill>
                  <a:srgbClr val="6B7280"/>
                </a:solidFill>
                <a:latin typeface="Segoe UI"/>
              </a:rPr>
              <a:t>↑ ray job submit</a:t>
            </a:r>
          </a:p>
        </p:txBody>
      </p:sp>
      <p:sp>
        <p:nvSpPr>
          <p:cNvPr id="26" name="TextBox 25"/>
          <p:cNvSpPr txBox="1"/>
          <p:nvPr/>
        </p:nvSpPr>
        <p:spPr>
          <a:xfrm>
            <a:off x="4663440" y="3246120"/>
            <a:ext cx="2807208" cy="274320"/>
          </a:xfrm>
          <a:prstGeom prst="rect">
            <a:avLst/>
          </a:prstGeom>
          <a:noFill/>
        </p:spPr>
        <p:txBody>
          <a:bodyPr wrap="square" lIns="0" rIns="0" tIns="0" bIns="0">
            <a:spAutoFit/>
          </a:bodyPr>
          <a:lstStyle/>
          <a:p>
            <a:pPr algn="ctr">
              <a:lnSpc>
                <a:spcPct val="115000"/>
              </a:lnSpc>
              <a:spcAft>
                <a:spcPts val="600"/>
              </a:spcAft>
            </a:pPr>
            <a:r>
              <a:rPr sz="950" b="0">
                <a:solidFill>
                  <a:srgbClr val="6B7280"/>
                </a:solidFill>
                <a:latin typeface="Segoe UI"/>
              </a:rPr>
              <a:t>↑ workers pending</a:t>
            </a:r>
          </a:p>
        </p:txBody>
      </p:sp>
      <p:sp>
        <p:nvSpPr>
          <p:cNvPr id="27" name="TextBox 26"/>
          <p:cNvSpPr txBox="1"/>
          <p:nvPr/>
        </p:nvSpPr>
        <p:spPr>
          <a:xfrm>
            <a:off x="6949440" y="3246120"/>
            <a:ext cx="2807208" cy="274320"/>
          </a:xfrm>
          <a:prstGeom prst="rect">
            <a:avLst/>
          </a:prstGeom>
          <a:noFill/>
        </p:spPr>
        <p:txBody>
          <a:bodyPr wrap="square" lIns="0" rIns="0" tIns="0" bIns="0">
            <a:spAutoFit/>
          </a:bodyPr>
          <a:lstStyle/>
          <a:p>
            <a:pPr algn="ctr">
              <a:lnSpc>
                <a:spcPct val="115000"/>
              </a:lnSpc>
              <a:spcAft>
                <a:spcPts val="600"/>
              </a:spcAft>
            </a:pPr>
            <a:r>
              <a:rPr sz="950" b="0">
                <a:solidFill>
                  <a:srgbClr val="6B7280"/>
                </a:solidFill>
                <a:latin typeface="Segoe UI"/>
              </a:rPr>
              <a:t>↑ node joins in ~60s</a:t>
            </a:r>
          </a:p>
        </p:txBody>
      </p:sp>
      <p:sp>
        <p:nvSpPr>
          <p:cNvPr id="28" name="Rounded Rectangle 27"/>
          <p:cNvSpPr/>
          <p:nvPr/>
        </p:nvSpPr>
        <p:spPr>
          <a:xfrm>
            <a:off x="548640" y="3931920"/>
            <a:ext cx="11064240" cy="685800"/>
          </a:xfrm>
          <a:prstGeom prst="roundRect">
            <a:avLst>
              <a:gd name="adj" fmla="val 4000"/>
            </a:avLst>
          </a:prstGeom>
          <a:solidFill>
            <a:srgbClr val="ECF3F3"/>
          </a:solidFill>
          <a:ln w="9525">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68680" y="4133087"/>
            <a:ext cx="10515600" cy="320040"/>
          </a:xfrm>
          <a:prstGeom prst="rect">
            <a:avLst/>
          </a:prstGeom>
          <a:noFill/>
        </p:spPr>
        <p:txBody>
          <a:bodyPr wrap="square" lIns="0" rIns="0" tIns="0" bIns="0">
            <a:spAutoFit/>
          </a:bodyPr>
          <a:lstStyle/>
          <a:p>
            <a:pPr algn="l">
              <a:lnSpc>
                <a:spcPct val="115000"/>
              </a:lnSpc>
              <a:spcAft>
                <a:spcPts val="600"/>
              </a:spcAft>
            </a:pPr>
            <a:r>
              <a:rPr sz="1200" b="0">
                <a:solidFill>
                  <a:srgbClr val="1F3A5F"/>
                </a:solidFill>
                <a:latin typeface="Segoe UI"/>
              </a:rPr>
              <a:t>Data:   Alpharetta  →  DataSync  →  S3 (system of record)  →  FSx for Lustre, only if jobs read each other's files</a:t>
            </a:r>
          </a:p>
        </p:txBody>
      </p:sp>
      <p:sp>
        <p:nvSpPr>
          <p:cNvPr id="30" name="TextBox 29"/>
          <p:cNvSpPr txBox="1"/>
          <p:nvPr/>
        </p:nvSpPr>
        <p:spPr>
          <a:xfrm>
            <a:off x="548640" y="4892040"/>
            <a:ext cx="5394960" cy="274320"/>
          </a:xfrm>
          <a:prstGeom prst="rect">
            <a:avLst/>
          </a:prstGeom>
          <a:noFill/>
        </p:spPr>
        <p:txBody>
          <a:bodyPr wrap="square" lIns="0" rIns="0" tIns="0" bIns="0">
            <a:spAutoFit/>
          </a:bodyPr>
          <a:lstStyle/>
          <a:p>
            <a:pPr algn="l">
              <a:lnSpc>
                <a:spcPct val="115000"/>
              </a:lnSpc>
              <a:spcAft>
                <a:spcPts val="600"/>
              </a:spcAft>
            </a:pPr>
            <a:r>
              <a:rPr sz="1250" b="1">
                <a:solidFill>
                  <a:srgbClr val="2E7D54"/>
                </a:solidFill>
                <a:latin typeface="Segoe UI"/>
              </a:rPr>
              <a:t>GPUs attach to the job, not the person</a:t>
            </a:r>
          </a:p>
        </p:txBody>
      </p:sp>
      <p:sp>
        <p:nvSpPr>
          <p:cNvPr id="31" name="TextBox 30"/>
          <p:cNvSpPr txBox="1"/>
          <p:nvPr/>
        </p:nvSpPr>
        <p:spPr>
          <a:xfrm>
            <a:off x="548640" y="5230368"/>
            <a:ext cx="5394960" cy="73152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The researcher never holds a GPU while editing — which is exactly what caps on-prem at 60–70%.</a:t>
            </a:r>
          </a:p>
        </p:txBody>
      </p:sp>
      <p:sp>
        <p:nvSpPr>
          <p:cNvPr id="32" name="TextBox 31"/>
          <p:cNvSpPr txBox="1"/>
          <p:nvPr/>
        </p:nvSpPr>
        <p:spPr>
          <a:xfrm>
            <a:off x="6263640" y="4892040"/>
            <a:ext cx="5394960" cy="274320"/>
          </a:xfrm>
          <a:prstGeom prst="rect">
            <a:avLst/>
          </a:prstGeom>
          <a:noFill/>
        </p:spPr>
        <p:txBody>
          <a:bodyPr wrap="square" lIns="0" rIns="0" tIns="0" bIns="0">
            <a:spAutoFit/>
          </a:bodyPr>
          <a:lstStyle/>
          <a:p>
            <a:pPr algn="l">
              <a:lnSpc>
                <a:spcPct val="115000"/>
              </a:lnSpc>
              <a:spcAft>
                <a:spcPts val="600"/>
              </a:spcAft>
            </a:pPr>
            <a:r>
              <a:rPr sz="1250" b="1">
                <a:solidFill>
                  <a:srgbClr val="2E7D54"/>
                </a:solidFill>
                <a:latin typeface="Segoe UI"/>
              </a:rPr>
              <a:t>Idle means zero</a:t>
            </a:r>
          </a:p>
        </p:txBody>
      </p:sp>
      <p:sp>
        <p:nvSpPr>
          <p:cNvPr id="33" name="TextBox 32"/>
          <p:cNvSpPr txBox="1"/>
          <p:nvPr/>
        </p:nvSpPr>
        <p:spPr>
          <a:xfrm>
            <a:off x="6263640" y="5230368"/>
            <a:ext cx="5394960" cy="73152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When the board empties, Karpenter consolidates the nodes away. Nothing sits warm at $30.5k per server per month.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OPTION A — RECOMMENDED</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EKS + Karpenter + Ray — strengths and costs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508760"/>
            <a:ext cx="5440680" cy="448056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09928"/>
            <a:ext cx="4983480" cy="274320"/>
          </a:xfrm>
          <a:prstGeom prst="rect">
            <a:avLst/>
          </a:prstGeom>
          <a:noFill/>
        </p:spPr>
        <p:txBody>
          <a:bodyPr wrap="square" lIns="0" rIns="0" tIns="0" bIns="0">
            <a:spAutoFit/>
          </a:bodyPr>
          <a:lstStyle/>
          <a:p>
            <a:pPr algn="l">
              <a:lnSpc>
                <a:spcPct val="115000"/>
              </a:lnSpc>
              <a:spcAft>
                <a:spcPts val="600"/>
              </a:spcAft>
            </a:pPr>
            <a:r>
              <a:rPr sz="1100" b="1">
                <a:solidFill>
                  <a:srgbClr val="2E7D54"/>
                </a:solidFill>
                <a:latin typeface="Segoe UI"/>
              </a:rPr>
              <a:t>STRENGTHS</a:t>
            </a:r>
          </a:p>
        </p:txBody>
      </p:sp>
      <p:sp>
        <p:nvSpPr>
          <p:cNvPr id="8" name="TextBox 7"/>
          <p:cNvSpPr txBox="1"/>
          <p:nvPr/>
        </p:nvSpPr>
        <p:spPr>
          <a:xfrm>
            <a:off x="777240" y="2075688"/>
            <a:ext cx="4983480" cy="3657600"/>
          </a:xfrm>
          <a:prstGeom prst="rect">
            <a:avLst/>
          </a:prstGeom>
          <a:noFill/>
        </p:spPr>
        <p:txBody>
          <a:bodyPr wrap="square" lIns="0" rIns="0" tIns="0" bIns="0">
            <a:spAutoFit/>
          </a:bodyPr>
          <a:lstStyle/>
          <a:p>
            <a:pPr algn="l">
              <a:lnSpc>
                <a:spcPct val="112000"/>
              </a:lnSpc>
              <a:spcAft>
                <a:spcPts val="900"/>
              </a:spcAft>
            </a:pPr>
            <a:r>
              <a:rPr sz="1150" b="0">
                <a:solidFill>
                  <a:srgbClr val="22272E"/>
                </a:solidFill>
                <a:latin typeface="Segoe UI"/>
              </a:rPr>
              <a:t>•  Only option preserving a seconds-long iteration loop</a:t>
            </a:r>
          </a:p>
          <a:p>
            <a:pPr algn="l">
              <a:lnSpc>
                <a:spcPct val="112000"/>
              </a:lnSpc>
              <a:spcAft>
                <a:spcPts val="900"/>
              </a:spcAft>
            </a:pPr>
            <a:r>
              <a:rPr sz="1150" b="0">
                <a:solidFill>
                  <a:srgbClr val="22272E"/>
                </a:solidFill>
                <a:latin typeface="Segoe UI"/>
              </a:rPr>
              <a:t>•  Satisfies the EKS / Ray / Argo stack as named at kickoff</a:t>
            </a:r>
          </a:p>
          <a:p>
            <a:pPr algn="l">
              <a:lnSpc>
                <a:spcPct val="112000"/>
              </a:lnSpc>
              <a:spcAft>
                <a:spcPts val="900"/>
              </a:spcAft>
            </a:pPr>
            <a:r>
              <a:rPr sz="1150" b="0">
                <a:solidFill>
                  <a:srgbClr val="22272E"/>
                </a:solidFill>
                <a:latin typeface="Segoe UI"/>
              </a:rPr>
              <a:t>•  D8 is structural — the burst layer IS the compute substrate, built week 3</a:t>
            </a:r>
          </a:p>
          <a:p>
            <a:pPr algn="l">
              <a:lnSpc>
                <a:spcPct val="112000"/>
              </a:lnSpc>
              <a:spcAft>
                <a:spcPts val="900"/>
              </a:spcAft>
            </a:pPr>
            <a:r>
              <a:rPr sz="1150" b="0">
                <a:solidFill>
                  <a:srgbClr val="22272E"/>
                </a:solidFill>
                <a:latin typeface="Segoe UI"/>
              </a:rPr>
              <a:t>•  Tri-environment parity: same image on Mac, AWS and on-prem</a:t>
            </a:r>
          </a:p>
          <a:p>
            <a:pPr algn="l">
              <a:lnSpc>
                <a:spcPct val="112000"/>
              </a:lnSpc>
              <a:spcAft>
                <a:spcPts val="900"/>
              </a:spcAft>
            </a:pPr>
            <a:r>
              <a:rPr sz="1150" b="0">
                <a:solidFill>
                  <a:srgbClr val="22272E"/>
                </a:solidFill>
                <a:latin typeface="Segoe UI"/>
              </a:rPr>
              <a:t>•  Ray Data brings pipelined shuffle (Exoshuffle) for free</a:t>
            </a:r>
          </a:p>
          <a:p>
            <a:pPr algn="l">
              <a:lnSpc>
                <a:spcPct val="112000"/>
              </a:lnSpc>
              <a:spcAft>
                <a:spcPts val="900"/>
              </a:spcAft>
            </a:pPr>
            <a:r>
              <a:rPr sz="1150" b="0">
                <a:solidFill>
                  <a:srgbClr val="22272E"/>
                </a:solidFill>
                <a:latin typeface="Segoe UI"/>
              </a:rPr>
              <a:t>•  Spot-eligible for interruption-tolerant work</a:t>
            </a:r>
          </a:p>
          <a:p>
            <a:pPr algn="l">
              <a:lnSpc>
                <a:spcPct val="112000"/>
              </a:lnSpc>
              <a:spcAft>
                <a:spcPts val="900"/>
              </a:spcAft>
            </a:pPr>
            <a:r>
              <a:rPr sz="1150" b="0">
                <a:solidFill>
                  <a:srgbClr val="22272E"/>
                </a:solidFill>
                <a:latin typeface="Segoe UI"/>
              </a:rPr>
              <a:t>•  kubectl from a laptop is an established GE pattern (C. Burke)</a:t>
            </a:r>
          </a:p>
        </p:txBody>
      </p:sp>
      <p:sp>
        <p:nvSpPr>
          <p:cNvPr id="9" name="Rounded Rectangle 8"/>
          <p:cNvSpPr/>
          <p:nvPr/>
        </p:nvSpPr>
        <p:spPr>
          <a:xfrm>
            <a:off x="6355080" y="1508760"/>
            <a:ext cx="5440680" cy="448056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0" y="1709928"/>
            <a:ext cx="4983480" cy="274320"/>
          </a:xfrm>
          <a:prstGeom prst="rect">
            <a:avLst/>
          </a:prstGeom>
          <a:noFill/>
        </p:spPr>
        <p:txBody>
          <a:bodyPr wrap="square" lIns="0" rIns="0" tIns="0" bIns="0">
            <a:spAutoFit/>
          </a:bodyPr>
          <a:lstStyle/>
          <a:p>
            <a:pPr algn="l">
              <a:lnSpc>
                <a:spcPct val="115000"/>
              </a:lnSpc>
              <a:spcAft>
                <a:spcPts val="600"/>
              </a:spcAft>
            </a:pPr>
            <a:r>
              <a:rPr sz="1100" b="1">
                <a:solidFill>
                  <a:srgbClr val="A4343A"/>
                </a:solidFill>
                <a:latin typeface="Segoe UI"/>
              </a:rPr>
              <a:t>COSTS &amp; LIMITATIONS</a:t>
            </a:r>
          </a:p>
        </p:txBody>
      </p:sp>
      <p:sp>
        <p:nvSpPr>
          <p:cNvPr id="11" name="TextBox 10"/>
          <p:cNvSpPr txBox="1"/>
          <p:nvPr/>
        </p:nvSpPr>
        <p:spPr>
          <a:xfrm>
            <a:off x="6583680" y="2075688"/>
            <a:ext cx="4983480" cy="3657600"/>
          </a:xfrm>
          <a:prstGeom prst="rect">
            <a:avLst/>
          </a:prstGeom>
          <a:noFill/>
        </p:spPr>
        <p:txBody>
          <a:bodyPr wrap="square" lIns="0" rIns="0" tIns="0" bIns="0">
            <a:spAutoFit/>
          </a:bodyPr>
          <a:lstStyle/>
          <a:p>
            <a:pPr algn="l">
              <a:lnSpc>
                <a:spcPct val="112000"/>
              </a:lnSpc>
              <a:spcAft>
                <a:spcPts val="900"/>
              </a:spcAft>
            </a:pPr>
            <a:r>
              <a:rPr sz="1150" b="0">
                <a:solidFill>
                  <a:srgbClr val="22272E"/>
                </a:solidFill>
                <a:latin typeface="Segoe UI"/>
              </a:rPr>
              <a:t>•  Largest operational surface — Karpenter and Ray are ours to tune</a:t>
            </a:r>
          </a:p>
          <a:p>
            <a:pPr algn="l">
              <a:lnSpc>
                <a:spcPct val="112000"/>
              </a:lnSpc>
              <a:spcAft>
                <a:spcPts val="900"/>
              </a:spcAft>
            </a:pPr>
            <a:r>
              <a:rPr sz="1150" b="0">
                <a:solidFill>
                  <a:srgbClr val="22272E"/>
                </a:solidFill>
                <a:latin typeface="Segoe UI"/>
              </a:rPr>
              <a:t>•  Heaviest GWD review artifact of the three</a:t>
            </a:r>
          </a:p>
          <a:p>
            <a:pPr algn="l">
              <a:lnSpc>
                <a:spcPct val="112000"/>
              </a:lnSpc>
              <a:spcAft>
                <a:spcPts val="900"/>
              </a:spcAft>
            </a:pPr>
            <a:r>
              <a:rPr sz="1150" b="0">
                <a:solidFill>
                  <a:srgbClr val="22272E"/>
                </a:solidFill>
                <a:latin typeface="Segoe UI"/>
              </a:rPr>
              <a:t>•  An unschedulable pod is harder for a researcher to self-diagnose</a:t>
            </a:r>
          </a:p>
          <a:p>
            <a:pPr algn="l">
              <a:lnSpc>
                <a:spcPct val="112000"/>
              </a:lnSpc>
              <a:spcAft>
                <a:spcPts val="900"/>
              </a:spcAft>
            </a:pPr>
            <a:r>
              <a:rPr sz="1150" b="0">
                <a:solidFill>
                  <a:srgbClr val="22272E"/>
                </a:solidFill>
                <a:latin typeface="Segoe UI"/>
              </a:rPr>
              <a:t>•  Needs Kubernetes fluency across a 1.0 + 0.5 + 0.5 FTE team</a:t>
            </a:r>
          </a:p>
          <a:p>
            <a:pPr algn="l">
              <a:lnSpc>
                <a:spcPct val="112000"/>
              </a:lnSpc>
              <a:spcAft>
                <a:spcPts val="900"/>
              </a:spcAft>
            </a:pPr>
            <a:r>
              <a:rPr sz="1150" b="0">
                <a:solidFill>
                  <a:srgbClr val="22272E"/>
                </a:solidFill>
                <a:latin typeface="Segoe UI"/>
              </a:rPr>
              <a:t>•  Phase 2 multi-tenancy must be hand-built (namespaces, quotas)</a:t>
            </a:r>
          </a:p>
          <a:p>
            <a:pPr algn="l">
              <a:lnSpc>
                <a:spcPct val="112000"/>
              </a:lnSpc>
              <a:spcAft>
                <a:spcPts val="900"/>
              </a:spcAft>
            </a:pPr>
            <a:r>
              <a:rPr sz="1150" b="0">
                <a:solidFill>
                  <a:srgbClr val="22272E"/>
                </a:solidFill>
                <a:latin typeface="Segoe UI"/>
              </a:rPr>
              <a:t>•  Scope question: SOW says 'static servers', excludes scheduling software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OPTION B — ALTERNATIVE</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AWS Batch</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graphicFrame>
        <p:nvGraphicFramePr>
          <p:cNvPr id="6" name="Table 5"/>
          <p:cNvGraphicFramePr>
            <a:graphicFrameLocks noGrp="1"/>
          </p:cNvGraphicFramePr>
          <p:nvPr/>
        </p:nvGraphicFramePr>
        <p:xfrm>
          <a:off x="548640" y="1463040"/>
          <a:ext cx="11064240" cy="3072384"/>
        </p:xfrm>
        <a:graphic>
          <a:graphicData uri="http://schemas.openxmlformats.org/drawingml/2006/table">
            <a:tbl>
              <a:tblPr firstRow="1" bandRow="1">
                <a:tableStyleId>{5C22544A-7EE6-4342-B048-85BDC9FD1C3A}</a:tableStyleId>
              </a:tblPr>
              <a:tblGrid>
                <a:gridCol w="1828800"/>
                <a:gridCol w="9235440"/>
              </a:tblGrid>
              <a:tr h="384048">
                <a:tc>
                  <a:txBody>
                    <a:bodyPr wrap="square"/>
                    <a:lstStyle/>
                    <a:p>
                      <a:pPr algn="l"/>
                      <a:r>
                        <a:rPr sz="1000" b="1">
                          <a:solidFill>
                            <a:srgbClr val="FFFFFF"/>
                          </a:solidFill>
                          <a:latin typeface="Segoe UI"/>
                        </a:rPr>
                        <a:t>Layer</a:t>
                      </a:r>
                    </a:p>
                  </a:txBody>
                  <a:tcPr marL="64008" marR="64008" marT="18288" marB="18288" anchor="ctr">
                    <a:solidFill>
                      <a:srgbClr val="1F3A5F"/>
                    </a:solidFill>
                  </a:tcPr>
                </a:tc>
                <a:tc>
                  <a:txBody>
                    <a:bodyPr wrap="square"/>
                    <a:lstStyle/>
                    <a:p>
                      <a:pPr algn="l"/>
                      <a:r>
                        <a:rPr sz="1000" b="1">
                          <a:solidFill>
                            <a:srgbClr val="FFFFFF"/>
                          </a:solidFill>
                          <a:latin typeface="Segoe UI"/>
                        </a:rPr>
                        <a:t>Choice</a:t>
                      </a:r>
                    </a:p>
                  </a:txBody>
                  <a:tcPr marL="64008" marR="64008" marT="18288" marB="18288" anchor="ctr">
                    <a:solidFill>
                      <a:srgbClr val="1F3A5F"/>
                    </a:solidFill>
                  </a:tcPr>
                </a:tc>
              </a:tr>
              <a:tr h="384048">
                <a:tc>
                  <a:txBody>
                    <a:bodyPr wrap="square"/>
                    <a:lstStyle/>
                    <a:p>
                      <a:pPr algn="l"/>
                      <a:r>
                        <a:rPr sz="1150" b="0">
                          <a:solidFill>
                            <a:srgbClr val="22272E"/>
                          </a:solidFill>
                          <a:latin typeface="Segoe UI"/>
                        </a:rPr>
                        <a:t>Compute</a:t>
                      </a:r>
                    </a:p>
                  </a:txBody>
                  <a:tcPr marL="64008" marR="64008" marT="18288" marB="18288" anchor="ctr">
                    <a:solidFill>
                      <a:srgbClr val="FFFFFF"/>
                    </a:solidFill>
                  </a:tcPr>
                </a:tc>
                <a:tc>
                  <a:txBody>
                    <a:bodyPr wrap="square"/>
                    <a:lstStyle/>
                    <a:p>
                      <a:pPr algn="l"/>
                      <a:r>
                        <a:rPr sz="1150" b="0">
                          <a:solidFill>
                            <a:srgbClr val="22272E"/>
                          </a:solidFill>
                          <a:latin typeface="Segoe UI"/>
                        </a:rPr>
                        <a:t>EKS cluster + Batch managed compute environment</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Capacity</a:t>
                      </a:r>
                    </a:p>
                  </a:txBody>
                  <a:tcPr marL="64008" marR="64008" marT="18288" marB="18288" anchor="ctr">
                    <a:solidFill>
                      <a:srgbClr val="F4F6F8"/>
                    </a:solidFill>
                  </a:tcPr>
                </a:tc>
                <a:tc>
                  <a:txBody>
                    <a:bodyPr wrap="square"/>
                    <a:lstStyle/>
                    <a:p>
                      <a:pPr algn="l"/>
                      <a:r>
                        <a:rPr sz="1150" b="0">
                          <a:solidFill>
                            <a:srgbClr val="22272E"/>
                          </a:solidFill>
                          <a:latin typeface="Segoe UI"/>
                        </a:rPr>
                        <a:t>3 × p5.48xlarge via launch template; ODCR targeting</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Jobs</a:t>
                      </a:r>
                    </a:p>
                  </a:txBody>
                  <a:tcPr marL="64008" marR="64008" marT="18288" marB="18288" anchor="ctr">
                    <a:solidFill>
                      <a:srgbClr val="FFFFFF"/>
                    </a:solidFill>
                  </a:tcPr>
                </a:tc>
                <a:tc>
                  <a:txBody>
                    <a:bodyPr wrap="square"/>
                    <a:lstStyle/>
                    <a:p>
                      <a:pPr algn="l"/>
                      <a:r>
                        <a:rPr sz="1150" b="0">
                          <a:solidFill>
                            <a:srgbClr val="22272E"/>
                          </a:solidFill>
                          <a:latin typeface="Segoe UI"/>
                        </a:rPr>
                        <a:t>Two queues — regular container jobs, and MNP for multi-node</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Access</a:t>
                      </a:r>
                    </a:p>
                  </a:txBody>
                  <a:tcPr marL="64008" marR="64008" marT="18288" marB="18288" anchor="ctr">
                    <a:solidFill>
                      <a:srgbClr val="F4F6F8"/>
                    </a:solidFill>
                  </a:tcPr>
                </a:tc>
                <a:tc>
                  <a:txBody>
                    <a:bodyPr wrap="square"/>
                    <a:lstStyle/>
                    <a:p>
                      <a:pPr algn="l"/>
                      <a:r>
                        <a:rPr sz="1150" b="0">
                          <a:solidFill>
                            <a:srgbClr val="22272E"/>
                          </a:solidFill>
                          <a:latin typeface="Segoe UI"/>
                        </a:rPr>
                        <a:t>Dev pods on a separate platform node group; no GPU shell</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Runtime</a:t>
                      </a:r>
                    </a:p>
                  </a:txBody>
                  <a:tcPr marL="64008" marR="64008" marT="18288" marB="18288" anchor="ctr">
                    <a:solidFill>
                      <a:srgbClr val="FFFFFF"/>
                    </a:solidFill>
                  </a:tcPr>
                </a:tc>
                <a:tc>
                  <a:txBody>
                    <a:bodyPr wrap="square"/>
                    <a:lstStyle/>
                    <a:p>
                      <a:pPr algn="l"/>
                      <a:r>
                        <a:rPr sz="1150" b="0">
                          <a:solidFill>
                            <a:srgbClr val="22272E"/>
                          </a:solidFill>
                          <a:latin typeface="Segoe UI"/>
                        </a:rPr>
                        <a:t>torchrun / NCCL, or hand-bootstrapped Ray on MNP</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Scheduling</a:t>
                      </a:r>
                    </a:p>
                  </a:txBody>
                  <a:tcPr marL="64008" marR="64008" marT="18288" marB="18288" anchor="ctr">
                    <a:solidFill>
                      <a:srgbClr val="F4F6F8"/>
                    </a:solidFill>
                  </a:tcPr>
                </a:tc>
                <a:tc>
                  <a:txBody>
                    <a:bodyPr wrap="square"/>
                    <a:lstStyle/>
                    <a:p>
                      <a:pPr algn="l"/>
                      <a:r>
                        <a:rPr sz="1150" b="0">
                          <a:solidFill>
                            <a:srgbClr val="22272E"/>
                          </a:solidFill>
                          <a:latin typeface="Segoe UI"/>
                        </a:rPr>
                        <a:t>Managed queues with fair-share scheduling policies</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Telemetry</a:t>
                      </a:r>
                    </a:p>
                  </a:txBody>
                  <a:tcPr marL="64008" marR="64008" marT="18288" marB="18288" anchor="ctr">
                    <a:solidFill>
                      <a:srgbClr val="FFFFFF"/>
                    </a:solidFill>
                  </a:tcPr>
                </a:tc>
                <a:tc>
                  <a:txBody>
                    <a:bodyPr wrap="square"/>
                    <a:lstStyle/>
                    <a:p>
                      <a:pPr algn="l"/>
                      <a:r>
                        <a:rPr sz="1150" b="0">
                          <a:solidFill>
                            <a:srgbClr val="22272E"/>
                          </a:solidFill>
                          <a:latin typeface="Segoe UI"/>
                        </a:rPr>
                        <a:t>DCGM DaemonSet + native CloudWatch queue metrics</a:t>
                      </a:r>
                    </a:p>
                  </a:txBody>
                  <a:tcPr marL="64008" marR="64008" marT="18288" marB="18288" anchor="ctr">
                    <a:solidFill>
                      <a:srgbClr val="FFFFFF"/>
                    </a:solidFill>
                  </a:tcPr>
                </a:tc>
              </a:tr>
            </a:tbl>
          </a:graphicData>
        </a:graphic>
      </p:graphicFrame>
      <p:sp>
        <p:nvSpPr>
          <p:cNvPr id="7" name="Rounded Rectangle 6"/>
          <p:cNvSpPr/>
          <p:nvPr/>
        </p:nvSpPr>
        <p:spPr>
          <a:xfrm>
            <a:off x="548640" y="4892040"/>
            <a:ext cx="11064240" cy="914400"/>
          </a:xfrm>
          <a:prstGeom prst="roundRect">
            <a:avLst>
              <a:gd name="adj" fmla="val 4000"/>
            </a:avLst>
          </a:prstGeom>
          <a:solidFill>
            <a:srgbClr val="ECF3F3"/>
          </a:solidFill>
          <a:ln w="9525">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5120640"/>
            <a:ext cx="10515600" cy="548640"/>
          </a:xfrm>
          <a:prstGeom prst="rect">
            <a:avLst/>
          </a:prstGeom>
          <a:noFill/>
        </p:spPr>
        <p:txBody>
          <a:bodyPr wrap="square" lIns="0" rIns="0" tIns="0" bIns="0">
            <a:spAutoFit/>
          </a:bodyPr>
          <a:lstStyle/>
          <a:p>
            <a:pPr algn="l">
              <a:lnSpc>
                <a:spcPct val="115000"/>
              </a:lnSpc>
              <a:spcAft>
                <a:spcPts val="600"/>
              </a:spcAft>
            </a:pPr>
            <a:r>
              <a:rPr sz="1250" b="0">
                <a:solidFill>
                  <a:srgbClr val="1F3A5F"/>
                </a:solidFill>
                <a:latin typeface="Segoe UI"/>
              </a:rPr>
              <a:t>Mechanism: submit to a queue → Batch materialises nodes → the job runs → everything is destroyed. A managed bulletin 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OPTION B — ALTERNATIVE</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AWS Batch — strengths and costs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508760"/>
            <a:ext cx="5440680" cy="448056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09928"/>
            <a:ext cx="4983480" cy="274320"/>
          </a:xfrm>
          <a:prstGeom prst="rect">
            <a:avLst/>
          </a:prstGeom>
          <a:noFill/>
        </p:spPr>
        <p:txBody>
          <a:bodyPr wrap="square" lIns="0" rIns="0" tIns="0" bIns="0">
            <a:spAutoFit/>
          </a:bodyPr>
          <a:lstStyle/>
          <a:p>
            <a:pPr algn="l">
              <a:lnSpc>
                <a:spcPct val="115000"/>
              </a:lnSpc>
              <a:spcAft>
                <a:spcPts val="600"/>
              </a:spcAft>
            </a:pPr>
            <a:r>
              <a:rPr sz="1100" b="1">
                <a:solidFill>
                  <a:srgbClr val="2E7D54"/>
                </a:solidFill>
                <a:latin typeface="Segoe UI"/>
              </a:rPr>
              <a:t>STRENGTHS</a:t>
            </a:r>
          </a:p>
        </p:txBody>
      </p:sp>
      <p:sp>
        <p:nvSpPr>
          <p:cNvPr id="8" name="TextBox 7"/>
          <p:cNvSpPr txBox="1"/>
          <p:nvPr/>
        </p:nvSpPr>
        <p:spPr>
          <a:xfrm>
            <a:off x="777240" y="2075688"/>
            <a:ext cx="4983480" cy="3657600"/>
          </a:xfrm>
          <a:prstGeom prst="rect">
            <a:avLst/>
          </a:prstGeom>
          <a:noFill/>
        </p:spPr>
        <p:txBody>
          <a:bodyPr wrap="square" lIns="0" rIns="0" tIns="0" bIns="0">
            <a:spAutoFit/>
          </a:bodyPr>
          <a:lstStyle/>
          <a:p>
            <a:pPr algn="l">
              <a:lnSpc>
                <a:spcPct val="112000"/>
              </a:lnSpc>
              <a:spcAft>
                <a:spcPts val="900"/>
              </a:spcAft>
            </a:pPr>
            <a:r>
              <a:rPr sz="1150" b="0">
                <a:solidFill>
                  <a:srgbClr val="22272E"/>
                </a:solidFill>
                <a:latin typeface="Segoe UI"/>
              </a:rPr>
              <a:t>•  Literally the 'bulletin board' the kickoff describes</a:t>
            </a:r>
          </a:p>
          <a:p>
            <a:pPr algn="l">
              <a:lnSpc>
                <a:spcPct val="112000"/>
              </a:lnSpc>
              <a:spcAft>
                <a:spcPts val="900"/>
              </a:spcAft>
            </a:pPr>
            <a:r>
              <a:rPr sz="1150" b="0">
                <a:solidFill>
                  <a:srgbClr val="22272E"/>
                </a:solidFill>
                <a:latin typeface="Segoe UI"/>
              </a:rPr>
              <a:t>•  Nothing to operate — queues, priorities, retries, fair-share are AWS's job</a:t>
            </a:r>
          </a:p>
          <a:p>
            <a:pPr algn="l">
              <a:lnSpc>
                <a:spcPct val="112000"/>
              </a:lnSpc>
              <a:spcAft>
                <a:spcPts val="900"/>
              </a:spcAft>
            </a:pPr>
            <a:r>
              <a:rPr sz="1150" b="0">
                <a:solidFill>
                  <a:srgbClr val="22272E"/>
                </a:solidFill>
                <a:latin typeface="Segoe UI"/>
              </a:rPr>
              <a:t>•  Pend time is emitted natively by CloudWatch, not instrumented by us</a:t>
            </a:r>
          </a:p>
          <a:p>
            <a:pPr algn="l">
              <a:lnSpc>
                <a:spcPct val="112000"/>
              </a:lnSpc>
              <a:spcAft>
                <a:spcPts val="900"/>
              </a:spcAft>
            </a:pPr>
            <a:r>
              <a:rPr sz="1150" b="0">
                <a:solidFill>
                  <a:srgbClr val="22272E"/>
                </a:solidFill>
                <a:latin typeface="Segoe UI"/>
              </a:rPr>
              <a:t>•  Gang scheduling is built in and correct, with no extra components</a:t>
            </a:r>
          </a:p>
          <a:p>
            <a:pPr algn="l">
              <a:lnSpc>
                <a:spcPct val="112000"/>
              </a:lnSpc>
              <a:spcAft>
                <a:spcPts val="900"/>
              </a:spcAft>
            </a:pPr>
            <a:r>
              <a:rPr sz="1150" b="0">
                <a:solidFill>
                  <a:srgbClr val="22272E"/>
                </a:solidFill>
                <a:latin typeface="Segoe UI"/>
              </a:rPr>
              <a:t>•  Strongest Phase 2 SMaaS foundation — fair-share across business units</a:t>
            </a:r>
          </a:p>
          <a:p>
            <a:pPr algn="l">
              <a:lnSpc>
                <a:spcPct val="112000"/>
              </a:lnSpc>
              <a:spcAft>
                <a:spcPts val="900"/>
              </a:spcAft>
            </a:pPr>
            <a:r>
              <a:rPr sz="1150" b="0">
                <a:solidFill>
                  <a:srgbClr val="22272E"/>
                </a:solidFill>
                <a:latin typeface="Segoe UI"/>
              </a:rPr>
              <a:t>•  Smaller security-review surface than the EKS option</a:t>
            </a:r>
          </a:p>
        </p:txBody>
      </p:sp>
      <p:sp>
        <p:nvSpPr>
          <p:cNvPr id="9" name="Rounded Rectangle 8"/>
          <p:cNvSpPr/>
          <p:nvPr/>
        </p:nvSpPr>
        <p:spPr>
          <a:xfrm>
            <a:off x="6355080" y="1508760"/>
            <a:ext cx="5440680" cy="448056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0" y="1709928"/>
            <a:ext cx="4983480" cy="274320"/>
          </a:xfrm>
          <a:prstGeom prst="rect">
            <a:avLst/>
          </a:prstGeom>
          <a:noFill/>
        </p:spPr>
        <p:txBody>
          <a:bodyPr wrap="square" lIns="0" rIns="0" tIns="0" bIns="0">
            <a:spAutoFit/>
          </a:bodyPr>
          <a:lstStyle/>
          <a:p>
            <a:pPr algn="l">
              <a:lnSpc>
                <a:spcPct val="115000"/>
              </a:lnSpc>
              <a:spcAft>
                <a:spcPts val="600"/>
              </a:spcAft>
            </a:pPr>
            <a:r>
              <a:rPr sz="1100" b="1">
                <a:solidFill>
                  <a:srgbClr val="A4343A"/>
                </a:solidFill>
                <a:latin typeface="Segoe UI"/>
              </a:rPr>
              <a:t>COSTS &amp; LIMITATIONS</a:t>
            </a:r>
          </a:p>
        </p:txBody>
      </p:sp>
      <p:sp>
        <p:nvSpPr>
          <p:cNvPr id="11" name="TextBox 10"/>
          <p:cNvSpPr txBox="1"/>
          <p:nvPr/>
        </p:nvSpPr>
        <p:spPr>
          <a:xfrm>
            <a:off x="6583680" y="2075688"/>
            <a:ext cx="4983480" cy="3657600"/>
          </a:xfrm>
          <a:prstGeom prst="rect">
            <a:avLst/>
          </a:prstGeom>
          <a:noFill/>
        </p:spPr>
        <p:txBody>
          <a:bodyPr wrap="square" lIns="0" rIns="0" tIns="0" bIns="0">
            <a:spAutoFit/>
          </a:bodyPr>
          <a:lstStyle/>
          <a:p>
            <a:pPr algn="l">
              <a:lnSpc>
                <a:spcPct val="112000"/>
              </a:lnSpc>
              <a:spcAft>
                <a:spcPts val="900"/>
              </a:spcAft>
            </a:pPr>
            <a:r>
              <a:rPr sz="1150" b="0">
                <a:solidFill>
                  <a:srgbClr val="22272E"/>
                </a:solidFill>
                <a:latin typeface="Segoe UI"/>
              </a:rPr>
              <a:t>•  The interactive loop dies — minutes per iteration, not seconds</a:t>
            </a:r>
          </a:p>
          <a:p>
            <a:pPr algn="l">
              <a:lnSpc>
                <a:spcPct val="112000"/>
              </a:lnSpc>
              <a:spcAft>
                <a:spcPts val="900"/>
              </a:spcAft>
            </a:pPr>
            <a:r>
              <a:rPr sz="1150" b="0">
                <a:solidFill>
                  <a:srgbClr val="22272E"/>
                </a:solidFill>
                <a:latin typeface="Segoe UI"/>
              </a:rPr>
              <a:t>•  No GPU shell at all; debugging a live distributed job is not possible</a:t>
            </a:r>
          </a:p>
          <a:p>
            <a:pPr algn="l">
              <a:lnSpc>
                <a:spcPct val="112000"/>
              </a:lnSpc>
              <a:spcAft>
                <a:spcPts val="900"/>
              </a:spcAft>
            </a:pPr>
            <a:r>
              <a:rPr sz="1150" b="0">
                <a:solidFill>
                  <a:srgbClr val="22272E"/>
                </a:solidFill>
                <a:latin typeface="Segoe UI"/>
              </a:rPr>
              <a:t>•  Ray reduces to a library, hand-bootstrapped from AWS_BATCH_JOB_* vars</a:t>
            </a:r>
          </a:p>
          <a:p>
            <a:pPr algn="l">
              <a:lnSpc>
                <a:spcPct val="112000"/>
              </a:lnSpc>
              <a:spcAft>
                <a:spcPts val="900"/>
              </a:spcAft>
            </a:pPr>
            <a:r>
              <a:rPr sz="1150" b="0">
                <a:solidFill>
                  <a:srgbClr val="22272E"/>
                </a:solidFill>
                <a:latin typeface="Segoe UI"/>
              </a:rPr>
              <a:t>•  No Spot for MNP jobs — removes the main cost lever</a:t>
            </a:r>
          </a:p>
          <a:p>
            <a:pPr algn="l">
              <a:lnSpc>
                <a:spcPct val="112000"/>
              </a:lnSpc>
              <a:spcAft>
                <a:spcPts val="900"/>
              </a:spcAft>
            </a:pPr>
            <a:r>
              <a:rPr sz="1150" b="0">
                <a:solidFill>
                  <a:srgbClr val="22272E"/>
                </a:solidFill>
                <a:latin typeface="Segoe UI"/>
              </a:rPr>
              <a:t>•  MNP nodes are single-tenant: a 1-GPU job occupies all 8 GPUs of a p5</a:t>
            </a:r>
          </a:p>
          <a:p>
            <a:pPr algn="l">
              <a:lnSpc>
                <a:spcPct val="112000"/>
              </a:lnSpc>
              <a:spcAft>
                <a:spcPts val="900"/>
              </a:spcAft>
            </a:pPr>
            <a:r>
              <a:rPr sz="1150" b="0">
                <a:solidFill>
                  <a:srgbClr val="22272E"/>
                </a:solidFill>
                <a:latin typeface="Segoe UI"/>
              </a:rPr>
              <a:t>•  EFA on Batch-on-EKS is undocumented by AWS — a live build risk</a:t>
            </a:r>
          </a:p>
          <a:p>
            <a:pPr algn="l">
              <a:lnSpc>
                <a:spcPct val="112000"/>
              </a:lnSpc>
              <a:spcAft>
                <a:spcPts val="900"/>
              </a:spcAft>
            </a:pPr>
            <a:r>
              <a:rPr sz="1150" b="0">
                <a:solidFill>
                  <a:srgbClr val="22272E"/>
                </a:solidFill>
                <a:latin typeface="Segoe UI"/>
              </a:rPr>
              <a:t>•  Tri-environment parity is lost; Argo becomes glue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OPTION C — ALTERNATIVE</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Amazon ECS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graphicFrame>
        <p:nvGraphicFramePr>
          <p:cNvPr id="6" name="Table 5"/>
          <p:cNvGraphicFramePr>
            <a:graphicFrameLocks noGrp="1"/>
          </p:cNvGraphicFramePr>
          <p:nvPr/>
        </p:nvGraphicFramePr>
        <p:xfrm>
          <a:off x="548640" y="1463040"/>
          <a:ext cx="11064240" cy="3072384"/>
        </p:xfrm>
        <a:graphic>
          <a:graphicData uri="http://schemas.openxmlformats.org/drawingml/2006/table">
            <a:tbl>
              <a:tblPr firstRow="1" bandRow="1">
                <a:tableStyleId>{5C22544A-7EE6-4342-B048-85BDC9FD1C3A}</a:tableStyleId>
              </a:tblPr>
              <a:tblGrid>
                <a:gridCol w="1828800"/>
                <a:gridCol w="9235440"/>
              </a:tblGrid>
              <a:tr h="384048">
                <a:tc>
                  <a:txBody>
                    <a:bodyPr wrap="square"/>
                    <a:lstStyle/>
                    <a:p>
                      <a:pPr algn="l"/>
                      <a:r>
                        <a:rPr sz="1000" b="1">
                          <a:solidFill>
                            <a:srgbClr val="FFFFFF"/>
                          </a:solidFill>
                          <a:latin typeface="Segoe UI"/>
                        </a:rPr>
                        <a:t>Layer</a:t>
                      </a:r>
                    </a:p>
                  </a:txBody>
                  <a:tcPr marL="64008" marR="64008" marT="18288" marB="18288" anchor="ctr">
                    <a:solidFill>
                      <a:srgbClr val="1F3A5F"/>
                    </a:solidFill>
                  </a:tcPr>
                </a:tc>
                <a:tc>
                  <a:txBody>
                    <a:bodyPr wrap="square"/>
                    <a:lstStyle/>
                    <a:p>
                      <a:pPr algn="l"/>
                      <a:r>
                        <a:rPr sz="1000" b="1">
                          <a:solidFill>
                            <a:srgbClr val="FFFFFF"/>
                          </a:solidFill>
                          <a:latin typeface="Segoe UI"/>
                        </a:rPr>
                        <a:t>Choice</a:t>
                      </a:r>
                    </a:p>
                  </a:txBody>
                  <a:tcPr marL="64008" marR="64008" marT="18288" marB="18288" anchor="ctr">
                    <a:solidFill>
                      <a:srgbClr val="1F3A5F"/>
                    </a:solidFill>
                  </a:tcPr>
                </a:tc>
              </a:tr>
              <a:tr h="384048">
                <a:tc>
                  <a:txBody>
                    <a:bodyPr wrap="square"/>
                    <a:lstStyle/>
                    <a:p>
                      <a:pPr algn="l"/>
                      <a:r>
                        <a:rPr sz="1150" b="0">
                          <a:solidFill>
                            <a:srgbClr val="22272E"/>
                          </a:solidFill>
                          <a:latin typeface="Segoe UI"/>
                        </a:rPr>
                        <a:t>Compute</a:t>
                      </a:r>
                    </a:p>
                  </a:txBody>
                  <a:tcPr marL="64008" marR="64008" marT="18288" marB="18288" anchor="ctr">
                    <a:solidFill>
                      <a:srgbClr val="FFFFFF"/>
                    </a:solidFill>
                  </a:tcPr>
                </a:tc>
                <a:tc>
                  <a:txBody>
                    <a:bodyPr wrap="square"/>
                    <a:lstStyle/>
                    <a:p>
                      <a:pPr algn="l"/>
                      <a:r>
                        <a:rPr sz="1150" b="0">
                          <a:solidFill>
                            <a:srgbClr val="22272E"/>
                          </a:solidFill>
                          <a:latin typeface="Segoe UI"/>
                        </a:rPr>
                        <a:t>ECS cluster; Managed Instances capacity provider</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Capacity</a:t>
                      </a:r>
                    </a:p>
                  </a:txBody>
                  <a:tcPr marL="64008" marR="64008" marT="18288" marB="18288" anchor="ctr">
                    <a:solidFill>
                      <a:srgbClr val="F4F6F8"/>
                    </a:solidFill>
                  </a:tcPr>
                </a:tc>
                <a:tc>
                  <a:txBody>
                    <a:bodyPr wrap="square"/>
                    <a:lstStyle/>
                    <a:p>
                      <a:pPr algn="l"/>
                      <a:r>
                        <a:rPr sz="1150" b="0">
                          <a:solidFill>
                            <a:srgbClr val="22272E"/>
                          </a:solidFill>
                          <a:latin typeface="Segoe UI"/>
                        </a:rPr>
                        <a:t>AWS owns AMI, NVIDIA drivers, patching, GPU auto-repair</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Jobs</a:t>
                      </a:r>
                    </a:p>
                  </a:txBody>
                  <a:tcPr marL="64008" marR="64008" marT="18288" marB="18288" anchor="ctr">
                    <a:solidFill>
                      <a:srgbClr val="FFFFFF"/>
                    </a:solidFill>
                  </a:tcPr>
                </a:tc>
                <a:tc>
                  <a:txBody>
                    <a:bodyPr wrap="square"/>
                    <a:lstStyle/>
                    <a:p>
                      <a:pPr algn="l"/>
                      <a:r>
                        <a:rPr sz="1150" b="0">
                          <a:solidFill>
                            <a:srgbClr val="22272E"/>
                          </a:solidFill>
                          <a:latin typeface="Segoe UI"/>
                        </a:rPr>
                        <a:t>ECS tasks; Ray head/worker as long-lived ECS services</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Access</a:t>
                      </a:r>
                    </a:p>
                  </a:txBody>
                  <a:tcPr marL="64008" marR="64008" marT="18288" marB="18288" anchor="ctr">
                    <a:solidFill>
                      <a:srgbClr val="F4F6F8"/>
                    </a:solidFill>
                  </a:tcPr>
                </a:tc>
                <a:tc>
                  <a:txBody>
                    <a:bodyPr wrap="square"/>
                    <a:lstStyle/>
                    <a:p>
                      <a:pPr algn="l"/>
                      <a:r>
                        <a:rPr sz="1150" b="0">
                          <a:solidFill>
                            <a:srgbClr val="22272E"/>
                          </a:solidFill>
                          <a:latin typeface="Segoe UI"/>
                        </a:rPr>
                        <a:t>ECS Exec — a real, audited shell into a running task</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Multi-node</a:t>
                      </a:r>
                    </a:p>
                  </a:txBody>
                  <a:tcPr marL="64008" marR="64008" marT="18288" marB="18288" anchor="ctr">
                    <a:solidFill>
                      <a:srgbClr val="FFFFFF"/>
                    </a:solidFill>
                  </a:tcPr>
                </a:tc>
                <a:tc>
                  <a:txBody>
                    <a:bodyPr wrap="square"/>
                    <a:lstStyle/>
                    <a:p>
                      <a:pPr algn="l"/>
                      <a:r>
                        <a:rPr sz="1150" b="0">
                          <a:solidFill>
                            <a:srgbClr val="22272E"/>
                          </a:solidFill>
                          <a:latin typeface="Segoe UI"/>
                        </a:rPr>
                        <a:t>No primitive — needs self-managed capacity or Batch MNP</a:t>
                      </a:r>
                    </a:p>
                  </a:txBody>
                  <a:tcPr marL="64008" marR="64008" marT="18288" marB="18288" anchor="ctr">
                    <a:solidFill>
                      <a:srgbClr val="FFFFFF"/>
                    </a:solidFill>
                  </a:tcPr>
                </a:tc>
              </a:tr>
              <a:tr h="384048">
                <a:tc>
                  <a:txBody>
                    <a:bodyPr wrap="square"/>
                    <a:lstStyle/>
                    <a:p>
                      <a:pPr algn="l"/>
                      <a:r>
                        <a:rPr sz="1150" b="0">
                          <a:solidFill>
                            <a:srgbClr val="22272E"/>
                          </a:solidFill>
                          <a:latin typeface="Segoe UI"/>
                        </a:rPr>
                        <a:t>Orchestration</a:t>
                      </a:r>
                    </a:p>
                  </a:txBody>
                  <a:tcPr marL="64008" marR="64008" marT="18288" marB="18288" anchor="ctr">
                    <a:solidFill>
                      <a:srgbClr val="F4F6F8"/>
                    </a:solidFill>
                  </a:tcPr>
                </a:tc>
                <a:tc>
                  <a:txBody>
                    <a:bodyPr wrap="square"/>
                    <a:lstStyle/>
                    <a:p>
                      <a:pPr algn="l"/>
                      <a:r>
                        <a:rPr sz="1150" b="0">
                          <a:solidFill>
                            <a:srgbClr val="22272E"/>
                          </a:solidFill>
                          <a:latin typeface="Segoe UI"/>
                        </a:rPr>
                        <a:t>Step Functions or MWAA; no Flyte, no Argo</a:t>
                      </a:r>
                    </a:p>
                  </a:txBody>
                  <a:tcPr marL="64008" marR="64008" marT="18288" marB="18288" anchor="ctr">
                    <a:solidFill>
                      <a:srgbClr val="F4F6F8"/>
                    </a:solidFill>
                  </a:tcPr>
                </a:tc>
              </a:tr>
              <a:tr h="384048">
                <a:tc>
                  <a:txBody>
                    <a:bodyPr wrap="square"/>
                    <a:lstStyle/>
                    <a:p>
                      <a:pPr algn="l"/>
                      <a:r>
                        <a:rPr sz="1150" b="0">
                          <a:solidFill>
                            <a:srgbClr val="22272E"/>
                          </a:solidFill>
                          <a:latin typeface="Segoe UI"/>
                        </a:rPr>
                        <a:t>Telemetry</a:t>
                      </a:r>
                    </a:p>
                  </a:txBody>
                  <a:tcPr marL="64008" marR="64008" marT="18288" marB="18288" anchor="ctr">
                    <a:solidFill>
                      <a:srgbClr val="FFFFFF"/>
                    </a:solidFill>
                  </a:tcPr>
                </a:tc>
                <a:tc>
                  <a:txBody>
                    <a:bodyPr wrap="square"/>
                    <a:lstStyle/>
                    <a:p>
                      <a:pPr algn="l"/>
                      <a:r>
                        <a:rPr sz="1150" b="0">
                          <a:solidFill>
                            <a:srgbClr val="22272E"/>
                          </a:solidFill>
                          <a:latin typeface="Segoe UI"/>
                        </a:rPr>
                        <a:t>CloudWatch Container Insights + DCGM daemon service</a:t>
                      </a:r>
                    </a:p>
                  </a:txBody>
                  <a:tcPr marL="64008" marR="64008" marT="18288" marB="18288" anchor="ctr">
                    <a:solidFill>
                      <a:srgbClr val="FFFFFF"/>
                    </a:solidFill>
                  </a:tcPr>
                </a:tc>
              </a:tr>
            </a:tbl>
          </a:graphicData>
        </a:graphic>
      </p:graphicFrame>
      <p:sp>
        <p:nvSpPr>
          <p:cNvPr id="7" name="Rounded Rectangle 6"/>
          <p:cNvSpPr/>
          <p:nvPr/>
        </p:nvSpPr>
        <p:spPr>
          <a:xfrm>
            <a:off x="548640" y="4892040"/>
            <a:ext cx="11064240" cy="914400"/>
          </a:xfrm>
          <a:prstGeom prst="roundRect">
            <a:avLst>
              <a:gd name="adj" fmla="val 4000"/>
            </a:avLst>
          </a:prstGeom>
          <a:solidFill>
            <a:srgbClr val="ECF3F3"/>
          </a:solidFill>
          <a:ln w="9525">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5120640"/>
            <a:ext cx="10515600" cy="548640"/>
          </a:xfrm>
          <a:prstGeom prst="rect">
            <a:avLst/>
          </a:prstGeom>
          <a:noFill/>
        </p:spPr>
        <p:txBody>
          <a:bodyPr wrap="square" lIns="0" rIns="0" tIns="0" bIns="0">
            <a:spAutoFit/>
          </a:bodyPr>
          <a:lstStyle/>
          <a:p>
            <a:pPr algn="l">
              <a:lnSpc>
                <a:spcPct val="115000"/>
              </a:lnSpc>
              <a:spcAft>
                <a:spcPts val="600"/>
              </a:spcAft>
            </a:pPr>
            <a:r>
              <a:rPr sz="1250" b="0">
                <a:solidFill>
                  <a:srgbClr val="1F3A5F"/>
                </a:solidFill>
                <a:latin typeface="Segoe UI"/>
              </a:rPr>
              <a:t>Mechanism: ECS schedules tasks onto AWS-managed instances. Simplest to operate — and the only option that cannot gang-schedule.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OPTION C — ALTERNATIVE</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Amazon ECS — strengths and costs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508760"/>
            <a:ext cx="5440680" cy="448056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09928"/>
            <a:ext cx="4983480" cy="274320"/>
          </a:xfrm>
          <a:prstGeom prst="rect">
            <a:avLst/>
          </a:prstGeom>
          <a:noFill/>
        </p:spPr>
        <p:txBody>
          <a:bodyPr wrap="square" lIns="0" rIns="0" tIns="0" bIns="0">
            <a:spAutoFit/>
          </a:bodyPr>
          <a:lstStyle/>
          <a:p>
            <a:pPr algn="l">
              <a:lnSpc>
                <a:spcPct val="115000"/>
              </a:lnSpc>
              <a:spcAft>
                <a:spcPts val="600"/>
              </a:spcAft>
            </a:pPr>
            <a:r>
              <a:rPr sz="1100" b="1">
                <a:solidFill>
                  <a:srgbClr val="2E7D54"/>
                </a:solidFill>
                <a:latin typeface="Segoe UI"/>
              </a:rPr>
              <a:t>STRENGTHS</a:t>
            </a:r>
          </a:p>
        </p:txBody>
      </p:sp>
      <p:sp>
        <p:nvSpPr>
          <p:cNvPr id="8" name="TextBox 7"/>
          <p:cNvSpPr txBox="1"/>
          <p:nvPr/>
        </p:nvSpPr>
        <p:spPr>
          <a:xfrm>
            <a:off x="777240" y="2075688"/>
            <a:ext cx="4983480" cy="3657600"/>
          </a:xfrm>
          <a:prstGeom prst="rect">
            <a:avLst/>
          </a:prstGeom>
          <a:noFill/>
        </p:spPr>
        <p:txBody>
          <a:bodyPr wrap="square" lIns="0" rIns="0" tIns="0" bIns="0">
            <a:spAutoFit/>
          </a:bodyPr>
          <a:lstStyle/>
          <a:p>
            <a:pPr algn="l">
              <a:lnSpc>
                <a:spcPct val="112000"/>
              </a:lnSpc>
              <a:spcAft>
                <a:spcPts val="900"/>
              </a:spcAft>
            </a:pPr>
            <a:r>
              <a:rPr sz="1150" b="0">
                <a:solidFill>
                  <a:srgbClr val="22272E"/>
                </a:solidFill>
                <a:latin typeface="Segoe UI"/>
              </a:rPr>
              <a:t>•  Genuinely zero Kubernetes — the only option that delivers this</a:t>
            </a:r>
          </a:p>
          <a:p>
            <a:pPr algn="l">
              <a:lnSpc>
                <a:spcPct val="112000"/>
              </a:lnSpc>
              <a:spcAft>
                <a:spcPts val="900"/>
              </a:spcAft>
            </a:pPr>
            <a:r>
              <a:rPr sz="1150" b="0">
                <a:solidFill>
                  <a:srgbClr val="22272E"/>
                </a:solidFill>
                <a:latin typeface="Segoe UI"/>
              </a:rPr>
              <a:t>•  Most managed GPU fleet on AWS: drivers, patching, auto-repair</a:t>
            </a:r>
          </a:p>
          <a:p>
            <a:pPr algn="l">
              <a:lnSpc>
                <a:spcPct val="112000"/>
              </a:lnSpc>
              <a:spcAft>
                <a:spcPts val="900"/>
              </a:spcAft>
            </a:pPr>
            <a:r>
              <a:rPr sz="1150" b="0">
                <a:solidFill>
                  <a:srgbClr val="22272E"/>
                </a:solidFill>
                <a:latin typeface="Segoe UI"/>
              </a:rPr>
              <a:t>•  Fractional GPU on G6f (to ⅛ of an L4) — unique among the three</a:t>
            </a:r>
          </a:p>
          <a:p>
            <a:pPr algn="l">
              <a:lnSpc>
                <a:spcPct val="112000"/>
              </a:lnSpc>
              <a:spcAft>
                <a:spcPts val="900"/>
              </a:spcAft>
            </a:pPr>
            <a:r>
              <a:rPr sz="1150" b="0">
                <a:solidFill>
                  <a:srgbClr val="22272E"/>
                </a:solidFill>
                <a:latin typeface="Segoe UI"/>
              </a:rPr>
              <a:t>•  ECS Exec gives a real shell, serving the kickoff's shell priority</a:t>
            </a:r>
          </a:p>
          <a:p>
            <a:pPr algn="l">
              <a:lnSpc>
                <a:spcPct val="112000"/>
              </a:lnSpc>
              <a:spcAft>
                <a:spcPts val="900"/>
              </a:spcAft>
            </a:pPr>
            <a:r>
              <a:rPr sz="1150" b="0">
                <a:solidFill>
                  <a:srgbClr val="22272E"/>
                </a:solidFill>
                <a:latin typeface="Segoe UI"/>
              </a:rPr>
              <a:t>•  A persistent Ray cluster is viable, so the interactive loop survives</a:t>
            </a:r>
          </a:p>
          <a:p>
            <a:pPr algn="l">
              <a:lnSpc>
                <a:spcPct val="112000"/>
              </a:lnSpc>
              <a:spcAft>
                <a:spcPts val="900"/>
              </a:spcAft>
            </a:pPr>
            <a:r>
              <a:rPr sz="1150" b="0">
                <a:solidFill>
                  <a:srgbClr val="22272E"/>
                </a:solidFill>
                <a:latin typeface="Segoe UI"/>
              </a:rPr>
              <a:t>•  Smallest security-review surface of the three</a:t>
            </a:r>
          </a:p>
        </p:txBody>
      </p:sp>
      <p:sp>
        <p:nvSpPr>
          <p:cNvPr id="9" name="Rounded Rectangle 8"/>
          <p:cNvSpPr/>
          <p:nvPr/>
        </p:nvSpPr>
        <p:spPr>
          <a:xfrm>
            <a:off x="6355080" y="1508760"/>
            <a:ext cx="5440680" cy="448056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0" y="1709928"/>
            <a:ext cx="4983480" cy="274320"/>
          </a:xfrm>
          <a:prstGeom prst="rect">
            <a:avLst/>
          </a:prstGeom>
          <a:noFill/>
        </p:spPr>
        <p:txBody>
          <a:bodyPr wrap="square" lIns="0" rIns="0" tIns="0" bIns="0">
            <a:spAutoFit/>
          </a:bodyPr>
          <a:lstStyle/>
          <a:p>
            <a:pPr algn="l">
              <a:lnSpc>
                <a:spcPct val="115000"/>
              </a:lnSpc>
              <a:spcAft>
                <a:spcPts val="600"/>
              </a:spcAft>
            </a:pPr>
            <a:r>
              <a:rPr sz="1100" b="1">
                <a:solidFill>
                  <a:srgbClr val="A4343A"/>
                </a:solidFill>
                <a:latin typeface="Segoe UI"/>
              </a:rPr>
              <a:t>COSTS &amp; LIMITATIONS</a:t>
            </a:r>
          </a:p>
        </p:txBody>
      </p:sp>
      <p:sp>
        <p:nvSpPr>
          <p:cNvPr id="11" name="TextBox 10"/>
          <p:cNvSpPr txBox="1"/>
          <p:nvPr/>
        </p:nvSpPr>
        <p:spPr>
          <a:xfrm>
            <a:off x="6583680" y="2075688"/>
            <a:ext cx="4983480" cy="3657600"/>
          </a:xfrm>
          <a:prstGeom prst="rect">
            <a:avLst/>
          </a:prstGeom>
          <a:noFill/>
        </p:spPr>
        <p:txBody>
          <a:bodyPr wrap="square" lIns="0" rIns="0" tIns="0" bIns="0">
            <a:spAutoFit/>
          </a:bodyPr>
          <a:lstStyle/>
          <a:p>
            <a:pPr algn="l">
              <a:lnSpc>
                <a:spcPct val="112000"/>
              </a:lnSpc>
              <a:spcAft>
                <a:spcPts val="900"/>
              </a:spcAft>
            </a:pPr>
            <a:r>
              <a:rPr sz="1150" b="0">
                <a:solidFill>
                  <a:srgbClr val="22272E"/>
                </a:solidFill>
                <a:latin typeface="Segoe UI"/>
              </a:rPr>
              <a:t>•  Karpenter, Flyte, Argo Workflows and Argo CD cannot run at all</a:t>
            </a:r>
          </a:p>
          <a:p>
            <a:pPr algn="l">
              <a:lnSpc>
                <a:spcPct val="112000"/>
              </a:lnSpc>
              <a:spcAft>
                <a:spcPts val="900"/>
              </a:spcAft>
            </a:pPr>
            <a:r>
              <a:rPr sz="1150" b="0">
                <a:solidFill>
                  <a:srgbClr val="22272E"/>
                </a:solidFill>
                <a:latin typeface="Segoe UI"/>
              </a:rPr>
              <a:t>•  No gang-scheduling primitive — the capability the phase is graded on</a:t>
            </a:r>
          </a:p>
          <a:p>
            <a:pPr algn="l">
              <a:lnSpc>
                <a:spcPct val="112000"/>
              </a:lnSpc>
              <a:spcAft>
                <a:spcPts val="900"/>
              </a:spcAft>
            </a:pPr>
            <a:r>
              <a:rPr sz="1150" b="0">
                <a:solidFill>
                  <a:srgbClr val="22272E"/>
                </a:solidFill>
                <a:latin typeface="Segoe UI"/>
              </a:rPr>
              <a:t>•  Managed Instances exposes no custom AMI, placement group or userdata</a:t>
            </a:r>
          </a:p>
          <a:p>
            <a:pPr algn="l">
              <a:lnSpc>
                <a:spcPct val="112000"/>
              </a:lnSpc>
              <a:spcAft>
                <a:spcPts val="900"/>
              </a:spcAft>
            </a:pPr>
            <a:r>
              <a:rPr sz="1150" b="0">
                <a:solidFill>
                  <a:srgbClr val="22272E"/>
                </a:solidFill>
                <a:latin typeface="Segoe UI"/>
              </a:rPr>
              <a:t>•  …which removes EFA, host-mounted FSx and NVMe staging in one stroke</a:t>
            </a:r>
          </a:p>
          <a:p>
            <a:pPr algn="l">
              <a:lnSpc>
                <a:spcPct val="112000"/>
              </a:lnSpc>
              <a:spcAft>
                <a:spcPts val="900"/>
              </a:spcAft>
            </a:pPr>
            <a:r>
              <a:rPr sz="1150" b="0">
                <a:solidFill>
                  <a:srgbClr val="22272E"/>
                </a:solidFill>
                <a:latin typeface="Segoe UI"/>
              </a:rPr>
              <a:t>•  Multi-node needs self-managed capacity on an undocumented EFA path</a:t>
            </a:r>
          </a:p>
          <a:p>
            <a:pPr algn="l">
              <a:lnSpc>
                <a:spcPct val="112000"/>
              </a:lnSpc>
              <a:spcAft>
                <a:spcPts val="900"/>
              </a:spcAft>
            </a:pPr>
            <a:r>
              <a:rPr sz="1150" b="0">
                <a:solidFill>
                  <a:srgbClr val="22272E"/>
                </a:solidFill>
                <a:latin typeface="Segoe UI"/>
              </a:rPr>
              <a:t>•  No queue, so no native pend-time metric; no fair-share for Phase 2</a:t>
            </a:r>
          </a:p>
          <a:p>
            <a:pPr algn="l">
              <a:lnSpc>
                <a:spcPct val="112000"/>
              </a:lnSpc>
              <a:spcAft>
                <a:spcPts val="900"/>
              </a:spcAft>
            </a:pPr>
            <a:r>
              <a:rPr sz="1150" b="0">
                <a:solidFill>
                  <a:srgbClr val="22272E"/>
                </a:solidFill>
                <a:latin typeface="Segoe UI"/>
              </a:rPr>
              <a:t>•  Tri-environment parity lost; satisfies none of EKS / Ray / Argo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COMPARISON</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Head to head</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graphicFrame>
        <p:nvGraphicFramePr>
          <p:cNvPr id="6" name="Table 5"/>
          <p:cNvGraphicFramePr>
            <a:graphicFrameLocks noGrp="1"/>
          </p:cNvGraphicFramePr>
          <p:nvPr/>
        </p:nvGraphicFramePr>
        <p:xfrm>
          <a:off x="548640" y="1463040"/>
          <a:ext cx="11064240" cy="4517136"/>
        </p:xfrm>
        <a:graphic>
          <a:graphicData uri="http://schemas.openxmlformats.org/drawingml/2006/table">
            <a:tbl>
              <a:tblPr firstRow="1" bandRow="1">
                <a:tableStyleId>{5C22544A-7EE6-4342-B048-85BDC9FD1C3A}</a:tableStyleId>
              </a:tblPr>
              <a:tblGrid>
                <a:gridCol w="3657600"/>
                <a:gridCol w="2468880"/>
                <a:gridCol w="2468880"/>
                <a:gridCol w="2468880"/>
              </a:tblGrid>
              <a:tr h="347472">
                <a:tc>
                  <a:txBody>
                    <a:bodyPr wrap="square"/>
                    <a:lstStyle/>
                    <a:p>
                      <a:pPr algn="l"/>
                      <a:r>
                        <a:rPr sz="1000" b="1">
                          <a:solidFill>
                            <a:srgbClr val="FFFFFF"/>
                          </a:solidFill>
                          <a:latin typeface="Segoe UI"/>
                        </a:rPr>
                        <a:t>Dimension</a:t>
                      </a:r>
                    </a:p>
                  </a:txBody>
                  <a:tcPr marL="64008" marR="64008" marT="18288" marB="18288" anchor="ctr">
                    <a:solidFill>
                      <a:srgbClr val="1F3A5F"/>
                    </a:solidFill>
                  </a:tcPr>
                </a:tc>
                <a:tc>
                  <a:txBody>
                    <a:bodyPr wrap="square"/>
                    <a:lstStyle/>
                    <a:p>
                      <a:pPr algn="ctr"/>
                      <a:r>
                        <a:rPr sz="1000" b="1">
                          <a:solidFill>
                            <a:srgbClr val="FFFFFF"/>
                          </a:solidFill>
                          <a:latin typeface="Segoe UI"/>
                        </a:rPr>
                        <a:t>EKS + Ray</a:t>
                      </a:r>
                    </a:p>
                  </a:txBody>
                  <a:tcPr marL="64008" marR="64008" marT="18288" marB="18288" anchor="ctr">
                    <a:solidFill>
                      <a:srgbClr val="1F3A5F"/>
                    </a:solidFill>
                  </a:tcPr>
                </a:tc>
                <a:tc>
                  <a:txBody>
                    <a:bodyPr wrap="square"/>
                    <a:lstStyle/>
                    <a:p>
                      <a:pPr algn="ctr"/>
                      <a:r>
                        <a:rPr sz="1000" b="1">
                          <a:solidFill>
                            <a:srgbClr val="FFFFFF"/>
                          </a:solidFill>
                          <a:latin typeface="Segoe UI"/>
                        </a:rPr>
                        <a:t>AWS Batch</a:t>
                      </a:r>
                    </a:p>
                  </a:txBody>
                  <a:tcPr marL="64008" marR="64008" marT="18288" marB="18288" anchor="ctr">
                    <a:solidFill>
                      <a:srgbClr val="1F3A5F"/>
                    </a:solidFill>
                  </a:tcPr>
                </a:tc>
                <a:tc>
                  <a:txBody>
                    <a:bodyPr wrap="square"/>
                    <a:lstStyle/>
                    <a:p>
                      <a:pPr algn="ctr"/>
                      <a:r>
                        <a:rPr sz="1000" b="1">
                          <a:solidFill>
                            <a:srgbClr val="FFFFFF"/>
                          </a:solidFill>
                          <a:latin typeface="Segoe UI"/>
                        </a:rPr>
                        <a:t>Amazon ECS</a:t>
                      </a:r>
                    </a:p>
                  </a:txBody>
                  <a:tcPr marL="64008" marR="64008" marT="18288" marB="18288" anchor="ctr">
                    <a:solidFill>
                      <a:srgbClr val="1F3A5F"/>
                    </a:solidFill>
                  </a:tcPr>
                </a:tc>
              </a:tr>
              <a:tr h="347472">
                <a:tc>
                  <a:txBody>
                    <a:bodyPr wrap="square"/>
                    <a:lstStyle/>
                    <a:p>
                      <a:pPr algn="l"/>
                      <a:r>
                        <a:rPr sz="1100" b="0">
                          <a:solidFill>
                            <a:srgbClr val="22272E"/>
                          </a:solidFill>
                          <a:latin typeface="Segoe UI"/>
                        </a:rPr>
                        <a:t>Iteration loop</a:t>
                      </a:r>
                    </a:p>
                  </a:txBody>
                  <a:tcPr marL="64008" marR="64008" marT="18288" marB="18288" anchor="ctr">
                    <a:solidFill>
                      <a:srgbClr val="FFFFFF"/>
                    </a:solidFill>
                  </a:tcPr>
                </a:tc>
                <a:tc>
                  <a:txBody>
                    <a:bodyPr wrap="square"/>
                    <a:lstStyle/>
                    <a:p>
                      <a:pPr algn="ctr"/>
                      <a:r>
                        <a:rPr sz="1100" b="1">
                          <a:solidFill>
                            <a:srgbClr val="2E7D54"/>
                          </a:solidFill>
                          <a:latin typeface="Segoe UI"/>
                        </a:rPr>
                        <a:t>Seconds</a:t>
                      </a:r>
                    </a:p>
                  </a:txBody>
                  <a:tcPr marL="64008" marR="64008" marT="18288" marB="18288" anchor="ctr">
                    <a:solidFill>
                      <a:srgbClr val="FFFFFF"/>
                    </a:solidFill>
                  </a:tcPr>
                </a:tc>
                <a:tc>
                  <a:txBody>
                    <a:bodyPr wrap="square"/>
                    <a:lstStyle/>
                    <a:p>
                      <a:pPr algn="ctr"/>
                      <a:r>
                        <a:rPr sz="1100" b="1">
                          <a:solidFill>
                            <a:srgbClr val="A4343A"/>
                          </a:solidFill>
                          <a:latin typeface="Segoe UI"/>
                        </a:rPr>
                        <a:t>Minutes</a:t>
                      </a:r>
                    </a:p>
                  </a:txBody>
                  <a:tcPr marL="64008" marR="64008" marT="18288" marB="18288" anchor="ctr">
                    <a:solidFill>
                      <a:srgbClr val="FFFFFF"/>
                    </a:solidFill>
                  </a:tcPr>
                </a:tc>
                <a:tc>
                  <a:txBody>
                    <a:bodyPr wrap="square"/>
                    <a:lstStyle/>
                    <a:p>
                      <a:pPr algn="ctr"/>
                      <a:r>
                        <a:rPr sz="1100" b="1">
                          <a:solidFill>
                            <a:srgbClr val="B0760B"/>
                          </a:solidFill>
                          <a:latin typeface="Segoe UI"/>
                        </a:rPr>
                        <a:t>Seconds</a:t>
                      </a:r>
                    </a:p>
                  </a:txBody>
                  <a:tcPr marL="64008" marR="64008" marT="18288" marB="18288" anchor="ctr">
                    <a:solidFill>
                      <a:srgbClr val="FFFFFF"/>
                    </a:solidFill>
                  </a:tcPr>
                </a:tc>
              </a:tr>
              <a:tr h="347472">
                <a:tc>
                  <a:txBody>
                    <a:bodyPr wrap="square"/>
                    <a:lstStyle/>
                    <a:p>
                      <a:pPr algn="l"/>
                      <a:r>
                        <a:rPr sz="1100" b="0">
                          <a:solidFill>
                            <a:srgbClr val="22272E"/>
                          </a:solidFill>
                          <a:latin typeface="Segoe UI"/>
                        </a:rPr>
                        <a:t>Shell on a GPU</a:t>
                      </a:r>
                    </a:p>
                  </a:txBody>
                  <a:tcPr marL="64008" marR="64008" marT="18288" marB="18288" anchor="ctr">
                    <a:solidFill>
                      <a:srgbClr val="F4F6F8"/>
                    </a:solidFill>
                  </a:tcPr>
                </a:tc>
                <a:tc>
                  <a:txBody>
                    <a:bodyPr wrap="square"/>
                    <a:lstStyle/>
                    <a:p>
                      <a:pPr algn="ctr"/>
                      <a:r>
                        <a:rPr sz="1100" b="1">
                          <a:solidFill>
                            <a:srgbClr val="2E7D54"/>
                          </a:solidFill>
                          <a:latin typeface="Segoe UI"/>
                        </a:rPr>
                        <a:t>Yes</a:t>
                      </a:r>
                    </a:p>
                  </a:txBody>
                  <a:tcPr marL="64008" marR="64008" marT="18288" marB="18288" anchor="ctr">
                    <a:solidFill>
                      <a:srgbClr val="F4F6F8"/>
                    </a:solidFill>
                  </a:tcPr>
                </a:tc>
                <a:tc>
                  <a:txBody>
                    <a:bodyPr wrap="square"/>
                    <a:lstStyle/>
                    <a:p>
                      <a:pPr algn="ctr"/>
                      <a:r>
                        <a:rPr sz="1100" b="1">
                          <a:solidFill>
                            <a:srgbClr val="A4343A"/>
                          </a:solidFill>
                          <a:latin typeface="Segoe UI"/>
                        </a:rPr>
                        <a:t>No</a:t>
                      </a:r>
                    </a:p>
                  </a:txBody>
                  <a:tcPr marL="64008" marR="64008" marT="18288" marB="18288" anchor="ctr">
                    <a:solidFill>
                      <a:srgbClr val="F4F6F8"/>
                    </a:solidFill>
                  </a:tcPr>
                </a:tc>
                <a:tc>
                  <a:txBody>
                    <a:bodyPr wrap="square"/>
                    <a:lstStyle/>
                    <a:p>
                      <a:pPr algn="ctr"/>
                      <a:r>
                        <a:rPr sz="1100" b="1">
                          <a:solidFill>
                            <a:srgbClr val="2E7D54"/>
                          </a:solidFill>
                          <a:latin typeface="Segoe UI"/>
                        </a:rPr>
                        <a:t>Yes</a:t>
                      </a:r>
                    </a:p>
                  </a:txBody>
                  <a:tcPr marL="64008" marR="64008" marT="18288" marB="18288" anchor="ctr">
                    <a:solidFill>
                      <a:srgbClr val="F4F6F8"/>
                    </a:solidFill>
                  </a:tcPr>
                </a:tc>
              </a:tr>
              <a:tr h="347472">
                <a:tc>
                  <a:txBody>
                    <a:bodyPr wrap="square"/>
                    <a:lstStyle/>
                    <a:p>
                      <a:pPr algn="l"/>
                      <a:r>
                        <a:rPr sz="1100" b="0">
                          <a:solidFill>
                            <a:srgbClr val="22272E"/>
                          </a:solidFill>
                          <a:latin typeface="Segoe UI"/>
                        </a:rPr>
                        <a:t>Gang scheduling</a:t>
                      </a:r>
                    </a:p>
                  </a:txBody>
                  <a:tcPr marL="64008" marR="64008" marT="18288" marB="18288" anchor="ctr">
                    <a:solidFill>
                      <a:srgbClr val="FFFFFF"/>
                    </a:solidFill>
                  </a:tcPr>
                </a:tc>
                <a:tc>
                  <a:txBody>
                    <a:bodyPr wrap="square"/>
                    <a:lstStyle/>
                    <a:p>
                      <a:pPr algn="ctr"/>
                      <a:r>
                        <a:rPr sz="1100" b="1">
                          <a:solidFill>
                            <a:srgbClr val="2E7D54"/>
                          </a:solidFill>
                          <a:latin typeface="Segoe UI"/>
                        </a:rPr>
                        <a:t>Ray native</a:t>
                      </a:r>
                    </a:p>
                  </a:txBody>
                  <a:tcPr marL="64008" marR="64008" marT="18288" marB="18288" anchor="ctr">
                    <a:solidFill>
                      <a:srgbClr val="FFFFFF"/>
                    </a:solidFill>
                  </a:tcPr>
                </a:tc>
                <a:tc>
                  <a:txBody>
                    <a:bodyPr wrap="square"/>
                    <a:lstStyle/>
                    <a:p>
                      <a:pPr algn="ctr"/>
                      <a:r>
                        <a:rPr sz="1100" b="1">
                          <a:solidFill>
                            <a:srgbClr val="2E7D54"/>
                          </a:solidFill>
                          <a:latin typeface="Segoe UI"/>
                        </a:rPr>
                        <a:t>MNP built in</a:t>
                      </a:r>
                    </a:p>
                  </a:txBody>
                  <a:tcPr marL="64008" marR="64008" marT="18288" marB="18288" anchor="ctr">
                    <a:solidFill>
                      <a:srgbClr val="FFFFFF"/>
                    </a:solidFill>
                  </a:tcPr>
                </a:tc>
                <a:tc>
                  <a:txBody>
                    <a:bodyPr wrap="square"/>
                    <a:lstStyle/>
                    <a:p>
                      <a:pPr algn="ctr"/>
                      <a:r>
                        <a:rPr sz="1100" b="1">
                          <a:solidFill>
                            <a:srgbClr val="A4343A"/>
                          </a:solidFill>
                          <a:latin typeface="Segoe UI"/>
                        </a:rPr>
                        <a:t>No primitive</a:t>
                      </a:r>
                    </a:p>
                  </a:txBody>
                  <a:tcPr marL="64008" marR="64008" marT="18288" marB="18288" anchor="ctr">
                    <a:solidFill>
                      <a:srgbClr val="FFFFFF"/>
                    </a:solidFill>
                  </a:tcPr>
                </a:tc>
              </a:tr>
              <a:tr h="347472">
                <a:tc>
                  <a:txBody>
                    <a:bodyPr wrap="square"/>
                    <a:lstStyle/>
                    <a:p>
                      <a:pPr algn="l"/>
                      <a:r>
                        <a:rPr sz="1100" b="0">
                          <a:solidFill>
                            <a:srgbClr val="22272E"/>
                          </a:solidFill>
                          <a:latin typeface="Segoe UI"/>
                        </a:rPr>
                        <a:t>Multi-node + EFA</a:t>
                      </a:r>
                    </a:p>
                  </a:txBody>
                  <a:tcPr marL="64008" marR="64008" marT="18288" marB="18288" anchor="ctr">
                    <a:solidFill>
                      <a:srgbClr val="F4F6F8"/>
                    </a:solidFill>
                  </a:tcPr>
                </a:tc>
                <a:tc>
                  <a:txBody>
                    <a:bodyPr wrap="square"/>
                    <a:lstStyle/>
                    <a:p>
                      <a:pPr algn="ctr"/>
                      <a:r>
                        <a:rPr sz="1100" b="1">
                          <a:solidFill>
                            <a:srgbClr val="2E7D54"/>
                          </a:solidFill>
                          <a:latin typeface="Segoe UI"/>
                        </a:rPr>
                        <a:t>Documented</a:t>
                      </a:r>
                    </a:p>
                  </a:txBody>
                  <a:tcPr marL="64008" marR="64008" marT="18288" marB="18288" anchor="ctr">
                    <a:solidFill>
                      <a:srgbClr val="F4F6F8"/>
                    </a:solidFill>
                  </a:tcPr>
                </a:tc>
                <a:tc>
                  <a:txBody>
                    <a:bodyPr wrap="square"/>
                    <a:lstStyle/>
                    <a:p>
                      <a:pPr algn="ctr"/>
                      <a:r>
                        <a:rPr sz="1100" b="1">
                          <a:solidFill>
                            <a:srgbClr val="B0760B"/>
                          </a:solidFill>
                          <a:latin typeface="Segoe UI"/>
                        </a:rPr>
                        <a:t>Undocumented on EKS</a:t>
                      </a:r>
                    </a:p>
                  </a:txBody>
                  <a:tcPr marL="64008" marR="64008" marT="18288" marB="18288" anchor="ctr">
                    <a:solidFill>
                      <a:srgbClr val="F4F6F8"/>
                    </a:solidFill>
                  </a:tcPr>
                </a:tc>
                <a:tc>
                  <a:txBody>
                    <a:bodyPr wrap="square"/>
                    <a:lstStyle/>
                    <a:p>
                      <a:pPr algn="ctr"/>
                      <a:r>
                        <a:rPr sz="1100" b="1">
                          <a:solidFill>
                            <a:srgbClr val="A4343A"/>
                          </a:solidFill>
                          <a:latin typeface="Segoe UI"/>
                        </a:rPr>
                        <a:t>Needs self-managed</a:t>
                      </a:r>
                    </a:p>
                  </a:txBody>
                  <a:tcPr marL="64008" marR="64008" marT="18288" marB="18288" anchor="ctr">
                    <a:solidFill>
                      <a:srgbClr val="F4F6F8"/>
                    </a:solidFill>
                  </a:tcPr>
                </a:tc>
              </a:tr>
              <a:tr h="347472">
                <a:tc>
                  <a:txBody>
                    <a:bodyPr wrap="square"/>
                    <a:lstStyle/>
                    <a:p>
                      <a:pPr algn="l"/>
                      <a:r>
                        <a:rPr sz="1100" b="0">
                          <a:solidFill>
                            <a:srgbClr val="22272E"/>
                          </a:solidFill>
                          <a:latin typeface="Segoe UI"/>
                        </a:rPr>
                        <a:t>Scheduler to operate</a:t>
                      </a:r>
                    </a:p>
                  </a:txBody>
                  <a:tcPr marL="64008" marR="64008" marT="18288" marB="18288" anchor="ctr">
                    <a:solidFill>
                      <a:srgbClr val="FFFFFF"/>
                    </a:solidFill>
                  </a:tcPr>
                </a:tc>
                <a:tc>
                  <a:txBody>
                    <a:bodyPr wrap="square"/>
                    <a:lstStyle/>
                    <a:p>
                      <a:pPr algn="ctr"/>
                      <a:r>
                        <a:rPr sz="1100" b="1">
                          <a:solidFill>
                            <a:srgbClr val="A4343A"/>
                          </a:solidFill>
                          <a:latin typeface="Segoe UI"/>
                        </a:rPr>
                        <a:t>Ours</a:t>
                      </a:r>
                    </a:p>
                  </a:txBody>
                  <a:tcPr marL="64008" marR="64008" marT="18288" marB="18288" anchor="ctr">
                    <a:solidFill>
                      <a:srgbClr val="FFFFFF"/>
                    </a:solidFill>
                  </a:tcPr>
                </a:tc>
                <a:tc>
                  <a:txBody>
                    <a:bodyPr wrap="square"/>
                    <a:lstStyle/>
                    <a:p>
                      <a:pPr algn="ctr"/>
                      <a:r>
                        <a:rPr sz="1100" b="1">
                          <a:solidFill>
                            <a:srgbClr val="2E7D54"/>
                          </a:solidFill>
                          <a:latin typeface="Segoe UI"/>
                        </a:rPr>
                        <a:t>Managed</a:t>
                      </a:r>
                    </a:p>
                  </a:txBody>
                  <a:tcPr marL="64008" marR="64008" marT="18288" marB="18288" anchor="ctr">
                    <a:solidFill>
                      <a:srgbClr val="FFFFFF"/>
                    </a:solidFill>
                  </a:tcPr>
                </a:tc>
                <a:tc>
                  <a:txBody>
                    <a:bodyPr wrap="square"/>
                    <a:lstStyle/>
                    <a:p>
                      <a:pPr algn="ctr"/>
                      <a:r>
                        <a:rPr sz="1100" b="1">
                          <a:solidFill>
                            <a:srgbClr val="B0760B"/>
                          </a:solidFill>
                          <a:latin typeface="Segoe UI"/>
                        </a:rPr>
                        <a:t>None, but no queue</a:t>
                      </a:r>
                    </a:p>
                  </a:txBody>
                  <a:tcPr marL="64008" marR="64008" marT="18288" marB="18288" anchor="ctr">
                    <a:solidFill>
                      <a:srgbClr val="FFFFFF"/>
                    </a:solidFill>
                  </a:tcPr>
                </a:tc>
              </a:tr>
              <a:tr h="347472">
                <a:tc>
                  <a:txBody>
                    <a:bodyPr wrap="square"/>
                    <a:lstStyle/>
                    <a:p>
                      <a:pPr algn="l"/>
                      <a:r>
                        <a:rPr sz="1100" b="0">
                          <a:solidFill>
                            <a:srgbClr val="22272E"/>
                          </a:solidFill>
                          <a:latin typeface="Segoe UI"/>
                        </a:rPr>
                        <a:t>GPU fleet operations</a:t>
                      </a:r>
                    </a:p>
                  </a:txBody>
                  <a:tcPr marL="64008" marR="64008" marT="18288" marB="18288" anchor="ctr">
                    <a:solidFill>
                      <a:srgbClr val="F4F6F8"/>
                    </a:solidFill>
                  </a:tcPr>
                </a:tc>
                <a:tc>
                  <a:txBody>
                    <a:bodyPr wrap="square"/>
                    <a:lstStyle/>
                    <a:p>
                      <a:pPr algn="ctr"/>
                      <a:r>
                        <a:rPr sz="1100" b="1">
                          <a:solidFill>
                            <a:srgbClr val="A4343A"/>
                          </a:solidFill>
                          <a:latin typeface="Segoe UI"/>
                        </a:rPr>
                        <a:t>Ours</a:t>
                      </a:r>
                    </a:p>
                  </a:txBody>
                  <a:tcPr marL="64008" marR="64008" marT="18288" marB="18288" anchor="ctr">
                    <a:solidFill>
                      <a:srgbClr val="F4F6F8"/>
                    </a:solidFill>
                  </a:tcPr>
                </a:tc>
                <a:tc>
                  <a:txBody>
                    <a:bodyPr wrap="square"/>
                    <a:lstStyle/>
                    <a:p>
                      <a:pPr algn="ctr"/>
                      <a:r>
                        <a:rPr sz="1100" b="1">
                          <a:solidFill>
                            <a:srgbClr val="B0760B"/>
                          </a:solidFill>
                          <a:latin typeface="Segoe UI"/>
                        </a:rPr>
                        <a:t>AWS manages CE</a:t>
                      </a:r>
                    </a:p>
                  </a:txBody>
                  <a:tcPr marL="64008" marR="64008" marT="18288" marB="18288" anchor="ctr">
                    <a:solidFill>
                      <a:srgbClr val="F4F6F8"/>
                    </a:solidFill>
                  </a:tcPr>
                </a:tc>
                <a:tc>
                  <a:txBody>
                    <a:bodyPr wrap="square"/>
                    <a:lstStyle/>
                    <a:p>
                      <a:pPr algn="ctr"/>
                      <a:r>
                        <a:rPr sz="1100" b="1">
                          <a:solidFill>
                            <a:srgbClr val="2E7D54"/>
                          </a:solidFill>
                          <a:latin typeface="Segoe UI"/>
                        </a:rPr>
                        <a:t>Most managed</a:t>
                      </a:r>
                    </a:p>
                  </a:txBody>
                  <a:tcPr marL="64008" marR="64008" marT="18288" marB="18288" anchor="ctr">
                    <a:solidFill>
                      <a:srgbClr val="F4F6F8"/>
                    </a:solidFill>
                  </a:tcPr>
                </a:tc>
              </a:tr>
              <a:tr h="347472">
                <a:tc>
                  <a:txBody>
                    <a:bodyPr wrap="square"/>
                    <a:lstStyle/>
                    <a:p>
                      <a:pPr algn="l"/>
                      <a:r>
                        <a:rPr sz="1100" b="0">
                          <a:solidFill>
                            <a:srgbClr val="22272E"/>
                          </a:solidFill>
                          <a:latin typeface="Segoe UI"/>
                        </a:rPr>
                        <a:t>Fair-share / Phase 2</a:t>
                      </a:r>
                    </a:p>
                  </a:txBody>
                  <a:tcPr marL="64008" marR="64008" marT="18288" marB="18288" anchor="ctr">
                    <a:solidFill>
                      <a:srgbClr val="FFFFFF"/>
                    </a:solidFill>
                  </a:tcPr>
                </a:tc>
                <a:tc>
                  <a:txBody>
                    <a:bodyPr wrap="square"/>
                    <a:lstStyle/>
                    <a:p>
                      <a:pPr algn="ctr"/>
                      <a:r>
                        <a:rPr sz="1100" b="1">
                          <a:solidFill>
                            <a:srgbClr val="B0760B"/>
                          </a:solidFill>
                          <a:latin typeface="Segoe UI"/>
                        </a:rPr>
                        <a:t>Hand-built</a:t>
                      </a:r>
                    </a:p>
                  </a:txBody>
                  <a:tcPr marL="64008" marR="64008" marT="18288" marB="18288" anchor="ctr">
                    <a:solidFill>
                      <a:srgbClr val="FFFFFF"/>
                    </a:solidFill>
                  </a:tcPr>
                </a:tc>
                <a:tc>
                  <a:txBody>
                    <a:bodyPr wrap="square"/>
                    <a:lstStyle/>
                    <a:p>
                      <a:pPr algn="ctr"/>
                      <a:r>
                        <a:rPr sz="1100" b="1">
                          <a:solidFill>
                            <a:srgbClr val="2E7D54"/>
                          </a:solidFill>
                          <a:latin typeface="Segoe UI"/>
                        </a:rPr>
                        <a:t>Native</a:t>
                      </a:r>
                    </a:p>
                  </a:txBody>
                  <a:tcPr marL="64008" marR="64008" marT="18288" marB="18288" anchor="ctr">
                    <a:solidFill>
                      <a:srgbClr val="FFFFFF"/>
                    </a:solidFill>
                  </a:tcPr>
                </a:tc>
                <a:tc>
                  <a:txBody>
                    <a:bodyPr wrap="square"/>
                    <a:lstStyle/>
                    <a:p>
                      <a:pPr algn="ctr"/>
                      <a:r>
                        <a:rPr sz="1100" b="1">
                          <a:solidFill>
                            <a:srgbClr val="A4343A"/>
                          </a:solidFill>
                          <a:latin typeface="Segoe UI"/>
                        </a:rPr>
                        <a:t>Nothing</a:t>
                      </a:r>
                    </a:p>
                  </a:txBody>
                  <a:tcPr marL="64008" marR="64008" marT="18288" marB="18288" anchor="ctr">
                    <a:solidFill>
                      <a:srgbClr val="FFFFFF"/>
                    </a:solidFill>
                  </a:tcPr>
                </a:tc>
              </a:tr>
              <a:tr h="347472">
                <a:tc>
                  <a:txBody>
                    <a:bodyPr wrap="square"/>
                    <a:lstStyle/>
                    <a:p>
                      <a:pPr algn="l"/>
                      <a:r>
                        <a:rPr sz="1100" b="0">
                          <a:solidFill>
                            <a:srgbClr val="22272E"/>
                          </a:solidFill>
                          <a:latin typeface="Segoe UI"/>
                        </a:rPr>
                        <a:t>Pend-time metric</a:t>
                      </a:r>
                    </a:p>
                  </a:txBody>
                  <a:tcPr marL="64008" marR="64008" marT="18288" marB="18288" anchor="ctr">
                    <a:solidFill>
                      <a:srgbClr val="F4F6F8"/>
                    </a:solidFill>
                  </a:tcPr>
                </a:tc>
                <a:tc>
                  <a:txBody>
                    <a:bodyPr wrap="square"/>
                    <a:lstStyle/>
                    <a:p>
                      <a:pPr algn="ctr"/>
                      <a:r>
                        <a:rPr sz="1100" b="1">
                          <a:solidFill>
                            <a:srgbClr val="B0760B"/>
                          </a:solidFill>
                          <a:latin typeface="Segoe UI"/>
                        </a:rPr>
                        <a:t>Build it</a:t>
                      </a:r>
                    </a:p>
                  </a:txBody>
                  <a:tcPr marL="64008" marR="64008" marT="18288" marB="18288" anchor="ctr">
                    <a:solidFill>
                      <a:srgbClr val="F4F6F8"/>
                    </a:solidFill>
                  </a:tcPr>
                </a:tc>
                <a:tc>
                  <a:txBody>
                    <a:bodyPr wrap="square"/>
                    <a:lstStyle/>
                    <a:p>
                      <a:pPr algn="ctr"/>
                      <a:r>
                        <a:rPr sz="1100" b="1">
                          <a:solidFill>
                            <a:srgbClr val="2E7D54"/>
                          </a:solidFill>
                          <a:latin typeface="Segoe UI"/>
                        </a:rPr>
                        <a:t>Native</a:t>
                      </a:r>
                    </a:p>
                  </a:txBody>
                  <a:tcPr marL="64008" marR="64008" marT="18288" marB="18288" anchor="ctr">
                    <a:solidFill>
                      <a:srgbClr val="F4F6F8"/>
                    </a:solidFill>
                  </a:tcPr>
                </a:tc>
                <a:tc>
                  <a:txBody>
                    <a:bodyPr wrap="square"/>
                    <a:lstStyle/>
                    <a:p>
                      <a:pPr algn="ctr"/>
                      <a:r>
                        <a:rPr sz="1100" b="1">
                          <a:solidFill>
                            <a:srgbClr val="A4343A"/>
                          </a:solidFill>
                          <a:latin typeface="Segoe UI"/>
                        </a:rPr>
                        <a:t>No queue</a:t>
                      </a:r>
                    </a:p>
                  </a:txBody>
                  <a:tcPr marL="64008" marR="64008" marT="18288" marB="18288" anchor="ctr">
                    <a:solidFill>
                      <a:srgbClr val="F4F6F8"/>
                    </a:solidFill>
                  </a:tcPr>
                </a:tc>
              </a:tr>
              <a:tr h="347472">
                <a:tc>
                  <a:txBody>
                    <a:bodyPr wrap="square"/>
                    <a:lstStyle/>
                    <a:p>
                      <a:pPr algn="l"/>
                      <a:r>
                        <a:rPr sz="1100" b="0">
                          <a:solidFill>
                            <a:srgbClr val="22272E"/>
                          </a:solidFill>
                          <a:latin typeface="Segoe UI"/>
                        </a:rPr>
                        <a:t>Spot eligibility</a:t>
                      </a:r>
                    </a:p>
                  </a:txBody>
                  <a:tcPr marL="64008" marR="64008" marT="18288" marB="18288" anchor="ctr">
                    <a:solidFill>
                      <a:srgbClr val="FFFFFF"/>
                    </a:solidFill>
                  </a:tcPr>
                </a:tc>
                <a:tc>
                  <a:txBody>
                    <a:bodyPr wrap="square"/>
                    <a:lstStyle/>
                    <a:p>
                      <a:pPr algn="ctr"/>
                      <a:r>
                        <a:rPr sz="1100" b="1">
                          <a:solidFill>
                            <a:srgbClr val="2E7D54"/>
                          </a:solidFill>
                          <a:latin typeface="Segoe UI"/>
                        </a:rPr>
                        <a:t>Yes</a:t>
                      </a:r>
                    </a:p>
                  </a:txBody>
                  <a:tcPr marL="64008" marR="64008" marT="18288" marB="18288" anchor="ctr">
                    <a:solidFill>
                      <a:srgbClr val="FFFFFF"/>
                    </a:solidFill>
                  </a:tcPr>
                </a:tc>
                <a:tc>
                  <a:txBody>
                    <a:bodyPr wrap="square"/>
                    <a:lstStyle/>
                    <a:p>
                      <a:pPr algn="ctr"/>
                      <a:r>
                        <a:rPr sz="1100" b="1">
                          <a:solidFill>
                            <a:srgbClr val="A4343A"/>
                          </a:solidFill>
                          <a:latin typeface="Segoe UI"/>
                        </a:rPr>
                        <a:t>Not for MNP</a:t>
                      </a:r>
                    </a:p>
                  </a:txBody>
                  <a:tcPr marL="64008" marR="64008" marT="18288" marB="18288" anchor="ctr">
                    <a:solidFill>
                      <a:srgbClr val="FFFFFF"/>
                    </a:solidFill>
                  </a:tcPr>
                </a:tc>
                <a:tc>
                  <a:txBody>
                    <a:bodyPr wrap="square"/>
                    <a:lstStyle/>
                    <a:p>
                      <a:pPr algn="ctr"/>
                      <a:r>
                        <a:rPr sz="1100" b="1">
                          <a:solidFill>
                            <a:srgbClr val="2E7D54"/>
                          </a:solidFill>
                          <a:latin typeface="Segoe UI"/>
                        </a:rPr>
                        <a:t>Yes</a:t>
                      </a:r>
                    </a:p>
                  </a:txBody>
                  <a:tcPr marL="64008" marR="64008" marT="18288" marB="18288" anchor="ctr">
                    <a:solidFill>
                      <a:srgbClr val="FFFFFF"/>
                    </a:solidFill>
                  </a:tcPr>
                </a:tc>
              </a:tr>
              <a:tr h="347472">
                <a:tc>
                  <a:txBody>
                    <a:bodyPr wrap="square"/>
                    <a:lstStyle/>
                    <a:p>
                      <a:pPr algn="l"/>
                      <a:r>
                        <a:rPr sz="1100" b="0">
                          <a:solidFill>
                            <a:srgbClr val="22272E"/>
                          </a:solidFill>
                          <a:latin typeface="Segoe UI"/>
                        </a:rPr>
                        <a:t>Ray ecosystem</a:t>
                      </a:r>
                    </a:p>
                  </a:txBody>
                  <a:tcPr marL="64008" marR="64008" marT="18288" marB="18288" anchor="ctr">
                    <a:solidFill>
                      <a:srgbClr val="F4F6F8"/>
                    </a:solidFill>
                  </a:tcPr>
                </a:tc>
                <a:tc>
                  <a:txBody>
                    <a:bodyPr wrap="square"/>
                    <a:lstStyle/>
                    <a:p>
                      <a:pPr algn="ctr"/>
                      <a:r>
                        <a:rPr sz="1100" b="1">
                          <a:solidFill>
                            <a:srgbClr val="2E7D54"/>
                          </a:solidFill>
                          <a:latin typeface="Segoe UI"/>
                        </a:rPr>
                        <a:t>Full</a:t>
                      </a:r>
                    </a:p>
                  </a:txBody>
                  <a:tcPr marL="64008" marR="64008" marT="18288" marB="18288" anchor="ctr">
                    <a:solidFill>
                      <a:srgbClr val="F4F6F8"/>
                    </a:solidFill>
                  </a:tcPr>
                </a:tc>
                <a:tc>
                  <a:txBody>
                    <a:bodyPr wrap="square"/>
                    <a:lstStyle/>
                    <a:p>
                      <a:pPr algn="ctr"/>
                      <a:r>
                        <a:rPr sz="1100" b="1">
                          <a:solidFill>
                            <a:srgbClr val="A4343A"/>
                          </a:solidFill>
                          <a:latin typeface="Segoe UI"/>
                        </a:rPr>
                        <a:t>Execution only</a:t>
                      </a:r>
                    </a:p>
                  </a:txBody>
                  <a:tcPr marL="64008" marR="64008" marT="18288" marB="18288" anchor="ctr">
                    <a:solidFill>
                      <a:srgbClr val="F4F6F8"/>
                    </a:solidFill>
                  </a:tcPr>
                </a:tc>
                <a:tc>
                  <a:txBody>
                    <a:bodyPr wrap="square"/>
                    <a:lstStyle/>
                    <a:p>
                      <a:pPr algn="ctr"/>
                      <a:r>
                        <a:rPr sz="1100" b="1">
                          <a:solidFill>
                            <a:srgbClr val="B0760B"/>
                          </a:solidFill>
                          <a:latin typeface="Segoe UI"/>
                        </a:rPr>
                        <a:t>Partial</a:t>
                      </a:r>
                    </a:p>
                  </a:txBody>
                  <a:tcPr marL="64008" marR="64008" marT="18288" marB="18288" anchor="ctr">
                    <a:solidFill>
                      <a:srgbClr val="F4F6F8"/>
                    </a:solidFill>
                  </a:tcPr>
                </a:tc>
              </a:tr>
              <a:tr h="347472">
                <a:tc>
                  <a:txBody>
                    <a:bodyPr wrap="square"/>
                    <a:lstStyle/>
                    <a:p>
                      <a:pPr algn="l"/>
                      <a:r>
                        <a:rPr sz="1100" b="0">
                          <a:solidFill>
                            <a:srgbClr val="22272E"/>
                          </a:solidFill>
                          <a:latin typeface="Segoe UI"/>
                        </a:rPr>
                        <a:t>Tri-environment parity</a:t>
                      </a:r>
                    </a:p>
                  </a:txBody>
                  <a:tcPr marL="64008" marR="64008" marT="18288" marB="18288" anchor="ctr">
                    <a:solidFill>
                      <a:srgbClr val="FFFFFF"/>
                    </a:solidFill>
                  </a:tcPr>
                </a:tc>
                <a:tc>
                  <a:txBody>
                    <a:bodyPr wrap="square"/>
                    <a:lstStyle/>
                    <a:p>
                      <a:pPr algn="ctr"/>
                      <a:r>
                        <a:rPr sz="1100" b="1">
                          <a:solidFill>
                            <a:srgbClr val="2E7D54"/>
                          </a:solidFill>
                          <a:latin typeface="Segoe UI"/>
                        </a:rPr>
                        <a:t>Yes</a:t>
                      </a:r>
                    </a:p>
                  </a:txBody>
                  <a:tcPr marL="64008" marR="64008" marT="18288" marB="18288" anchor="ctr">
                    <a:solidFill>
                      <a:srgbClr val="FFFFFF"/>
                    </a:solidFill>
                  </a:tcPr>
                </a:tc>
                <a:tc>
                  <a:txBody>
                    <a:bodyPr wrap="square"/>
                    <a:lstStyle/>
                    <a:p>
                      <a:pPr algn="ctr"/>
                      <a:r>
                        <a:rPr sz="1100" b="1">
                          <a:solidFill>
                            <a:srgbClr val="A4343A"/>
                          </a:solidFill>
                          <a:latin typeface="Segoe UI"/>
                        </a:rPr>
                        <a:t>AWS only</a:t>
                      </a:r>
                    </a:p>
                  </a:txBody>
                  <a:tcPr marL="64008" marR="64008" marT="18288" marB="18288" anchor="ctr">
                    <a:solidFill>
                      <a:srgbClr val="FFFFFF"/>
                    </a:solidFill>
                  </a:tcPr>
                </a:tc>
                <a:tc>
                  <a:txBody>
                    <a:bodyPr wrap="square"/>
                    <a:lstStyle/>
                    <a:p>
                      <a:pPr algn="ctr"/>
                      <a:r>
                        <a:rPr sz="1100" b="1">
                          <a:solidFill>
                            <a:srgbClr val="A4343A"/>
                          </a:solidFill>
                          <a:latin typeface="Segoe UI"/>
                        </a:rPr>
                        <a:t>AWS only</a:t>
                      </a:r>
                    </a:p>
                  </a:txBody>
                  <a:tcPr marL="64008" marR="64008" marT="18288" marB="18288" anchor="ctr">
                    <a:solidFill>
                      <a:srgbClr val="FFFFFF"/>
                    </a:solidFill>
                  </a:tcPr>
                </a:tc>
              </a:tr>
              <a:tr h="347472">
                <a:tc>
                  <a:txBody>
                    <a:bodyPr wrap="square"/>
                    <a:lstStyle/>
                    <a:p>
                      <a:pPr algn="l"/>
                      <a:r>
                        <a:rPr sz="1100" b="0">
                          <a:solidFill>
                            <a:srgbClr val="22272E"/>
                          </a:solidFill>
                          <a:latin typeface="Segoe UI"/>
                        </a:rPr>
                        <a:t>EKS / Ray / Argo mandate</a:t>
                      </a:r>
                    </a:p>
                  </a:txBody>
                  <a:tcPr marL="64008" marR="64008" marT="18288" marB="18288" anchor="ctr">
                    <a:solidFill>
                      <a:srgbClr val="F4F6F8"/>
                    </a:solidFill>
                  </a:tcPr>
                </a:tc>
                <a:tc>
                  <a:txBody>
                    <a:bodyPr wrap="square"/>
                    <a:lstStyle/>
                    <a:p>
                      <a:pPr algn="ctr"/>
                      <a:r>
                        <a:rPr sz="1100" b="1">
                          <a:solidFill>
                            <a:srgbClr val="2E7D54"/>
                          </a:solidFill>
                          <a:latin typeface="Segoe UI"/>
                        </a:rPr>
                        <a:t>As named</a:t>
                      </a:r>
                    </a:p>
                  </a:txBody>
                  <a:tcPr marL="64008" marR="64008" marT="18288" marB="18288" anchor="ctr">
                    <a:solidFill>
                      <a:srgbClr val="F4F6F8"/>
                    </a:solidFill>
                  </a:tcPr>
                </a:tc>
                <a:tc>
                  <a:txBody>
                    <a:bodyPr wrap="square"/>
                    <a:lstStyle/>
                    <a:p>
                      <a:pPr algn="ctr"/>
                      <a:r>
                        <a:rPr sz="1100" b="1">
                          <a:solidFill>
                            <a:srgbClr val="B0760B"/>
                          </a:solidFill>
                          <a:latin typeface="Segoe UI"/>
                        </a:rPr>
                        <a:t>Partial</a:t>
                      </a:r>
                    </a:p>
                  </a:txBody>
                  <a:tcPr marL="64008" marR="64008" marT="18288" marB="18288" anchor="ctr">
                    <a:solidFill>
                      <a:srgbClr val="F4F6F8"/>
                    </a:solidFill>
                  </a:tcPr>
                </a:tc>
                <a:tc>
                  <a:txBody>
                    <a:bodyPr wrap="square"/>
                    <a:lstStyle/>
                    <a:p>
                      <a:pPr algn="ctr"/>
                      <a:r>
                        <a:rPr sz="1100" b="1">
                          <a:solidFill>
                            <a:srgbClr val="A4343A"/>
                          </a:solidFill>
                          <a:latin typeface="Segoe UI"/>
                        </a:rPr>
                        <a:t>None</a:t>
                      </a:r>
                    </a:p>
                  </a:txBody>
                  <a:tcPr marL="64008" marR="64008" marT="18288" marB="18288" anchor="ctr">
                    <a:solidFill>
                      <a:srgbClr val="F4F6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A DAY IN THE LIFE</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What it feels like to use</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TextBox 5"/>
          <p:cNvSpPr txBox="1"/>
          <p:nvPr/>
        </p:nvSpPr>
        <p:spPr>
          <a:xfrm>
            <a:off x="548640" y="1325880"/>
            <a:ext cx="11064240" cy="320040"/>
          </a:xfrm>
          <a:prstGeom prst="rect">
            <a:avLst/>
          </a:prstGeom>
          <a:noFill/>
        </p:spPr>
        <p:txBody>
          <a:bodyPr wrap="square" lIns="0" rIns="0" tIns="0" bIns="0">
            <a:spAutoFit/>
          </a:bodyPr>
          <a:lstStyle/>
          <a:p>
            <a:pPr algn="l">
              <a:lnSpc>
                <a:spcPct val="115000"/>
              </a:lnSpc>
              <a:spcAft>
                <a:spcPts val="600"/>
              </a:spcAft>
            </a:pPr>
            <a:r>
              <a:rPr sz="1250" b="0">
                <a:solidFill>
                  <a:srgbClr val="6B7280"/>
                </a:solidFill>
                <a:latin typeface="Segoe UI"/>
              </a:rPr>
              <a:t>A researcher changes one line of code and runs it again. The same loop, twenty times a day.</a:t>
            </a:r>
          </a:p>
        </p:txBody>
      </p:sp>
      <p:sp>
        <p:nvSpPr>
          <p:cNvPr id="7" name="Rounded Rectangle 6"/>
          <p:cNvSpPr/>
          <p:nvPr/>
        </p:nvSpPr>
        <p:spPr>
          <a:xfrm>
            <a:off x="548640" y="1783080"/>
            <a:ext cx="3538728" cy="36576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783080"/>
            <a:ext cx="3538728" cy="50800"/>
          </a:xfrm>
          <a:prstGeom prst="rect">
            <a:avLst/>
          </a:prstGeom>
          <a:solidFill>
            <a:srgbClr val="2E7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11680"/>
            <a:ext cx="3081528" cy="32004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EKS + Karpenter + Ray</a:t>
            </a:r>
          </a:p>
        </p:txBody>
      </p:sp>
      <p:sp>
        <p:nvSpPr>
          <p:cNvPr id="10" name="TextBox 9"/>
          <p:cNvSpPr txBox="1"/>
          <p:nvPr/>
        </p:nvSpPr>
        <p:spPr>
          <a:xfrm>
            <a:off x="777240" y="2487168"/>
            <a:ext cx="3081528" cy="2194560"/>
          </a:xfrm>
          <a:prstGeom prst="rect">
            <a:avLst/>
          </a:prstGeom>
          <a:noFill/>
        </p:spPr>
        <p:txBody>
          <a:bodyPr wrap="square" lIns="0" rIns="0" tIns="0" bIns="0">
            <a:spAutoFit/>
          </a:bodyPr>
          <a:lstStyle/>
          <a:p>
            <a:pPr algn="l">
              <a:lnSpc>
                <a:spcPct val="110000"/>
              </a:lnSpc>
              <a:spcAft>
                <a:spcPts val="500"/>
              </a:spcAft>
            </a:pPr>
            <a:r>
              <a:rPr sz="1150" b="0">
                <a:solidFill>
                  <a:srgbClr val="22272E"/>
                </a:solidFill>
                <a:latin typeface="Segoe UI"/>
              </a:rPr>
              <a:t>Edit the file in the dev pod</a:t>
            </a:r>
          </a:p>
          <a:p>
            <a:pPr algn="l">
              <a:lnSpc>
                <a:spcPct val="110000"/>
              </a:lnSpc>
              <a:spcAft>
                <a:spcPts val="500"/>
              </a:spcAft>
            </a:pPr>
            <a:r>
              <a:rPr sz="1150" b="0">
                <a:solidFill>
                  <a:srgbClr val="22272E"/>
                </a:solidFill>
                <a:latin typeface="Segoe UI"/>
              </a:rPr>
              <a:t>ray job submit</a:t>
            </a:r>
          </a:p>
          <a:p>
            <a:pPr algn="l">
              <a:lnSpc>
                <a:spcPct val="110000"/>
              </a:lnSpc>
              <a:spcAft>
                <a:spcPts val="500"/>
              </a:spcAft>
            </a:pPr>
            <a:r>
              <a:rPr sz="1150" b="0">
                <a:solidFill>
                  <a:srgbClr val="22272E"/>
                </a:solidFill>
                <a:latin typeface="Segoe UI"/>
              </a:rPr>
              <a:t>Runs on a live cluster — output</a:t>
            </a:r>
          </a:p>
          <a:p>
            <a:pPr algn="l">
              <a:lnSpc>
                <a:spcPct val="110000"/>
              </a:lnSpc>
              <a:spcAft>
                <a:spcPts val="500"/>
              </a:spcAft>
            </a:pPr>
            <a:r>
              <a:rPr sz="1150" b="0">
                <a:solidFill>
                  <a:srgbClr val="22272E"/>
                </a:solidFill>
                <a:latin typeface="Segoe UI"/>
              </a:rPr>
              <a:t>starts within seconds</a:t>
            </a:r>
          </a:p>
          <a:p>
            <a:pPr algn="l">
              <a:lnSpc>
                <a:spcPct val="110000"/>
              </a:lnSpc>
              <a:spcAft>
                <a:spcPts val="500"/>
              </a:spcAft>
            </a:pPr>
            <a:r>
              <a:rPr sz="1150" b="0">
                <a:solidFill>
                  <a:srgbClr val="22272E"/>
                </a:solidFill>
                <a:latin typeface="Segoe UI"/>
              </a:rPr>
              <a:t>Spot the bug, edit, resubmit</a:t>
            </a:r>
          </a:p>
          <a:p>
            <a:pPr algn="l">
              <a:lnSpc>
                <a:spcPct val="110000"/>
              </a:lnSpc>
              <a:spcAft>
                <a:spcPts val="500"/>
              </a:spcAft>
            </a:pPr>
            <a:r>
              <a:rPr sz="1150" b="0">
                <a:solidFill>
                  <a:srgbClr val="22272E"/>
                </a:solidFill>
                <a:latin typeface="Segoe UI"/>
              </a:rPr>
              <a:t/>
            </a:r>
          </a:p>
        </p:txBody>
      </p:sp>
      <p:sp>
        <p:nvSpPr>
          <p:cNvPr id="11" name="TextBox 10"/>
          <p:cNvSpPr txBox="1"/>
          <p:nvPr/>
        </p:nvSpPr>
        <p:spPr>
          <a:xfrm>
            <a:off x="777240" y="4892040"/>
            <a:ext cx="3081528" cy="365760"/>
          </a:xfrm>
          <a:prstGeom prst="rect">
            <a:avLst/>
          </a:prstGeom>
          <a:noFill/>
        </p:spPr>
        <p:txBody>
          <a:bodyPr wrap="square" lIns="0" rIns="0" tIns="0" bIns="0">
            <a:spAutoFit/>
          </a:bodyPr>
          <a:lstStyle/>
          <a:p>
            <a:pPr algn="l">
              <a:lnSpc>
                <a:spcPct val="115000"/>
              </a:lnSpc>
              <a:spcAft>
                <a:spcPts val="600"/>
              </a:spcAft>
            </a:pPr>
            <a:r>
              <a:rPr sz="1250" b="1">
                <a:solidFill>
                  <a:srgbClr val="2E7D54"/>
                </a:solidFill>
                <a:latin typeface="Segoe UI"/>
              </a:rPr>
              <a:t>≈ 20 iterations in an afternoon</a:t>
            </a:r>
          </a:p>
        </p:txBody>
      </p:sp>
      <p:sp>
        <p:nvSpPr>
          <p:cNvPr id="12" name="Rounded Rectangle 11"/>
          <p:cNvSpPr/>
          <p:nvPr/>
        </p:nvSpPr>
        <p:spPr>
          <a:xfrm>
            <a:off x="4325112" y="1783080"/>
            <a:ext cx="3538728" cy="36576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5112" y="1783080"/>
            <a:ext cx="3538728" cy="50800"/>
          </a:xfrm>
          <a:prstGeom prst="rect">
            <a:avLst/>
          </a:prstGeom>
          <a:solidFill>
            <a:srgbClr val="A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011680"/>
            <a:ext cx="3081528" cy="32004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AWS Batch</a:t>
            </a:r>
          </a:p>
        </p:txBody>
      </p:sp>
      <p:sp>
        <p:nvSpPr>
          <p:cNvPr id="15" name="TextBox 14"/>
          <p:cNvSpPr txBox="1"/>
          <p:nvPr/>
        </p:nvSpPr>
        <p:spPr>
          <a:xfrm>
            <a:off x="4553712" y="2487168"/>
            <a:ext cx="3081528" cy="2194560"/>
          </a:xfrm>
          <a:prstGeom prst="rect">
            <a:avLst/>
          </a:prstGeom>
          <a:noFill/>
        </p:spPr>
        <p:txBody>
          <a:bodyPr wrap="square" lIns="0" rIns="0" tIns="0" bIns="0">
            <a:spAutoFit/>
          </a:bodyPr>
          <a:lstStyle/>
          <a:p>
            <a:pPr algn="l">
              <a:lnSpc>
                <a:spcPct val="110000"/>
              </a:lnSpc>
              <a:spcAft>
                <a:spcPts val="500"/>
              </a:spcAft>
            </a:pPr>
            <a:r>
              <a:rPr sz="1150" b="0">
                <a:solidFill>
                  <a:srgbClr val="22272E"/>
                </a:solidFill>
                <a:latin typeface="Segoe UI"/>
              </a:rPr>
              <a:t>Edit the file in the dev pod</a:t>
            </a:r>
          </a:p>
          <a:p>
            <a:pPr algn="l">
              <a:lnSpc>
                <a:spcPct val="110000"/>
              </a:lnSpc>
              <a:spcAft>
                <a:spcPts val="500"/>
              </a:spcAft>
            </a:pPr>
            <a:r>
              <a:rPr sz="1150" b="0">
                <a:solidFill>
                  <a:srgbClr val="22272E"/>
                </a:solidFill>
                <a:latin typeface="Segoe UI"/>
              </a:rPr>
              <a:t>aws batch submit-job</a:t>
            </a:r>
          </a:p>
          <a:p>
            <a:pPr algn="l">
              <a:lnSpc>
                <a:spcPct val="110000"/>
              </a:lnSpc>
              <a:spcAft>
                <a:spcPts val="500"/>
              </a:spcAft>
            </a:pPr>
            <a:r>
              <a:rPr sz="1150" b="0">
                <a:solidFill>
                  <a:srgbClr val="22272E"/>
                </a:solidFill>
                <a:latin typeface="Segoe UI"/>
              </a:rPr>
              <a:t>RUNNABLE … wait. Nodes provision,</a:t>
            </a:r>
          </a:p>
          <a:p>
            <a:pPr algn="l">
              <a:lnSpc>
                <a:spcPct val="110000"/>
              </a:lnSpc>
              <a:spcAft>
                <a:spcPts val="500"/>
              </a:spcAft>
            </a:pPr>
            <a:r>
              <a:rPr sz="1150" b="0">
                <a:solidFill>
                  <a:srgbClr val="22272E"/>
                </a:solidFill>
                <a:latin typeface="Segoe UI"/>
              </a:rPr>
              <a:t>image pulls, runtime bootstraps</a:t>
            </a:r>
          </a:p>
          <a:p>
            <a:pPr algn="l">
              <a:lnSpc>
                <a:spcPct val="110000"/>
              </a:lnSpc>
              <a:spcAft>
                <a:spcPts val="500"/>
              </a:spcAft>
            </a:pPr>
            <a:r>
              <a:rPr sz="1150" b="0">
                <a:solidFill>
                  <a:srgbClr val="22272E"/>
                </a:solidFill>
                <a:latin typeface="Segoe UI"/>
              </a:rPr>
              <a:t>First log line after 3–6 minutes</a:t>
            </a:r>
          </a:p>
          <a:p>
            <a:pPr algn="l">
              <a:lnSpc>
                <a:spcPct val="110000"/>
              </a:lnSpc>
              <a:spcAft>
                <a:spcPts val="500"/>
              </a:spcAft>
            </a:pPr>
            <a:r>
              <a:rPr sz="1150" b="0">
                <a:solidFill>
                  <a:srgbClr val="22272E"/>
                </a:solidFill>
                <a:latin typeface="Segoe UI"/>
              </a:rPr>
              <a:t/>
            </a:r>
          </a:p>
        </p:txBody>
      </p:sp>
      <p:sp>
        <p:nvSpPr>
          <p:cNvPr id="16" name="TextBox 15"/>
          <p:cNvSpPr txBox="1"/>
          <p:nvPr/>
        </p:nvSpPr>
        <p:spPr>
          <a:xfrm>
            <a:off x="4553712" y="4892040"/>
            <a:ext cx="3081528" cy="365760"/>
          </a:xfrm>
          <a:prstGeom prst="rect">
            <a:avLst/>
          </a:prstGeom>
          <a:noFill/>
        </p:spPr>
        <p:txBody>
          <a:bodyPr wrap="square" lIns="0" rIns="0" tIns="0" bIns="0">
            <a:spAutoFit/>
          </a:bodyPr>
          <a:lstStyle/>
          <a:p>
            <a:pPr algn="l">
              <a:lnSpc>
                <a:spcPct val="115000"/>
              </a:lnSpc>
              <a:spcAft>
                <a:spcPts val="600"/>
              </a:spcAft>
            </a:pPr>
            <a:r>
              <a:rPr sz="1250" b="1">
                <a:solidFill>
                  <a:srgbClr val="A4343A"/>
                </a:solidFill>
                <a:latin typeface="Segoe UI"/>
              </a:rPr>
              <a:t>≈ 6 iterations in an afternoon</a:t>
            </a:r>
          </a:p>
        </p:txBody>
      </p:sp>
      <p:sp>
        <p:nvSpPr>
          <p:cNvPr id="17" name="Rounded Rectangle 16"/>
          <p:cNvSpPr/>
          <p:nvPr/>
        </p:nvSpPr>
        <p:spPr>
          <a:xfrm>
            <a:off x="8101584" y="1783080"/>
            <a:ext cx="3538728" cy="36576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101584" y="1783080"/>
            <a:ext cx="3538728" cy="50800"/>
          </a:xfrm>
          <a:prstGeom prst="rect">
            <a:avLst/>
          </a:prstGeom>
          <a:solidFill>
            <a:srgbClr val="B0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0184" y="2011680"/>
            <a:ext cx="3081528" cy="32004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Amazon ECS</a:t>
            </a:r>
          </a:p>
        </p:txBody>
      </p:sp>
      <p:sp>
        <p:nvSpPr>
          <p:cNvPr id="20" name="TextBox 19"/>
          <p:cNvSpPr txBox="1"/>
          <p:nvPr/>
        </p:nvSpPr>
        <p:spPr>
          <a:xfrm>
            <a:off x="8330184" y="2487168"/>
            <a:ext cx="3081528" cy="2194560"/>
          </a:xfrm>
          <a:prstGeom prst="rect">
            <a:avLst/>
          </a:prstGeom>
          <a:noFill/>
        </p:spPr>
        <p:txBody>
          <a:bodyPr wrap="square" lIns="0" rIns="0" tIns="0" bIns="0">
            <a:spAutoFit/>
          </a:bodyPr>
          <a:lstStyle/>
          <a:p>
            <a:pPr algn="l">
              <a:lnSpc>
                <a:spcPct val="110000"/>
              </a:lnSpc>
              <a:spcAft>
                <a:spcPts val="500"/>
              </a:spcAft>
            </a:pPr>
            <a:r>
              <a:rPr sz="1150" b="0">
                <a:solidFill>
                  <a:srgbClr val="22272E"/>
                </a:solidFill>
                <a:latin typeface="Segoe UI"/>
              </a:rPr>
              <a:t>Edit the file in the dev pod</a:t>
            </a:r>
          </a:p>
          <a:p>
            <a:pPr algn="l">
              <a:lnSpc>
                <a:spcPct val="110000"/>
              </a:lnSpc>
              <a:spcAft>
                <a:spcPts val="500"/>
              </a:spcAft>
            </a:pPr>
            <a:r>
              <a:rPr sz="1150" b="0">
                <a:solidFill>
                  <a:srgbClr val="22272E"/>
                </a:solidFill>
                <a:latin typeface="Segoe UI"/>
              </a:rPr>
              <a:t>ray job submit</a:t>
            </a:r>
          </a:p>
          <a:p>
            <a:pPr algn="l">
              <a:lnSpc>
                <a:spcPct val="110000"/>
              </a:lnSpc>
              <a:spcAft>
                <a:spcPts val="500"/>
              </a:spcAft>
            </a:pPr>
            <a:r>
              <a:rPr sz="1150" b="0">
                <a:solidFill>
                  <a:srgbClr val="22272E"/>
                </a:solidFill>
                <a:latin typeface="Segoe UI"/>
              </a:rPr>
              <a:t>Live Ray service answers in</a:t>
            </a:r>
          </a:p>
          <a:p>
            <a:pPr algn="l">
              <a:lnSpc>
                <a:spcPct val="110000"/>
              </a:lnSpc>
              <a:spcAft>
                <a:spcPts val="500"/>
              </a:spcAft>
            </a:pPr>
            <a:r>
              <a:rPr sz="1150" b="0">
                <a:solidFill>
                  <a:srgbClr val="22272E"/>
                </a:solidFill>
                <a:latin typeface="Segoe UI"/>
              </a:rPr>
              <a:t>seconds — same as EKS</a:t>
            </a:r>
          </a:p>
          <a:p>
            <a:pPr algn="l">
              <a:lnSpc>
                <a:spcPct val="110000"/>
              </a:lnSpc>
              <a:spcAft>
                <a:spcPts val="500"/>
              </a:spcAft>
            </a:pPr>
            <a:r>
              <a:rPr sz="1150" b="0">
                <a:solidFill>
                  <a:srgbClr val="22272E"/>
                </a:solidFill>
                <a:latin typeface="Segoe UI"/>
              </a:rPr>
              <a:t>But multi-node needs a separate,</a:t>
            </a:r>
          </a:p>
          <a:p>
            <a:pPr algn="l">
              <a:lnSpc>
                <a:spcPct val="110000"/>
              </a:lnSpc>
              <a:spcAft>
                <a:spcPts val="500"/>
              </a:spcAft>
            </a:pPr>
            <a:r>
              <a:rPr sz="1150" b="0">
                <a:solidFill>
                  <a:srgbClr val="22272E"/>
                </a:solidFill>
                <a:latin typeface="Segoe UI"/>
              </a:rPr>
              <a:t>self-managed path entirely</a:t>
            </a:r>
          </a:p>
        </p:txBody>
      </p:sp>
      <p:sp>
        <p:nvSpPr>
          <p:cNvPr id="21" name="TextBox 20"/>
          <p:cNvSpPr txBox="1"/>
          <p:nvPr/>
        </p:nvSpPr>
        <p:spPr>
          <a:xfrm>
            <a:off x="8330184" y="4892040"/>
            <a:ext cx="3081528" cy="365760"/>
          </a:xfrm>
          <a:prstGeom prst="rect">
            <a:avLst/>
          </a:prstGeom>
          <a:noFill/>
        </p:spPr>
        <p:txBody>
          <a:bodyPr wrap="square" lIns="0" rIns="0" tIns="0" bIns="0">
            <a:spAutoFit/>
          </a:bodyPr>
          <a:lstStyle/>
          <a:p>
            <a:pPr algn="l">
              <a:lnSpc>
                <a:spcPct val="115000"/>
              </a:lnSpc>
              <a:spcAft>
                <a:spcPts val="600"/>
              </a:spcAft>
            </a:pPr>
            <a:r>
              <a:rPr sz="1250" b="1">
                <a:solidFill>
                  <a:srgbClr val="B0760B"/>
                </a:solidFill>
                <a:latin typeface="Segoe UI"/>
              </a:rPr>
              <a:t>≈ 20 iterations, single-node only</a:t>
            </a:r>
          </a:p>
        </p:txBody>
      </p:sp>
      <p:sp>
        <p:nvSpPr>
          <p:cNvPr id="22" name="Rounded Rectangle 21"/>
          <p:cNvSpPr/>
          <p:nvPr/>
        </p:nvSpPr>
        <p:spPr>
          <a:xfrm>
            <a:off x="548640" y="5623560"/>
            <a:ext cx="11064240" cy="658368"/>
          </a:xfrm>
          <a:prstGeom prst="roundRect">
            <a:avLst>
              <a:gd name="adj" fmla="val 4000"/>
            </a:avLst>
          </a:prstGeom>
          <a:solidFill>
            <a:srgbClr val="ECF3F3"/>
          </a:solidFill>
          <a:ln w="9525">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 y="5815584"/>
            <a:ext cx="10515600" cy="320040"/>
          </a:xfrm>
          <a:prstGeom prst="rect">
            <a:avLst/>
          </a:prstGeom>
          <a:noFill/>
        </p:spPr>
        <p:txBody>
          <a:bodyPr wrap="square" lIns="0" rIns="0" tIns="0" bIns="0">
            <a:spAutoFit/>
          </a:bodyPr>
          <a:lstStyle/>
          <a:p>
            <a:pPr algn="l">
              <a:lnSpc>
                <a:spcPct val="115000"/>
              </a:lnSpc>
              <a:spcAft>
                <a:spcPts val="600"/>
              </a:spcAft>
            </a:pPr>
            <a:r>
              <a:rPr sz="1200" b="0">
                <a:solidFill>
                  <a:srgbClr val="1F3A5F"/>
                </a:solidFill>
                <a:latin typeface="Segoe UI"/>
              </a:rPr>
              <a:t>This is the difference the kickoff was pointing at with "no ticketing systems or formal deployment queues" — not approvals, but waiting.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REQUIREMENTS FIT</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Evaluated against the project's needs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graphicFrame>
        <p:nvGraphicFramePr>
          <p:cNvPr id="6" name="Table 5"/>
          <p:cNvGraphicFramePr>
            <a:graphicFrameLocks noGrp="1"/>
          </p:cNvGraphicFramePr>
          <p:nvPr/>
        </p:nvGraphicFramePr>
        <p:xfrm>
          <a:off x="548640" y="1463040"/>
          <a:ext cx="11064240" cy="4398264"/>
        </p:xfrm>
        <a:graphic>
          <a:graphicData uri="http://schemas.openxmlformats.org/drawingml/2006/table">
            <a:tbl>
              <a:tblPr firstRow="1" bandRow="1">
                <a:tableStyleId>{5C22544A-7EE6-4342-B048-85BDC9FD1C3A}</a:tableStyleId>
              </a:tblPr>
              <a:tblGrid>
                <a:gridCol w="3200400"/>
                <a:gridCol w="2624328"/>
                <a:gridCol w="2624328"/>
                <a:gridCol w="2615184"/>
              </a:tblGrid>
              <a:tr h="338328">
                <a:tc>
                  <a:txBody>
                    <a:bodyPr wrap="square"/>
                    <a:lstStyle/>
                    <a:p>
                      <a:pPr algn="l"/>
                      <a:r>
                        <a:rPr sz="1000" b="1">
                          <a:solidFill>
                            <a:srgbClr val="FFFFFF"/>
                          </a:solidFill>
                          <a:latin typeface="Segoe UI"/>
                        </a:rPr>
                        <a:t>Requirement</a:t>
                      </a:r>
                    </a:p>
                  </a:txBody>
                  <a:tcPr marL="64008" marR="64008" marT="18288" marB="18288" anchor="ctr">
                    <a:solidFill>
                      <a:srgbClr val="1F3A5F"/>
                    </a:solidFill>
                  </a:tcPr>
                </a:tc>
                <a:tc>
                  <a:txBody>
                    <a:bodyPr wrap="square"/>
                    <a:lstStyle/>
                    <a:p>
                      <a:pPr algn="ctr"/>
                      <a:r>
                        <a:rPr sz="1000" b="1">
                          <a:solidFill>
                            <a:srgbClr val="FFFFFF"/>
                          </a:solidFill>
                          <a:latin typeface="Segoe UI"/>
                        </a:rPr>
                        <a:t>EKS + Ray</a:t>
                      </a:r>
                    </a:p>
                  </a:txBody>
                  <a:tcPr marL="64008" marR="64008" marT="18288" marB="18288" anchor="ctr">
                    <a:solidFill>
                      <a:srgbClr val="1F3A5F"/>
                    </a:solidFill>
                  </a:tcPr>
                </a:tc>
                <a:tc>
                  <a:txBody>
                    <a:bodyPr wrap="square"/>
                    <a:lstStyle/>
                    <a:p>
                      <a:pPr algn="ctr"/>
                      <a:r>
                        <a:rPr sz="1000" b="1">
                          <a:solidFill>
                            <a:srgbClr val="FFFFFF"/>
                          </a:solidFill>
                          <a:latin typeface="Segoe UI"/>
                        </a:rPr>
                        <a:t>AWS Batch</a:t>
                      </a:r>
                    </a:p>
                  </a:txBody>
                  <a:tcPr marL="64008" marR="64008" marT="18288" marB="18288" anchor="ctr">
                    <a:solidFill>
                      <a:srgbClr val="1F3A5F"/>
                    </a:solidFill>
                  </a:tcPr>
                </a:tc>
                <a:tc>
                  <a:txBody>
                    <a:bodyPr wrap="square"/>
                    <a:lstStyle/>
                    <a:p>
                      <a:pPr algn="ctr"/>
                      <a:r>
                        <a:rPr sz="1000" b="1">
                          <a:solidFill>
                            <a:srgbClr val="FFFFFF"/>
                          </a:solidFill>
                          <a:latin typeface="Segoe UI"/>
                        </a:rPr>
                        <a:t>Amazon ECS</a:t>
                      </a:r>
                    </a:p>
                  </a:txBody>
                  <a:tcPr marL="64008" marR="64008" marT="18288" marB="18288" anchor="ctr">
                    <a:solidFill>
                      <a:srgbClr val="1F3A5F"/>
                    </a:solidFill>
                  </a:tcPr>
                </a:tc>
              </a:tr>
              <a:tr h="338328">
                <a:tc>
                  <a:txBody>
                    <a:bodyPr wrap="square"/>
                    <a:lstStyle/>
                    <a:p>
                      <a:pPr algn="l"/>
                      <a:r>
                        <a:rPr sz="1050" b="0">
                          <a:solidFill>
                            <a:srgbClr val="22272E"/>
                          </a:solidFill>
                          <a:latin typeface="Segoe UI"/>
                        </a:rPr>
                        <a:t>Rapid enablement</a:t>
                      </a:r>
                    </a:p>
                  </a:txBody>
                  <a:tcPr marL="64008" marR="64008" marT="18288" marB="18288" anchor="ctr">
                    <a:solidFill>
                      <a:srgbClr val="FFFFFF"/>
                    </a:solidFill>
                  </a:tcPr>
                </a:tc>
                <a:tc>
                  <a:txBody>
                    <a:bodyPr wrap="square"/>
                    <a:lstStyle/>
                    <a:p>
                      <a:pPr algn="ctr"/>
                      <a:r>
                        <a:rPr sz="1050" b="1">
                          <a:solidFill>
                            <a:srgbClr val="2E7D54"/>
                          </a:solidFill>
                          <a:latin typeface="Segoe UI"/>
                        </a:rPr>
                        <a:t>GPUs in week 4</a:t>
                      </a:r>
                    </a:p>
                  </a:txBody>
                  <a:tcPr marL="64008" marR="64008" marT="18288" marB="18288" anchor="ctr">
                    <a:solidFill>
                      <a:srgbClr val="FFFFFF"/>
                    </a:solidFill>
                  </a:tcPr>
                </a:tc>
                <a:tc>
                  <a:txBody>
                    <a:bodyPr wrap="square"/>
                    <a:lstStyle/>
                    <a:p>
                      <a:pPr algn="ctr"/>
                      <a:r>
                        <a:rPr sz="1050" b="1">
                          <a:solidFill>
                            <a:srgbClr val="B0760B"/>
                          </a:solidFill>
                          <a:latin typeface="Segoe UI"/>
                        </a:rPr>
                        <a:t>Week 5, after spikes</a:t>
                      </a:r>
                    </a:p>
                  </a:txBody>
                  <a:tcPr marL="64008" marR="64008" marT="18288" marB="18288" anchor="ctr">
                    <a:solidFill>
                      <a:srgbClr val="FFFFFF"/>
                    </a:solidFill>
                  </a:tcPr>
                </a:tc>
                <a:tc>
                  <a:txBody>
                    <a:bodyPr wrap="square"/>
                    <a:lstStyle/>
                    <a:p>
                      <a:pPr algn="ctr"/>
                      <a:r>
                        <a:rPr sz="1050" b="1">
                          <a:solidFill>
                            <a:srgbClr val="B0760B"/>
                          </a:solidFill>
                          <a:latin typeface="Segoe UI"/>
                        </a:rPr>
                        <a:t>Week 5</a:t>
                      </a:r>
                    </a:p>
                  </a:txBody>
                  <a:tcPr marL="64008" marR="64008" marT="18288" marB="18288" anchor="ctr">
                    <a:solidFill>
                      <a:srgbClr val="FFFFFF"/>
                    </a:solidFill>
                  </a:tcPr>
                </a:tc>
              </a:tr>
              <a:tr h="338328">
                <a:tc>
                  <a:txBody>
                    <a:bodyPr wrap="square"/>
                    <a:lstStyle/>
                    <a:p>
                      <a:pPr algn="l"/>
                      <a:r>
                        <a:rPr sz="1050" b="0">
                          <a:solidFill>
                            <a:srgbClr val="22272E"/>
                          </a:solidFill>
                          <a:latin typeface="Segoe UI"/>
                        </a:rPr>
                        <a:t>Linear scaling, multi-node</a:t>
                      </a:r>
                    </a:p>
                  </a:txBody>
                  <a:tcPr marL="64008" marR="64008" marT="18288" marB="18288" anchor="ctr">
                    <a:solidFill>
                      <a:srgbClr val="F4F6F8"/>
                    </a:solidFill>
                  </a:tcPr>
                </a:tc>
                <a:tc>
                  <a:txBody>
                    <a:bodyPr wrap="square"/>
                    <a:lstStyle/>
                    <a:p>
                      <a:pPr algn="ctr"/>
                      <a:r>
                        <a:rPr sz="1050" b="1">
                          <a:solidFill>
                            <a:srgbClr val="2E7D54"/>
                          </a:solidFill>
                          <a:latin typeface="Segoe UI"/>
                        </a:rPr>
                        <a:t>Native path</a:t>
                      </a:r>
                    </a:p>
                  </a:txBody>
                  <a:tcPr marL="64008" marR="64008" marT="18288" marB="18288" anchor="ctr">
                    <a:solidFill>
                      <a:srgbClr val="F4F6F8"/>
                    </a:solidFill>
                  </a:tcPr>
                </a:tc>
                <a:tc>
                  <a:txBody>
                    <a:bodyPr wrap="square"/>
                    <a:lstStyle/>
                    <a:p>
                      <a:pPr algn="ctr"/>
                      <a:r>
                        <a:rPr sz="1050" b="1">
                          <a:solidFill>
                            <a:srgbClr val="B0760B"/>
                          </a:solidFill>
                          <a:latin typeface="Segoe UI"/>
                        </a:rPr>
                        <a:t>EFA unproven on EKS</a:t>
                      </a:r>
                    </a:p>
                  </a:txBody>
                  <a:tcPr marL="64008" marR="64008" marT="18288" marB="18288" anchor="ctr">
                    <a:solidFill>
                      <a:srgbClr val="F4F6F8"/>
                    </a:solidFill>
                  </a:tcPr>
                </a:tc>
                <a:tc>
                  <a:txBody>
                    <a:bodyPr wrap="square"/>
                    <a:lstStyle/>
                    <a:p>
                      <a:pPr algn="ctr"/>
                      <a:r>
                        <a:rPr sz="1050" b="1">
                          <a:solidFill>
                            <a:srgbClr val="A4343A"/>
                          </a:solidFill>
                          <a:latin typeface="Segoe UI"/>
                        </a:rPr>
                        <a:t>Cannot gang-schedule</a:t>
                      </a:r>
                    </a:p>
                  </a:txBody>
                  <a:tcPr marL="64008" marR="64008" marT="18288" marB="18288" anchor="ctr">
                    <a:solidFill>
                      <a:srgbClr val="F4F6F8"/>
                    </a:solidFill>
                  </a:tcPr>
                </a:tc>
              </a:tr>
              <a:tr h="338328">
                <a:tc>
                  <a:txBody>
                    <a:bodyPr wrap="square"/>
                    <a:lstStyle/>
                    <a:p>
                      <a:pPr algn="l"/>
                      <a:r>
                        <a:rPr sz="1050" b="0">
                          <a:solidFill>
                            <a:srgbClr val="22272E"/>
                          </a:solidFill>
                          <a:latin typeface="Segoe UI"/>
                        </a:rPr>
                        <a:t>&gt;90% utilization</a:t>
                      </a:r>
                    </a:p>
                  </a:txBody>
                  <a:tcPr marL="64008" marR="64008" marT="18288" marB="18288" anchor="ctr">
                    <a:solidFill>
                      <a:srgbClr val="FFFFFF"/>
                    </a:solidFill>
                  </a:tcPr>
                </a:tc>
                <a:tc>
                  <a:txBody>
                    <a:bodyPr wrap="square"/>
                    <a:lstStyle/>
                    <a:p>
                      <a:pPr algn="ctr"/>
                      <a:r>
                        <a:rPr sz="1050" b="1">
                          <a:solidFill>
                            <a:srgbClr val="2E7D54"/>
                          </a:solidFill>
                          <a:latin typeface="Segoe UI"/>
                        </a:rPr>
                        <a:t>Jobs, not people, hold GPUs</a:t>
                      </a:r>
                    </a:p>
                  </a:txBody>
                  <a:tcPr marL="64008" marR="64008" marT="18288" marB="18288" anchor="ctr">
                    <a:solidFill>
                      <a:srgbClr val="FFFFFF"/>
                    </a:solidFill>
                  </a:tcPr>
                </a:tc>
                <a:tc>
                  <a:txBody>
                    <a:bodyPr wrap="square"/>
                    <a:lstStyle/>
                    <a:p>
                      <a:pPr algn="ctr"/>
                      <a:r>
                        <a:rPr sz="1050" b="1">
                          <a:solidFill>
                            <a:srgbClr val="2E7D54"/>
                          </a:solidFill>
                          <a:latin typeface="Segoe UI"/>
                        </a:rPr>
                        <a:t>Queue-driven</a:t>
                      </a:r>
                    </a:p>
                  </a:txBody>
                  <a:tcPr marL="64008" marR="64008" marT="18288" marB="18288" anchor="ctr">
                    <a:solidFill>
                      <a:srgbClr val="FFFFFF"/>
                    </a:solidFill>
                  </a:tcPr>
                </a:tc>
                <a:tc>
                  <a:txBody>
                    <a:bodyPr wrap="square"/>
                    <a:lstStyle/>
                    <a:p>
                      <a:pPr algn="ctr"/>
                      <a:r>
                        <a:rPr sz="1050" b="1">
                          <a:solidFill>
                            <a:srgbClr val="B0760B"/>
                          </a:solidFill>
                          <a:latin typeface="Segoe UI"/>
                        </a:rPr>
                        <a:t>No queue to measure</a:t>
                      </a:r>
                    </a:p>
                  </a:txBody>
                  <a:tcPr marL="64008" marR="64008" marT="18288" marB="18288" anchor="ctr">
                    <a:solidFill>
                      <a:srgbClr val="FFFFFF"/>
                    </a:solidFill>
                  </a:tcPr>
                </a:tc>
              </a:tr>
              <a:tr h="338328">
                <a:tc>
                  <a:txBody>
                    <a:bodyPr wrap="square"/>
                    <a:lstStyle/>
                    <a:p>
                      <a:pPr algn="l"/>
                      <a:r>
                        <a:rPr sz="1050" b="0">
                          <a:solidFill>
                            <a:srgbClr val="22272E"/>
                          </a:solidFill>
                          <a:latin typeface="Segoe UI"/>
                        </a:rPr>
                        <a:t>Shell over web UIs</a:t>
                      </a:r>
                    </a:p>
                  </a:txBody>
                  <a:tcPr marL="64008" marR="64008" marT="18288" marB="18288" anchor="ctr">
                    <a:solidFill>
                      <a:srgbClr val="F4F6F8"/>
                    </a:solidFill>
                  </a:tcPr>
                </a:tc>
                <a:tc>
                  <a:txBody>
                    <a:bodyPr wrap="square"/>
                    <a:lstStyle/>
                    <a:p>
                      <a:pPr algn="ctr"/>
                      <a:r>
                        <a:rPr sz="1050" b="1">
                          <a:solidFill>
                            <a:srgbClr val="2E7D54"/>
                          </a:solidFill>
                          <a:latin typeface="Segoe UI"/>
                        </a:rPr>
                        <a:t>Dev pod + kubectl</a:t>
                      </a:r>
                    </a:p>
                  </a:txBody>
                  <a:tcPr marL="64008" marR="64008" marT="18288" marB="18288" anchor="ctr">
                    <a:solidFill>
                      <a:srgbClr val="F4F6F8"/>
                    </a:solidFill>
                  </a:tcPr>
                </a:tc>
                <a:tc>
                  <a:txBody>
                    <a:bodyPr wrap="square"/>
                    <a:lstStyle/>
                    <a:p>
                      <a:pPr algn="ctr"/>
                      <a:r>
                        <a:rPr sz="1050" b="1">
                          <a:solidFill>
                            <a:srgbClr val="B0760B"/>
                          </a:solidFill>
                          <a:latin typeface="Segoe UI"/>
                        </a:rPr>
                        <a:t>Shell, but not on a GPU</a:t>
                      </a:r>
                    </a:p>
                  </a:txBody>
                  <a:tcPr marL="64008" marR="64008" marT="18288" marB="18288" anchor="ctr">
                    <a:solidFill>
                      <a:srgbClr val="F4F6F8"/>
                    </a:solidFill>
                  </a:tcPr>
                </a:tc>
                <a:tc>
                  <a:txBody>
                    <a:bodyPr wrap="square"/>
                    <a:lstStyle/>
                    <a:p>
                      <a:pPr algn="ctr"/>
                      <a:r>
                        <a:rPr sz="1050" b="1">
                          <a:solidFill>
                            <a:srgbClr val="2E7D54"/>
                          </a:solidFill>
                          <a:latin typeface="Segoe UI"/>
                        </a:rPr>
                        <a:t>ECS Exec</a:t>
                      </a:r>
                    </a:p>
                  </a:txBody>
                  <a:tcPr marL="64008" marR="64008" marT="18288" marB="18288" anchor="ctr">
                    <a:solidFill>
                      <a:srgbClr val="F4F6F8"/>
                    </a:solidFill>
                  </a:tcPr>
                </a:tc>
              </a:tr>
              <a:tr h="338328">
                <a:tc>
                  <a:txBody>
                    <a:bodyPr wrap="square"/>
                    <a:lstStyle/>
                    <a:p>
                      <a:pPr algn="l"/>
                      <a:r>
                        <a:rPr sz="1050" b="0">
                          <a:solidFill>
                            <a:srgbClr val="22272E"/>
                          </a:solidFill>
                          <a:latin typeface="Segoe UI"/>
                        </a:rPr>
                        <a:t>No ticketing or queues</a:t>
                      </a:r>
                    </a:p>
                  </a:txBody>
                  <a:tcPr marL="64008" marR="64008" marT="18288" marB="18288" anchor="ctr">
                    <a:solidFill>
                      <a:srgbClr val="FFFFFF"/>
                    </a:solidFill>
                  </a:tcPr>
                </a:tc>
                <a:tc>
                  <a:txBody>
                    <a:bodyPr wrap="square"/>
                    <a:lstStyle/>
                    <a:p>
                      <a:pPr algn="ctr"/>
                      <a:r>
                        <a:rPr sz="1050" b="1">
                          <a:solidFill>
                            <a:srgbClr val="2E7D54"/>
                          </a:solidFill>
                          <a:latin typeface="Segoe UI"/>
                        </a:rPr>
                        <a:t>Submit to a live cluster</a:t>
                      </a:r>
                    </a:p>
                  </a:txBody>
                  <a:tcPr marL="64008" marR="64008" marT="18288" marB="18288" anchor="ctr">
                    <a:solidFill>
                      <a:srgbClr val="FFFFFF"/>
                    </a:solidFill>
                  </a:tcPr>
                </a:tc>
                <a:tc>
                  <a:txBody>
                    <a:bodyPr wrap="square"/>
                    <a:lstStyle/>
                    <a:p>
                      <a:pPr algn="ctr"/>
                      <a:r>
                        <a:rPr sz="1050" b="1">
                          <a:solidFill>
                            <a:srgbClr val="A4343A"/>
                          </a:solidFill>
                          <a:latin typeface="Segoe UI"/>
                        </a:rPr>
                        <a:t>Submit-and-wait</a:t>
                      </a:r>
                    </a:p>
                  </a:txBody>
                  <a:tcPr marL="64008" marR="64008" marT="18288" marB="18288" anchor="ctr">
                    <a:solidFill>
                      <a:srgbClr val="FFFFFF"/>
                    </a:solidFill>
                  </a:tcPr>
                </a:tc>
                <a:tc>
                  <a:txBody>
                    <a:bodyPr wrap="square"/>
                    <a:lstStyle/>
                    <a:p>
                      <a:pPr algn="ctr"/>
                      <a:r>
                        <a:rPr sz="1050" b="1">
                          <a:solidFill>
                            <a:srgbClr val="2E7D54"/>
                          </a:solidFill>
                          <a:latin typeface="Segoe UI"/>
                        </a:rPr>
                        <a:t>Live Ray cluster</a:t>
                      </a:r>
                    </a:p>
                  </a:txBody>
                  <a:tcPr marL="64008" marR="64008" marT="18288" marB="18288" anchor="ctr">
                    <a:solidFill>
                      <a:srgbClr val="FFFFFF"/>
                    </a:solidFill>
                  </a:tcPr>
                </a:tc>
              </a:tr>
              <a:tr h="338328">
                <a:tc>
                  <a:txBody>
                    <a:bodyPr wrap="square"/>
                    <a:lstStyle/>
                    <a:p>
                      <a:pPr algn="l"/>
                      <a:r>
                        <a:rPr sz="1050" b="0">
                          <a:solidFill>
                            <a:srgbClr val="22272E"/>
                          </a:solidFill>
                          <a:latin typeface="Segoe UI"/>
                        </a:rPr>
                        <a:t>24-hour unblock on 2 FTE</a:t>
                      </a:r>
                    </a:p>
                  </a:txBody>
                  <a:tcPr marL="64008" marR="64008" marT="18288" marB="18288" anchor="ctr">
                    <a:solidFill>
                      <a:srgbClr val="F4F6F8"/>
                    </a:solidFill>
                  </a:tcPr>
                </a:tc>
                <a:tc>
                  <a:txBody>
                    <a:bodyPr wrap="square"/>
                    <a:lstStyle/>
                    <a:p>
                      <a:pPr algn="ctr"/>
                      <a:r>
                        <a:rPr sz="1050" b="1">
                          <a:solidFill>
                            <a:srgbClr val="A4343A"/>
                          </a:solidFill>
                          <a:latin typeface="Segoe UI"/>
                        </a:rPr>
                        <a:t>Most to operate</a:t>
                      </a:r>
                    </a:p>
                  </a:txBody>
                  <a:tcPr marL="64008" marR="64008" marT="18288" marB="18288" anchor="ctr">
                    <a:solidFill>
                      <a:srgbClr val="F4F6F8"/>
                    </a:solidFill>
                  </a:tcPr>
                </a:tc>
                <a:tc>
                  <a:txBody>
                    <a:bodyPr wrap="square"/>
                    <a:lstStyle/>
                    <a:p>
                      <a:pPr algn="ctr"/>
                      <a:r>
                        <a:rPr sz="1050" b="1">
                          <a:solidFill>
                            <a:srgbClr val="2E7D54"/>
                          </a:solidFill>
                          <a:latin typeface="Segoe UI"/>
                        </a:rPr>
                        <a:t>Managed</a:t>
                      </a:r>
                    </a:p>
                  </a:txBody>
                  <a:tcPr marL="64008" marR="64008" marT="18288" marB="18288" anchor="ctr">
                    <a:solidFill>
                      <a:srgbClr val="F4F6F8"/>
                    </a:solidFill>
                  </a:tcPr>
                </a:tc>
                <a:tc>
                  <a:txBody>
                    <a:bodyPr wrap="square"/>
                    <a:lstStyle/>
                    <a:p>
                      <a:pPr algn="ctr"/>
                      <a:r>
                        <a:rPr sz="1050" b="1">
                          <a:solidFill>
                            <a:srgbClr val="2E7D54"/>
                          </a:solidFill>
                          <a:latin typeface="Segoe UI"/>
                        </a:rPr>
                        <a:t>Least to operate</a:t>
                      </a:r>
                    </a:p>
                  </a:txBody>
                  <a:tcPr marL="64008" marR="64008" marT="18288" marB="18288" anchor="ctr">
                    <a:solidFill>
                      <a:srgbClr val="F4F6F8"/>
                    </a:solidFill>
                  </a:tcPr>
                </a:tc>
              </a:tr>
              <a:tr h="338328">
                <a:tc>
                  <a:txBody>
                    <a:bodyPr wrap="square"/>
                    <a:lstStyle/>
                    <a:p>
                      <a:pPr algn="l"/>
                      <a:r>
                        <a:rPr sz="1050" b="0">
                          <a:solidFill>
                            <a:srgbClr val="22272E"/>
                          </a:solidFill>
                          <a:latin typeface="Segoe UI"/>
                        </a:rPr>
                        <a:t>Project Lab Notebook</a:t>
                      </a:r>
                    </a:p>
                  </a:txBody>
                  <a:tcPr marL="64008" marR="64008" marT="18288" marB="18288" anchor="ctr">
                    <a:solidFill>
                      <a:srgbClr val="FFFFFF"/>
                    </a:solidFill>
                  </a:tcPr>
                </a:tc>
                <a:tc>
                  <a:txBody>
                    <a:bodyPr wrap="square"/>
                    <a:lstStyle/>
                    <a:p>
                      <a:pPr algn="ctr"/>
                      <a:r>
                        <a:rPr sz="1050" b="1">
                          <a:solidFill>
                            <a:srgbClr val="2E7D54"/>
                          </a:solidFill>
                          <a:latin typeface="Segoe UI"/>
                        </a:rPr>
                        <a:t>Argo CD makes it a by-product</a:t>
                      </a:r>
                    </a:p>
                  </a:txBody>
                  <a:tcPr marL="64008" marR="64008" marT="18288" marB="18288" anchor="ctr">
                    <a:solidFill>
                      <a:srgbClr val="FFFFFF"/>
                    </a:solidFill>
                  </a:tcPr>
                </a:tc>
                <a:tc>
                  <a:txBody>
                    <a:bodyPr wrap="square"/>
                    <a:lstStyle/>
                    <a:p>
                      <a:pPr algn="ctr"/>
                      <a:r>
                        <a:rPr sz="1050" b="1">
                          <a:solidFill>
                            <a:srgbClr val="B0760B"/>
                          </a:solidFill>
                          <a:latin typeface="Segoe UI"/>
                        </a:rPr>
                        <a:t>Split Terraform / Argo CD</a:t>
                      </a:r>
                    </a:p>
                  </a:txBody>
                  <a:tcPr marL="64008" marR="64008" marT="18288" marB="18288" anchor="ctr">
                    <a:solidFill>
                      <a:srgbClr val="FFFFFF"/>
                    </a:solidFill>
                  </a:tcPr>
                </a:tc>
                <a:tc>
                  <a:txBody>
                    <a:bodyPr wrap="square"/>
                    <a:lstStyle/>
                    <a:p>
                      <a:pPr algn="ctr"/>
                      <a:r>
                        <a:rPr sz="1050" b="1">
                          <a:solidFill>
                            <a:srgbClr val="B0760B"/>
                          </a:solidFill>
                          <a:latin typeface="Segoe UI"/>
                        </a:rPr>
                        <a:t>Terraform only</a:t>
                      </a:r>
                    </a:p>
                  </a:txBody>
                  <a:tcPr marL="64008" marR="64008" marT="18288" marB="18288" anchor="ctr">
                    <a:solidFill>
                      <a:srgbClr val="FFFFFF"/>
                    </a:solidFill>
                  </a:tcPr>
                </a:tc>
              </a:tr>
              <a:tr h="338328">
                <a:tc>
                  <a:txBody>
                    <a:bodyPr wrap="square"/>
                    <a:lstStyle/>
                    <a:p>
                      <a:pPr algn="l"/>
                      <a:r>
                        <a:rPr sz="1050" b="0">
                          <a:solidFill>
                            <a:srgbClr val="22272E"/>
                          </a:solidFill>
                          <a:latin typeface="Segoe UI"/>
                        </a:rPr>
                        <a:t>SMaaS foundation (Phase 2)</a:t>
                      </a:r>
                    </a:p>
                  </a:txBody>
                  <a:tcPr marL="64008" marR="64008" marT="18288" marB="18288" anchor="ctr">
                    <a:solidFill>
                      <a:srgbClr val="F4F6F8"/>
                    </a:solidFill>
                  </a:tcPr>
                </a:tc>
                <a:tc>
                  <a:txBody>
                    <a:bodyPr wrap="square"/>
                    <a:lstStyle/>
                    <a:p>
                      <a:pPr algn="ctr"/>
                      <a:r>
                        <a:rPr sz="1050" b="1">
                          <a:solidFill>
                            <a:srgbClr val="B0760B"/>
                          </a:solidFill>
                          <a:latin typeface="Segoe UI"/>
                        </a:rPr>
                        <a:t>Build quotas</a:t>
                      </a:r>
                    </a:p>
                  </a:txBody>
                  <a:tcPr marL="64008" marR="64008" marT="18288" marB="18288" anchor="ctr">
                    <a:solidFill>
                      <a:srgbClr val="F4F6F8"/>
                    </a:solidFill>
                  </a:tcPr>
                </a:tc>
                <a:tc>
                  <a:txBody>
                    <a:bodyPr wrap="square"/>
                    <a:lstStyle/>
                    <a:p>
                      <a:pPr algn="ctr"/>
                      <a:r>
                        <a:rPr sz="1050" b="1">
                          <a:solidFill>
                            <a:srgbClr val="2E7D54"/>
                          </a:solidFill>
                          <a:latin typeface="Segoe UI"/>
                        </a:rPr>
                        <a:t>Fair-share is the primitive</a:t>
                      </a:r>
                    </a:p>
                  </a:txBody>
                  <a:tcPr marL="64008" marR="64008" marT="18288" marB="18288" anchor="ctr">
                    <a:solidFill>
                      <a:srgbClr val="F4F6F8"/>
                    </a:solidFill>
                  </a:tcPr>
                </a:tc>
                <a:tc>
                  <a:txBody>
                    <a:bodyPr wrap="square"/>
                    <a:lstStyle/>
                    <a:p>
                      <a:pPr algn="ctr"/>
                      <a:r>
                        <a:rPr sz="1050" b="1">
                          <a:solidFill>
                            <a:srgbClr val="A4343A"/>
                          </a:solidFill>
                          <a:latin typeface="Segoe UI"/>
                        </a:rPr>
                        <a:t>Nothing to build on</a:t>
                      </a:r>
                    </a:p>
                  </a:txBody>
                  <a:tcPr marL="64008" marR="64008" marT="18288" marB="18288" anchor="ctr">
                    <a:solidFill>
                      <a:srgbClr val="F4F6F8"/>
                    </a:solidFill>
                  </a:tcPr>
                </a:tc>
              </a:tr>
              <a:tr h="338328">
                <a:tc>
                  <a:txBody>
                    <a:bodyPr wrap="square"/>
                    <a:lstStyle/>
                    <a:p>
                      <a:pPr algn="l"/>
                      <a:r>
                        <a:rPr sz="1050" b="0">
                          <a:solidFill>
                            <a:srgbClr val="22272E"/>
                          </a:solidFill>
                          <a:latin typeface="Segoe UI"/>
                        </a:rPr>
                        <a:t>EKS / Ray / Argo as named</a:t>
                      </a:r>
                    </a:p>
                  </a:txBody>
                  <a:tcPr marL="64008" marR="64008" marT="18288" marB="18288" anchor="ctr">
                    <a:solidFill>
                      <a:srgbClr val="FFFFFF"/>
                    </a:solidFill>
                  </a:tcPr>
                </a:tc>
                <a:tc>
                  <a:txBody>
                    <a:bodyPr wrap="square"/>
                    <a:lstStyle/>
                    <a:p>
                      <a:pPr algn="ctr"/>
                      <a:r>
                        <a:rPr sz="1050" b="1">
                          <a:solidFill>
                            <a:srgbClr val="2E7D54"/>
                          </a:solidFill>
                          <a:latin typeface="Segoe UI"/>
                        </a:rPr>
                        <a:t>Exactly</a:t>
                      </a:r>
                    </a:p>
                  </a:txBody>
                  <a:tcPr marL="64008" marR="64008" marT="18288" marB="18288" anchor="ctr">
                    <a:solidFill>
                      <a:srgbClr val="FFFFFF"/>
                    </a:solidFill>
                  </a:tcPr>
                </a:tc>
                <a:tc>
                  <a:txBody>
                    <a:bodyPr wrap="square"/>
                    <a:lstStyle/>
                    <a:p>
                      <a:pPr algn="ctr"/>
                      <a:r>
                        <a:rPr sz="1050" b="1">
                          <a:solidFill>
                            <a:srgbClr val="B0760B"/>
                          </a:solidFill>
                          <a:latin typeface="Segoe UI"/>
                        </a:rPr>
                        <a:t>Partial</a:t>
                      </a:r>
                    </a:p>
                  </a:txBody>
                  <a:tcPr marL="64008" marR="64008" marT="18288" marB="18288" anchor="ctr">
                    <a:solidFill>
                      <a:srgbClr val="FFFFFF"/>
                    </a:solidFill>
                  </a:tcPr>
                </a:tc>
                <a:tc>
                  <a:txBody>
                    <a:bodyPr wrap="square"/>
                    <a:lstStyle/>
                    <a:p>
                      <a:pPr algn="ctr"/>
                      <a:r>
                        <a:rPr sz="1050" b="1">
                          <a:solidFill>
                            <a:srgbClr val="A4343A"/>
                          </a:solidFill>
                          <a:latin typeface="Segoe UI"/>
                        </a:rPr>
                        <a:t>None of the three</a:t>
                      </a:r>
                    </a:p>
                  </a:txBody>
                  <a:tcPr marL="64008" marR="64008" marT="18288" marB="18288" anchor="ctr">
                    <a:solidFill>
                      <a:srgbClr val="FFFFFF"/>
                    </a:solidFill>
                  </a:tcPr>
                </a:tc>
              </a:tr>
              <a:tr h="338328">
                <a:tc>
                  <a:txBody>
                    <a:bodyPr wrap="square"/>
                    <a:lstStyle/>
                    <a:p>
                      <a:pPr algn="l"/>
                      <a:r>
                        <a:rPr sz="1050" b="0">
                          <a:solidFill>
                            <a:srgbClr val="22272E"/>
                          </a:solidFill>
                          <a:latin typeface="Segoe UI"/>
                        </a:rPr>
                        <a:t>D7 — equivalent training</a:t>
                      </a:r>
                    </a:p>
                  </a:txBody>
                  <a:tcPr marL="64008" marR="64008" marT="18288" marB="18288" anchor="ctr">
                    <a:solidFill>
                      <a:srgbClr val="F4F6F8"/>
                    </a:solidFill>
                  </a:tcPr>
                </a:tc>
                <a:tc>
                  <a:txBody>
                    <a:bodyPr wrap="square"/>
                    <a:lstStyle/>
                    <a:p>
                      <a:pPr algn="ctr"/>
                      <a:r>
                        <a:rPr sz="1050" b="1">
                          <a:solidFill>
                            <a:srgbClr val="2E7D54"/>
                          </a:solidFill>
                          <a:latin typeface="Segoe UI"/>
                        </a:rPr>
                        <a:t>Both tests runnable</a:t>
                      </a:r>
                    </a:p>
                  </a:txBody>
                  <a:tcPr marL="64008" marR="64008" marT="18288" marB="18288" anchor="ctr">
                    <a:solidFill>
                      <a:srgbClr val="F4F6F8"/>
                    </a:solidFill>
                  </a:tcPr>
                </a:tc>
                <a:tc>
                  <a:txBody>
                    <a:bodyPr wrap="square"/>
                    <a:lstStyle/>
                    <a:p>
                      <a:pPr algn="ctr"/>
                      <a:r>
                        <a:rPr sz="1050" b="1">
                          <a:solidFill>
                            <a:srgbClr val="B0760B"/>
                          </a:solidFill>
                          <a:latin typeface="Segoe UI"/>
                        </a:rPr>
                        <a:t>Gated on EFA spike</a:t>
                      </a:r>
                    </a:p>
                  </a:txBody>
                  <a:tcPr marL="64008" marR="64008" marT="18288" marB="18288" anchor="ctr">
                    <a:solidFill>
                      <a:srgbClr val="F4F6F8"/>
                    </a:solidFill>
                  </a:tcPr>
                </a:tc>
                <a:tc>
                  <a:txBody>
                    <a:bodyPr wrap="square"/>
                    <a:lstStyle/>
                    <a:p>
                      <a:pPr algn="ctr"/>
                      <a:r>
                        <a:rPr sz="1050" b="1">
                          <a:solidFill>
                            <a:srgbClr val="A4343A"/>
                          </a:solidFill>
                          <a:latin typeface="Segoe UI"/>
                        </a:rPr>
                        <a:t>Multi-node blocked</a:t>
                      </a:r>
                    </a:p>
                  </a:txBody>
                  <a:tcPr marL="64008" marR="64008" marT="18288" marB="18288" anchor="ctr">
                    <a:solidFill>
                      <a:srgbClr val="F4F6F8"/>
                    </a:solidFill>
                  </a:tcPr>
                </a:tc>
              </a:tr>
              <a:tr h="338328">
                <a:tc>
                  <a:txBody>
                    <a:bodyPr wrap="square"/>
                    <a:lstStyle/>
                    <a:p>
                      <a:pPr algn="l"/>
                      <a:r>
                        <a:rPr sz="1050" b="0">
                          <a:solidFill>
                            <a:srgbClr val="22272E"/>
                          </a:solidFill>
                          <a:latin typeface="Segoe UI"/>
                        </a:rPr>
                        <a:t>D8 — burstable infrastructure</a:t>
                      </a:r>
                    </a:p>
                  </a:txBody>
                  <a:tcPr marL="64008" marR="64008" marT="18288" marB="18288" anchor="ctr">
                    <a:solidFill>
                      <a:srgbClr val="FFFFFF"/>
                    </a:solidFill>
                  </a:tcPr>
                </a:tc>
                <a:tc>
                  <a:txBody>
                    <a:bodyPr wrap="square"/>
                    <a:lstStyle/>
                    <a:p>
                      <a:pPr algn="ctr"/>
                      <a:r>
                        <a:rPr sz="1050" b="1">
                          <a:solidFill>
                            <a:srgbClr val="2E7D54"/>
                          </a:solidFill>
                          <a:latin typeface="Segoe UI"/>
                        </a:rPr>
                        <a:t>Structural, week 3</a:t>
                      </a:r>
                    </a:p>
                  </a:txBody>
                  <a:tcPr marL="64008" marR="64008" marT="18288" marB="18288" anchor="ctr">
                    <a:solidFill>
                      <a:srgbClr val="FFFFFF"/>
                    </a:solidFill>
                  </a:tcPr>
                </a:tc>
                <a:tc>
                  <a:txBody>
                    <a:bodyPr wrap="square"/>
                    <a:lstStyle/>
                    <a:p>
                      <a:pPr algn="ctr"/>
                      <a:r>
                        <a:rPr sz="1050" b="1">
                          <a:solidFill>
                            <a:srgbClr val="2E7D54"/>
                          </a:solidFill>
                          <a:latin typeface="Segoe UI"/>
                        </a:rPr>
                        <a:t>Most literal reading</a:t>
                      </a:r>
                    </a:p>
                  </a:txBody>
                  <a:tcPr marL="64008" marR="64008" marT="18288" marB="18288" anchor="ctr">
                    <a:solidFill>
                      <a:srgbClr val="FFFFFF"/>
                    </a:solidFill>
                  </a:tcPr>
                </a:tc>
                <a:tc>
                  <a:txBody>
                    <a:bodyPr wrap="square"/>
                    <a:lstStyle/>
                    <a:p>
                      <a:pPr algn="ctr"/>
                      <a:r>
                        <a:rPr sz="1050" b="1">
                          <a:solidFill>
                            <a:srgbClr val="B0760B"/>
                          </a:solidFill>
                          <a:latin typeface="Segoe UI"/>
                        </a:rPr>
                        <a:t>Via Managed Instances</a:t>
                      </a:r>
                    </a:p>
                  </a:txBody>
                  <a:tcPr marL="64008" marR="64008" marT="18288" marB="18288" anchor="ctr">
                    <a:solidFill>
                      <a:srgbClr val="FFFFFF"/>
                    </a:solidFill>
                  </a:tcPr>
                </a:tc>
              </a:tr>
              <a:tr h="338328">
                <a:tc>
                  <a:txBody>
                    <a:bodyPr wrap="square"/>
                    <a:lstStyle/>
                    <a:p>
                      <a:pPr algn="l"/>
                      <a:r>
                        <a:rPr sz="1050" b="0">
                          <a:solidFill>
                            <a:srgbClr val="22272E"/>
                          </a:solidFill>
                          <a:latin typeface="Segoe UI"/>
                        </a:rPr>
                        <a:t>Tri-environment parity</a:t>
                      </a:r>
                    </a:p>
                  </a:txBody>
                  <a:tcPr marL="64008" marR="64008" marT="18288" marB="18288" anchor="ctr">
                    <a:solidFill>
                      <a:srgbClr val="F4F6F8"/>
                    </a:solidFill>
                  </a:tcPr>
                </a:tc>
                <a:tc>
                  <a:txBody>
                    <a:bodyPr wrap="square"/>
                    <a:lstStyle/>
                    <a:p>
                      <a:pPr algn="ctr"/>
                      <a:r>
                        <a:rPr sz="1050" b="1">
                          <a:solidFill>
                            <a:srgbClr val="2E7D54"/>
                          </a:solidFill>
                          <a:latin typeface="Segoe UI"/>
                        </a:rPr>
                        <a:t>Mac / AWS / on-prem</a:t>
                      </a:r>
                    </a:p>
                  </a:txBody>
                  <a:tcPr marL="64008" marR="64008" marT="18288" marB="18288" anchor="ctr">
                    <a:solidFill>
                      <a:srgbClr val="F4F6F8"/>
                    </a:solidFill>
                  </a:tcPr>
                </a:tc>
                <a:tc>
                  <a:txBody>
                    <a:bodyPr wrap="square"/>
                    <a:lstStyle/>
                    <a:p>
                      <a:pPr algn="ctr"/>
                      <a:r>
                        <a:rPr sz="1050" b="1">
                          <a:solidFill>
                            <a:srgbClr val="A4343A"/>
                          </a:solidFill>
                          <a:latin typeface="Segoe UI"/>
                        </a:rPr>
                        <a:t>AWS only</a:t>
                      </a:r>
                    </a:p>
                  </a:txBody>
                  <a:tcPr marL="64008" marR="64008" marT="18288" marB="18288" anchor="ctr">
                    <a:solidFill>
                      <a:srgbClr val="F4F6F8"/>
                    </a:solidFill>
                  </a:tcPr>
                </a:tc>
                <a:tc>
                  <a:txBody>
                    <a:bodyPr wrap="square"/>
                    <a:lstStyle/>
                    <a:p>
                      <a:pPr algn="ctr"/>
                      <a:r>
                        <a:rPr sz="1050" b="1">
                          <a:solidFill>
                            <a:srgbClr val="A4343A"/>
                          </a:solidFill>
                          <a:latin typeface="Segoe UI"/>
                        </a:rPr>
                        <a:t>AWS only</a:t>
                      </a:r>
                    </a:p>
                  </a:txBody>
                  <a:tcPr marL="64008" marR="64008" marT="18288" marB="18288" anchor="ctr">
                    <a:solidFill>
                      <a:srgbClr val="F4F6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WHAT ACTUALLY DISCRIMINATES</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Three requirements settle it</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554480"/>
            <a:ext cx="11064240" cy="13716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554480"/>
            <a:ext cx="63500" cy="1371600"/>
          </a:xfrm>
          <a:prstGeom prst="rect">
            <a:avLst/>
          </a:prstGeom>
          <a:solidFill>
            <a:srgbClr val="A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949440" cy="320040"/>
          </a:xfrm>
          <a:prstGeom prst="rect">
            <a:avLst/>
          </a:prstGeom>
          <a:noFill/>
        </p:spPr>
        <p:txBody>
          <a:bodyPr wrap="square" lIns="0" rIns="0" tIns="0" bIns="0">
            <a:spAutoFit/>
          </a:bodyPr>
          <a:lstStyle/>
          <a:p>
            <a:pPr algn="l">
              <a:lnSpc>
                <a:spcPct val="115000"/>
              </a:lnSpc>
              <a:spcAft>
                <a:spcPts val="600"/>
              </a:spcAft>
            </a:pPr>
            <a:r>
              <a:rPr sz="1600" b="1">
                <a:solidFill>
                  <a:srgbClr val="1F3A5F"/>
                </a:solidFill>
                <a:latin typeface="Segoe UI"/>
              </a:rPr>
              <a:t>Multi-node linear scaling</a:t>
            </a:r>
          </a:p>
        </p:txBody>
      </p:sp>
      <p:sp>
        <p:nvSpPr>
          <p:cNvPr id="9" name="TextBox 8"/>
          <p:cNvSpPr txBox="1"/>
          <p:nvPr/>
        </p:nvSpPr>
        <p:spPr>
          <a:xfrm>
            <a:off x="914400" y="2130552"/>
            <a:ext cx="7680960" cy="640080"/>
          </a:xfrm>
          <a:prstGeom prst="rect">
            <a:avLst/>
          </a:prstGeom>
          <a:noFill/>
        </p:spPr>
        <p:txBody>
          <a:bodyPr wrap="square" lIns="0" rIns="0" tIns="0" bIns="0">
            <a:spAutoFit/>
          </a:bodyPr>
          <a:lstStyle/>
          <a:p>
            <a:pPr algn="l">
              <a:lnSpc>
                <a:spcPct val="115000"/>
              </a:lnSpc>
              <a:spcAft>
                <a:spcPts val="600"/>
              </a:spcAft>
            </a:pPr>
            <a:r>
              <a:rPr sz="1200" b="0">
                <a:solidFill>
                  <a:srgbClr val="22272E"/>
                </a:solidFill>
                <a:latin typeface="Segoe UI"/>
              </a:rPr>
              <a:t>The headline deliverable. ECS has no gang-scheduling primitive and Managed Instances cannot supply EFA, a placement group or userdata.</a:t>
            </a:r>
          </a:p>
        </p:txBody>
      </p:sp>
      <p:sp>
        <p:nvSpPr>
          <p:cNvPr id="10" name="TextBox 9"/>
          <p:cNvSpPr txBox="1"/>
          <p:nvPr/>
        </p:nvSpPr>
        <p:spPr>
          <a:xfrm>
            <a:off x="8869680" y="2057400"/>
            <a:ext cx="2560320" cy="457200"/>
          </a:xfrm>
          <a:prstGeom prst="rect">
            <a:avLst/>
          </a:prstGeom>
          <a:noFill/>
        </p:spPr>
        <p:txBody>
          <a:bodyPr wrap="square" lIns="0" rIns="0" tIns="0" bIns="0">
            <a:spAutoFit/>
          </a:bodyPr>
          <a:lstStyle/>
          <a:p>
            <a:pPr algn="l">
              <a:lnSpc>
                <a:spcPct val="115000"/>
              </a:lnSpc>
              <a:spcAft>
                <a:spcPts val="600"/>
              </a:spcAft>
            </a:pPr>
            <a:r>
              <a:rPr sz="1300" b="1">
                <a:solidFill>
                  <a:srgbClr val="A4343A"/>
                </a:solidFill>
                <a:latin typeface="Segoe UI"/>
              </a:rPr>
              <a:t>→ Rules out ECS</a:t>
            </a:r>
          </a:p>
        </p:txBody>
      </p:sp>
      <p:sp>
        <p:nvSpPr>
          <p:cNvPr id="11" name="Rounded Rectangle 10"/>
          <p:cNvSpPr/>
          <p:nvPr/>
        </p:nvSpPr>
        <p:spPr>
          <a:xfrm>
            <a:off x="548640" y="3127248"/>
            <a:ext cx="11064240" cy="13716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3127248"/>
            <a:ext cx="63500" cy="1371600"/>
          </a:xfrm>
          <a:prstGeom prst="rect">
            <a:avLst/>
          </a:prstGeom>
          <a:solidFill>
            <a:srgbClr val="A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10128"/>
            <a:ext cx="6949440" cy="320040"/>
          </a:xfrm>
          <a:prstGeom prst="rect">
            <a:avLst/>
          </a:prstGeom>
          <a:noFill/>
        </p:spPr>
        <p:txBody>
          <a:bodyPr wrap="square" lIns="0" rIns="0" tIns="0" bIns="0">
            <a:spAutoFit/>
          </a:bodyPr>
          <a:lstStyle/>
          <a:p>
            <a:pPr algn="l">
              <a:lnSpc>
                <a:spcPct val="115000"/>
              </a:lnSpc>
              <a:spcAft>
                <a:spcPts val="600"/>
              </a:spcAft>
            </a:pPr>
            <a:r>
              <a:rPr sz="1600" b="1">
                <a:solidFill>
                  <a:srgbClr val="1F3A5F"/>
                </a:solidFill>
                <a:latin typeface="Segoe UI"/>
              </a:rPr>
              <a:t>Interactive iteration, no queues</a:t>
            </a:r>
          </a:p>
        </p:txBody>
      </p:sp>
      <p:sp>
        <p:nvSpPr>
          <p:cNvPr id="14" name="TextBox 13"/>
          <p:cNvSpPr txBox="1"/>
          <p:nvPr/>
        </p:nvSpPr>
        <p:spPr>
          <a:xfrm>
            <a:off x="914400" y="3703320"/>
            <a:ext cx="7680960" cy="640080"/>
          </a:xfrm>
          <a:prstGeom prst="rect">
            <a:avLst/>
          </a:prstGeom>
          <a:noFill/>
        </p:spPr>
        <p:txBody>
          <a:bodyPr wrap="square" lIns="0" rIns="0" tIns="0" bIns="0">
            <a:spAutoFit/>
          </a:bodyPr>
          <a:lstStyle/>
          <a:p>
            <a:pPr algn="l">
              <a:lnSpc>
                <a:spcPct val="115000"/>
              </a:lnSpc>
              <a:spcAft>
                <a:spcPts val="600"/>
              </a:spcAft>
            </a:pPr>
            <a:r>
              <a:rPr sz="1200" b="0">
                <a:solidFill>
                  <a:srgbClr val="22272E"/>
                </a:solidFill>
                <a:latin typeface="Segoe UI"/>
              </a:rPr>
              <a:t>The kickoff's first and third priorities. Batch is submit-and-wait: minutes per iteration, and no GPU shell for debugging.</a:t>
            </a:r>
          </a:p>
        </p:txBody>
      </p:sp>
      <p:sp>
        <p:nvSpPr>
          <p:cNvPr id="15" name="TextBox 14"/>
          <p:cNvSpPr txBox="1"/>
          <p:nvPr/>
        </p:nvSpPr>
        <p:spPr>
          <a:xfrm>
            <a:off x="8869680" y="3630168"/>
            <a:ext cx="2560320" cy="457200"/>
          </a:xfrm>
          <a:prstGeom prst="rect">
            <a:avLst/>
          </a:prstGeom>
          <a:noFill/>
        </p:spPr>
        <p:txBody>
          <a:bodyPr wrap="square" lIns="0" rIns="0" tIns="0" bIns="0">
            <a:spAutoFit/>
          </a:bodyPr>
          <a:lstStyle/>
          <a:p>
            <a:pPr algn="l">
              <a:lnSpc>
                <a:spcPct val="115000"/>
              </a:lnSpc>
              <a:spcAft>
                <a:spcPts val="600"/>
              </a:spcAft>
            </a:pPr>
            <a:r>
              <a:rPr sz="1300" b="1">
                <a:solidFill>
                  <a:srgbClr val="A4343A"/>
                </a:solidFill>
                <a:latin typeface="Segoe UI"/>
              </a:rPr>
              <a:t>→ Rules out Batch for Phase 1</a:t>
            </a:r>
          </a:p>
        </p:txBody>
      </p:sp>
      <p:sp>
        <p:nvSpPr>
          <p:cNvPr id="16" name="Rounded Rectangle 15"/>
          <p:cNvSpPr/>
          <p:nvPr/>
        </p:nvSpPr>
        <p:spPr>
          <a:xfrm>
            <a:off x="548640" y="4700016"/>
            <a:ext cx="11064240" cy="1371600"/>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4700016"/>
            <a:ext cx="63500" cy="13716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82896"/>
            <a:ext cx="6949440" cy="320040"/>
          </a:xfrm>
          <a:prstGeom prst="rect">
            <a:avLst/>
          </a:prstGeom>
          <a:noFill/>
        </p:spPr>
        <p:txBody>
          <a:bodyPr wrap="square" lIns="0" rIns="0" tIns="0" bIns="0">
            <a:spAutoFit/>
          </a:bodyPr>
          <a:lstStyle/>
          <a:p>
            <a:pPr algn="l">
              <a:lnSpc>
                <a:spcPct val="115000"/>
              </a:lnSpc>
              <a:spcAft>
                <a:spcPts val="600"/>
              </a:spcAft>
            </a:pPr>
            <a:r>
              <a:rPr sz="1600" b="1">
                <a:solidFill>
                  <a:srgbClr val="1F3A5F"/>
                </a:solidFill>
                <a:latin typeface="Segoe UI"/>
              </a:rPr>
              <a:t>The stack named at kickoff</a:t>
            </a:r>
          </a:p>
        </p:txBody>
      </p:sp>
      <p:sp>
        <p:nvSpPr>
          <p:cNvPr id="19" name="TextBox 18"/>
          <p:cNvSpPr txBox="1"/>
          <p:nvPr/>
        </p:nvSpPr>
        <p:spPr>
          <a:xfrm>
            <a:off x="914400" y="5276088"/>
            <a:ext cx="7680960" cy="640080"/>
          </a:xfrm>
          <a:prstGeom prst="rect">
            <a:avLst/>
          </a:prstGeom>
          <a:noFill/>
        </p:spPr>
        <p:txBody>
          <a:bodyPr wrap="square" lIns="0" rIns="0" tIns="0" bIns="0">
            <a:spAutoFit/>
          </a:bodyPr>
          <a:lstStyle/>
          <a:p>
            <a:pPr algn="l">
              <a:lnSpc>
                <a:spcPct val="115000"/>
              </a:lnSpc>
              <a:spcAft>
                <a:spcPts val="600"/>
              </a:spcAft>
            </a:pPr>
            <a:r>
              <a:rPr sz="1200" b="0">
                <a:solidFill>
                  <a:srgbClr val="22272E"/>
                </a:solidFill>
                <a:latin typeface="Segoe UI"/>
              </a:rPr>
              <a:t>EKS / Ray / Argo was stated by the research team. Only one option satisfies it as named; ECS satisfies none of the three.</a:t>
            </a:r>
          </a:p>
        </p:txBody>
      </p:sp>
      <p:sp>
        <p:nvSpPr>
          <p:cNvPr id="20" name="TextBox 19"/>
          <p:cNvSpPr txBox="1"/>
          <p:nvPr/>
        </p:nvSpPr>
        <p:spPr>
          <a:xfrm>
            <a:off x="8869680" y="5202936"/>
            <a:ext cx="2560320" cy="457200"/>
          </a:xfrm>
          <a:prstGeom prst="rect">
            <a:avLst/>
          </a:prstGeom>
          <a:noFill/>
        </p:spPr>
        <p:txBody>
          <a:bodyPr wrap="square" lIns="0" rIns="0" tIns="0" bIns="0">
            <a:spAutoFit/>
          </a:bodyPr>
          <a:lstStyle/>
          <a:p>
            <a:pPr algn="l">
              <a:lnSpc>
                <a:spcPct val="115000"/>
              </a:lnSpc>
              <a:spcAft>
                <a:spcPts val="600"/>
              </a:spcAft>
            </a:pPr>
            <a:r>
              <a:rPr sz="1300" b="1">
                <a:solidFill>
                  <a:srgbClr val="2E8B8B"/>
                </a:solidFill>
                <a:latin typeface="Segoe UI"/>
              </a:rPr>
              <a:t>→ Confirms EKS + Ray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DECISION</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Recommendation</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463040"/>
            <a:ext cx="11064240" cy="1234440"/>
          </a:xfrm>
          <a:prstGeom prst="roundRect">
            <a:avLst>
              <a:gd name="adj" fmla="val 4000"/>
            </a:avLst>
          </a:prstGeom>
          <a:solidFill>
            <a:srgbClr val="1F3A5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1673352"/>
            <a:ext cx="10332720" cy="411480"/>
          </a:xfrm>
          <a:prstGeom prst="rect">
            <a:avLst/>
          </a:prstGeom>
          <a:noFill/>
        </p:spPr>
        <p:txBody>
          <a:bodyPr wrap="square" lIns="0" rIns="0" tIns="0" bIns="0">
            <a:spAutoFit/>
          </a:bodyPr>
          <a:lstStyle/>
          <a:p>
            <a:pPr algn="l">
              <a:lnSpc>
                <a:spcPct val="115000"/>
              </a:lnSpc>
              <a:spcAft>
                <a:spcPts val="600"/>
              </a:spcAft>
            </a:pPr>
            <a:r>
              <a:rPr sz="2200" b="1">
                <a:solidFill>
                  <a:srgbClr val="FFFFFF"/>
                </a:solidFill>
                <a:latin typeface="Segoe UI"/>
              </a:rPr>
              <a:t>Phase 1: build on EKS + Karpenter + Ray</a:t>
            </a:r>
          </a:p>
        </p:txBody>
      </p:sp>
      <p:sp>
        <p:nvSpPr>
          <p:cNvPr id="8" name="TextBox 7"/>
          <p:cNvSpPr txBox="1"/>
          <p:nvPr/>
        </p:nvSpPr>
        <p:spPr>
          <a:xfrm>
            <a:off x="914400" y="2148840"/>
            <a:ext cx="10332720" cy="365760"/>
          </a:xfrm>
          <a:prstGeom prst="rect">
            <a:avLst/>
          </a:prstGeom>
          <a:noFill/>
        </p:spPr>
        <p:txBody>
          <a:bodyPr wrap="square" lIns="0" rIns="0" tIns="0" bIns="0">
            <a:spAutoFit/>
          </a:bodyPr>
          <a:lstStyle/>
          <a:p>
            <a:pPr algn="l">
              <a:lnSpc>
                <a:spcPct val="115000"/>
              </a:lnSpc>
              <a:spcAft>
                <a:spcPts val="600"/>
              </a:spcAft>
            </a:pPr>
            <a:r>
              <a:rPr sz="1250" b="0">
                <a:solidFill>
                  <a:srgbClr val="C9D6E4"/>
                </a:solidFill>
                <a:latin typeface="Segoe UI"/>
              </a:rPr>
              <a:t>Revised 19 Oct: one framework across a three-shape pipeline, and the only option keeping a development loop. Margin over Batch is now narrow.</a:t>
            </a:r>
          </a:p>
        </p:txBody>
      </p:sp>
      <p:sp>
        <p:nvSpPr>
          <p:cNvPr id="9" name="TextBox 8"/>
          <p:cNvSpPr txBox="1"/>
          <p:nvPr/>
        </p:nvSpPr>
        <p:spPr>
          <a:xfrm>
            <a:off x="548640" y="2926080"/>
            <a:ext cx="11064240" cy="320040"/>
          </a:xfrm>
          <a:prstGeom prst="rect">
            <a:avLst/>
          </a:prstGeom>
          <a:noFill/>
        </p:spPr>
        <p:txBody>
          <a:bodyPr wrap="square" lIns="0" rIns="0" tIns="0" bIns="0">
            <a:spAutoFit/>
          </a:bodyPr>
          <a:lstStyle/>
          <a:p>
            <a:pPr algn="l">
              <a:lnSpc>
                <a:spcPct val="115000"/>
              </a:lnSpc>
              <a:spcAft>
                <a:spcPts val="600"/>
              </a:spcAft>
            </a:pPr>
            <a:r>
              <a:rPr sz="1100" b="1">
                <a:solidFill>
                  <a:srgbClr val="2E8B8B"/>
                </a:solidFill>
                <a:latin typeface="Segoe UI"/>
              </a:rPr>
              <a:t>WHY</a:t>
            </a:r>
          </a:p>
        </p:txBody>
      </p:sp>
      <p:sp>
        <p:nvSpPr>
          <p:cNvPr id="10" name="TextBox 9"/>
          <p:cNvSpPr txBox="1"/>
          <p:nvPr/>
        </p:nvSpPr>
        <p:spPr>
          <a:xfrm>
            <a:off x="548640" y="3291840"/>
            <a:ext cx="11064240" cy="1737360"/>
          </a:xfrm>
          <a:prstGeom prst="rect">
            <a:avLst/>
          </a:prstGeom>
          <a:noFill/>
        </p:spPr>
        <p:txBody>
          <a:bodyPr wrap="square" lIns="0" rIns="0" tIns="0" bIns="0">
            <a:spAutoFit/>
          </a:bodyPr>
          <a:lstStyle/>
          <a:p>
            <a:pPr algn="l">
              <a:lnSpc>
                <a:spcPct val="110000"/>
              </a:lnSpc>
              <a:spcAft>
                <a:spcPts val="800"/>
              </a:spcAft>
            </a:pPr>
            <a:r>
              <a:rPr sz="1150" b="0">
                <a:solidFill>
                  <a:srgbClr val="22272E"/>
                </a:solidFill>
                <a:latin typeface="Segoe UI"/>
              </a:rPr>
              <a:t>•  The workload is three shapes, not one — 100–200 CPUs preprocessing, 4–8 GPUs training for days, then 150 CPUs rendering. Ray spans all three in one framework, and Karpenter provisions both node pools. The alternative is a second system to operate.</a:t>
            </a:r>
          </a:p>
          <a:p>
            <a:pPr algn="l">
              <a:lnSpc>
                <a:spcPct val="110000"/>
              </a:lnSpc>
              <a:spcAft>
                <a:spcPts val="800"/>
              </a:spcAft>
            </a:pPr>
            <a:r>
              <a:rPr sz="1150" b="0">
                <a:solidFill>
                  <a:srgbClr val="22272E"/>
                </a:solidFill>
                <a:latin typeface="Segoe UI"/>
              </a:rPr>
              <a:t>•  It is the only option preserving a seconds-long development loop and live access into a running job — which is what Deepak asked for if development happens on AWS.</a:t>
            </a:r>
          </a:p>
          <a:p>
            <a:pPr algn="l">
              <a:lnSpc>
                <a:spcPct val="110000"/>
              </a:lnSpc>
              <a:spcAft>
                <a:spcPts val="800"/>
              </a:spcAft>
            </a:pPr>
            <a:r>
              <a:rPr sz="1150" b="0">
                <a:solidFill>
                  <a:srgbClr val="22272E"/>
                </a:solidFill>
                <a:latin typeface="Segoe UI"/>
              </a:rPr>
              <a:t>•  D8 stops being a late-phase risk: the burst layer is the compute substrate, demonstrated in week 3 rather than built in Thanksgiving week.</a:t>
            </a:r>
          </a:p>
          <a:p>
            <a:pPr algn="l">
              <a:lnSpc>
                <a:spcPct val="110000"/>
              </a:lnSpc>
              <a:spcAft>
                <a:spcPts val="800"/>
              </a:spcAft>
            </a:pPr>
            <a:r>
              <a:rPr sz="1150" b="0">
                <a:solidFill>
                  <a:srgbClr val="22272E"/>
                </a:solidFill>
                <a:latin typeface="Segoe UI"/>
              </a:rPr>
              <a:t>•  It is the stack the research team named, the only one preserving Mac / AWS / on-prem parity, and its access path — kubectl from a laptop — already works at GE.</a:t>
            </a:r>
          </a:p>
        </p:txBody>
      </p:sp>
      <p:sp>
        <p:nvSpPr>
          <p:cNvPr id="11" name="TextBox 10"/>
          <p:cNvSpPr txBox="1"/>
          <p:nvPr/>
        </p:nvSpPr>
        <p:spPr>
          <a:xfrm>
            <a:off x="548640" y="5120640"/>
            <a:ext cx="11064240" cy="320040"/>
          </a:xfrm>
          <a:prstGeom prst="rect">
            <a:avLst/>
          </a:prstGeom>
          <a:noFill/>
        </p:spPr>
        <p:txBody>
          <a:bodyPr wrap="square" lIns="0" rIns="0" tIns="0" bIns="0">
            <a:spAutoFit/>
          </a:bodyPr>
          <a:lstStyle/>
          <a:p>
            <a:pPr algn="l">
              <a:lnSpc>
                <a:spcPct val="115000"/>
              </a:lnSpc>
              <a:spcAft>
                <a:spcPts val="600"/>
              </a:spcAft>
            </a:pPr>
            <a:r>
              <a:rPr sz="1100" b="1">
                <a:solidFill>
                  <a:srgbClr val="6B7280"/>
                </a:solidFill>
                <a:latin typeface="Segoe UI"/>
              </a:rPr>
              <a:t>AND THE OTHER TWO</a:t>
            </a:r>
          </a:p>
        </p:txBody>
      </p:sp>
      <p:sp>
        <p:nvSpPr>
          <p:cNvPr id="12" name="TextBox 11"/>
          <p:cNvSpPr txBox="1"/>
          <p:nvPr/>
        </p:nvSpPr>
        <p:spPr>
          <a:xfrm>
            <a:off x="548640" y="5486400"/>
            <a:ext cx="11064240" cy="822960"/>
          </a:xfrm>
          <a:prstGeom prst="rect">
            <a:avLst/>
          </a:prstGeom>
          <a:noFill/>
        </p:spPr>
        <p:txBody>
          <a:bodyPr wrap="square" lIns="0" rIns="0" tIns="0" bIns="0">
            <a:spAutoFit/>
          </a:bodyPr>
          <a:lstStyle/>
          <a:p>
            <a:pPr algn="l">
              <a:lnSpc>
                <a:spcPct val="115000"/>
              </a:lnSpc>
              <a:spcAft>
                <a:spcPts val="800"/>
              </a:spcAft>
            </a:pPr>
            <a:r>
              <a:rPr sz="1200" b="0">
                <a:solidFill>
                  <a:srgbClr val="22272E"/>
                </a:solidFill>
                <a:latin typeface="Segoe UI"/>
              </a:rPr>
              <a:t>•  AWS Batch is now a CLOSE SECOND, not a clear no — it fits these job shapes well and its EFA pivot risk is gone.</a:t>
            </a:r>
          </a:p>
          <a:p>
            <a:pPr algn="l">
              <a:lnSpc>
                <a:spcPct val="115000"/>
              </a:lnSpc>
              <a:spcAft>
                <a:spcPts val="800"/>
              </a:spcAft>
            </a:pPr>
            <a:r>
              <a:rPr sz="1200" b="0">
                <a:solidFill>
                  <a:srgbClr val="22272E"/>
                </a:solidFill>
                <a:latin typeface="Segoe UI"/>
              </a:rPr>
              <a:t>•  What would tip it: if development happens on-prem rather than on AWS, Batch becomes the better choice.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DAILY WORKFLOW</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What researchers actually do</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TextBox 5"/>
          <p:cNvSpPr txBox="1"/>
          <p:nvPr/>
        </p:nvSpPr>
        <p:spPr>
          <a:xfrm>
            <a:off x="548640" y="1325880"/>
            <a:ext cx="11064240" cy="320040"/>
          </a:xfrm>
          <a:prstGeom prst="rect">
            <a:avLst/>
          </a:prstGeom>
          <a:noFill/>
        </p:spPr>
        <p:txBody>
          <a:bodyPr wrap="square" lIns="0" rIns="0" tIns="0" bIns="0">
            <a:spAutoFit/>
          </a:bodyPr>
          <a:lstStyle/>
          <a:p>
            <a:pPr algn="l">
              <a:lnSpc>
                <a:spcPct val="115000"/>
              </a:lnSpc>
              <a:spcAft>
                <a:spcPts val="600"/>
              </a:spcAft>
            </a:pPr>
            <a:r>
              <a:rPr sz="1200" b="0">
                <a:solidFill>
                  <a:srgbClr val="6B7280"/>
                </a:solidFill>
                <a:latin typeface="Segoe UI"/>
              </a:rPr>
              <a:t>The loop, under the recommended architecture. Nothing here requires them to learn Kubernetes.</a:t>
            </a:r>
          </a:p>
        </p:txBody>
      </p:sp>
      <p:sp>
        <p:nvSpPr>
          <p:cNvPr id="7" name="Rounded Rectangle 6"/>
          <p:cNvSpPr/>
          <p:nvPr/>
        </p:nvSpPr>
        <p:spPr>
          <a:xfrm>
            <a:off x="548640" y="1783080"/>
            <a:ext cx="1984248" cy="1143000"/>
          </a:xfrm>
          <a:prstGeom prst="roundRect">
            <a:avLst>
              <a:gd name="adj" fmla="val 4000"/>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1947672"/>
            <a:ext cx="1709928" cy="274320"/>
          </a:xfrm>
          <a:prstGeom prst="rect">
            <a:avLst/>
          </a:prstGeom>
          <a:noFill/>
        </p:spPr>
        <p:txBody>
          <a:bodyPr wrap="square" lIns="0" rIns="0" tIns="0" bIns="0">
            <a:spAutoFit/>
          </a:bodyPr>
          <a:lstStyle/>
          <a:p>
            <a:pPr algn="ctr">
              <a:lnSpc>
                <a:spcPct val="115000"/>
              </a:lnSpc>
              <a:spcAft>
                <a:spcPts val="600"/>
              </a:spcAft>
            </a:pPr>
            <a:r>
              <a:rPr sz="1300" b="1">
                <a:solidFill>
                  <a:srgbClr val="6B7280"/>
                </a:solidFill>
                <a:latin typeface="Segoe UI"/>
              </a:rPr>
              <a:t>laptop</a:t>
            </a:r>
          </a:p>
        </p:txBody>
      </p:sp>
      <p:sp>
        <p:nvSpPr>
          <p:cNvPr id="9" name="TextBox 8"/>
          <p:cNvSpPr txBox="1"/>
          <p:nvPr/>
        </p:nvSpPr>
        <p:spPr>
          <a:xfrm>
            <a:off x="640080" y="2313432"/>
            <a:ext cx="1801368" cy="502920"/>
          </a:xfrm>
          <a:prstGeom prst="rect">
            <a:avLst/>
          </a:prstGeom>
          <a:noFill/>
        </p:spPr>
        <p:txBody>
          <a:bodyPr wrap="square" lIns="0" rIns="0" tIns="0" bIns="0">
            <a:spAutoFit/>
          </a:bodyPr>
          <a:lstStyle/>
          <a:p>
            <a:pPr algn="ctr">
              <a:lnSpc>
                <a:spcPct val="115000"/>
              </a:lnSpc>
              <a:spcAft>
                <a:spcPts val="200"/>
              </a:spcAft>
            </a:pPr>
            <a:r>
              <a:rPr sz="1000" b="0">
                <a:solidFill>
                  <a:srgbClr val="22272E"/>
                </a:solidFill>
                <a:latin typeface="Segoe UI"/>
              </a:rPr>
              <a:t>gossamer →</a:t>
            </a:r>
          </a:p>
          <a:p>
            <a:pPr algn="ctr">
              <a:lnSpc>
                <a:spcPct val="115000"/>
              </a:lnSpc>
              <a:spcAft>
                <a:spcPts val="200"/>
              </a:spcAft>
            </a:pPr>
            <a:r>
              <a:rPr sz="1000" b="0">
                <a:solidFill>
                  <a:srgbClr val="22272E"/>
                </a:solidFill>
                <a:latin typeface="Segoe UI"/>
              </a:rPr>
              <a:t>AWS session</a:t>
            </a:r>
          </a:p>
        </p:txBody>
      </p:sp>
      <p:sp>
        <p:nvSpPr>
          <p:cNvPr id="10" name="Right Arrow 9"/>
          <p:cNvSpPr/>
          <p:nvPr/>
        </p:nvSpPr>
        <p:spPr>
          <a:xfrm>
            <a:off x="2587752" y="2240280"/>
            <a:ext cx="192024" cy="219456"/>
          </a:xfrm>
          <a:prstGeom prst="rightArrow">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34640" y="1783080"/>
            <a:ext cx="1984248" cy="1143000"/>
          </a:xfrm>
          <a:prstGeom prst="roundRect">
            <a:avLst>
              <a:gd name="adj" fmla="val 4000"/>
            </a:avLst>
          </a:prstGeom>
          <a:solidFill>
            <a:srgbClr val="FFFFFF"/>
          </a:solidFill>
          <a:ln w="19050">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971800" y="1947672"/>
            <a:ext cx="1709928" cy="274320"/>
          </a:xfrm>
          <a:prstGeom prst="rect">
            <a:avLst/>
          </a:prstGeom>
          <a:noFill/>
        </p:spPr>
        <p:txBody>
          <a:bodyPr wrap="square" lIns="0" rIns="0" tIns="0" bIns="0">
            <a:spAutoFit/>
          </a:bodyPr>
          <a:lstStyle/>
          <a:p>
            <a:pPr algn="ctr">
              <a:lnSpc>
                <a:spcPct val="115000"/>
              </a:lnSpc>
              <a:spcAft>
                <a:spcPts val="600"/>
              </a:spcAft>
            </a:pPr>
            <a:r>
              <a:rPr sz="1300" b="1">
                <a:solidFill>
                  <a:srgbClr val="2E8B8B"/>
                </a:solidFill>
                <a:latin typeface="Segoe UI"/>
              </a:rPr>
              <a:t>dev pod</a:t>
            </a:r>
          </a:p>
        </p:txBody>
      </p:sp>
      <p:sp>
        <p:nvSpPr>
          <p:cNvPr id="13" name="TextBox 12"/>
          <p:cNvSpPr txBox="1"/>
          <p:nvPr/>
        </p:nvSpPr>
        <p:spPr>
          <a:xfrm>
            <a:off x="2926080" y="2313432"/>
            <a:ext cx="1801368" cy="502920"/>
          </a:xfrm>
          <a:prstGeom prst="rect">
            <a:avLst/>
          </a:prstGeom>
          <a:noFill/>
        </p:spPr>
        <p:txBody>
          <a:bodyPr wrap="square" lIns="0" rIns="0" tIns="0" bIns="0">
            <a:spAutoFit/>
          </a:bodyPr>
          <a:lstStyle/>
          <a:p>
            <a:pPr algn="ctr">
              <a:lnSpc>
                <a:spcPct val="115000"/>
              </a:lnSpc>
              <a:spcAft>
                <a:spcPts val="200"/>
              </a:spcAft>
            </a:pPr>
            <a:r>
              <a:rPr sz="1000" b="0">
                <a:solidFill>
                  <a:srgbClr val="22272E"/>
                </a:solidFill>
                <a:latin typeface="Segoe UI"/>
              </a:rPr>
              <a:t>CPU, long-lived</a:t>
            </a:r>
          </a:p>
          <a:p>
            <a:pPr algn="ctr">
              <a:lnSpc>
                <a:spcPct val="115000"/>
              </a:lnSpc>
              <a:spcAft>
                <a:spcPts val="200"/>
              </a:spcAft>
            </a:pPr>
            <a:r>
              <a:rPr sz="1000" b="0">
                <a:solidFill>
                  <a:srgbClr val="22272E"/>
                </a:solidFill>
                <a:latin typeface="Segoe UI"/>
              </a:rPr>
              <a:t>edit code here</a:t>
            </a:r>
          </a:p>
        </p:txBody>
      </p:sp>
      <p:sp>
        <p:nvSpPr>
          <p:cNvPr id="14" name="Right Arrow 13"/>
          <p:cNvSpPr/>
          <p:nvPr/>
        </p:nvSpPr>
        <p:spPr>
          <a:xfrm>
            <a:off x="4873752" y="2240280"/>
            <a:ext cx="192024" cy="219456"/>
          </a:xfrm>
          <a:prstGeom prst="rightArrow">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0640" y="1783080"/>
            <a:ext cx="1984248" cy="1143000"/>
          </a:xfrm>
          <a:prstGeom prst="roundRect">
            <a:avLst>
              <a:gd name="adj" fmla="val 4000"/>
            </a:avLst>
          </a:prstGeom>
          <a:solidFill>
            <a:srgbClr val="FFFFFF"/>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57800" y="1947672"/>
            <a:ext cx="1709928" cy="274320"/>
          </a:xfrm>
          <a:prstGeom prst="rect">
            <a:avLst/>
          </a:prstGeom>
          <a:noFill/>
        </p:spPr>
        <p:txBody>
          <a:bodyPr wrap="square" lIns="0" rIns="0" tIns="0" bIns="0">
            <a:spAutoFit/>
          </a:bodyPr>
          <a:lstStyle/>
          <a:p>
            <a:pPr algn="ctr">
              <a:lnSpc>
                <a:spcPct val="115000"/>
              </a:lnSpc>
              <a:spcAft>
                <a:spcPts val="600"/>
              </a:spcAft>
            </a:pPr>
            <a:r>
              <a:rPr sz="1300" b="1">
                <a:solidFill>
                  <a:srgbClr val="1F3A5F"/>
                </a:solidFill>
                <a:latin typeface="Segoe UI"/>
              </a:rPr>
              <a:t>submit</a:t>
            </a:r>
          </a:p>
        </p:txBody>
      </p:sp>
      <p:sp>
        <p:nvSpPr>
          <p:cNvPr id="17" name="TextBox 16"/>
          <p:cNvSpPr txBox="1"/>
          <p:nvPr/>
        </p:nvSpPr>
        <p:spPr>
          <a:xfrm>
            <a:off x="5212080" y="2313432"/>
            <a:ext cx="1801368" cy="502920"/>
          </a:xfrm>
          <a:prstGeom prst="rect">
            <a:avLst/>
          </a:prstGeom>
          <a:noFill/>
        </p:spPr>
        <p:txBody>
          <a:bodyPr wrap="square" lIns="0" rIns="0" tIns="0" bIns="0">
            <a:spAutoFit/>
          </a:bodyPr>
          <a:lstStyle/>
          <a:p>
            <a:pPr algn="ctr">
              <a:lnSpc>
                <a:spcPct val="115000"/>
              </a:lnSpc>
              <a:spcAft>
                <a:spcPts val="200"/>
              </a:spcAft>
            </a:pPr>
            <a:r>
              <a:rPr sz="1000" b="0">
                <a:solidFill>
                  <a:srgbClr val="22272E"/>
                </a:solidFill>
                <a:latin typeface="Segoe UI"/>
              </a:rPr>
              <a:t>mlaas submit</a:t>
            </a:r>
          </a:p>
          <a:p>
            <a:pPr algn="ctr">
              <a:lnSpc>
                <a:spcPct val="115000"/>
              </a:lnSpc>
              <a:spcAft>
                <a:spcPts val="200"/>
              </a:spcAft>
            </a:pPr>
            <a:r>
              <a:rPr sz="1000" b="0">
                <a:solidFill>
                  <a:srgbClr val="22272E"/>
                </a:solidFill>
                <a:latin typeface="Segoe UI"/>
              </a:rPr>
              <a:t>train.py --gpus 8</a:t>
            </a:r>
          </a:p>
        </p:txBody>
      </p:sp>
      <p:sp>
        <p:nvSpPr>
          <p:cNvPr id="18" name="Right Arrow 17"/>
          <p:cNvSpPr/>
          <p:nvPr/>
        </p:nvSpPr>
        <p:spPr>
          <a:xfrm>
            <a:off x="7159752" y="2240280"/>
            <a:ext cx="192024" cy="219456"/>
          </a:xfrm>
          <a:prstGeom prst="rightArrow">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6640" y="1783080"/>
            <a:ext cx="1984248" cy="1143000"/>
          </a:xfrm>
          <a:prstGeom prst="roundRect">
            <a:avLst>
              <a:gd name="adj" fmla="val 4000"/>
            </a:avLst>
          </a:prstGeom>
          <a:solidFill>
            <a:srgbClr val="FFFFFF"/>
          </a:solidFill>
          <a:ln w="19050">
            <a:solidFill>
              <a:srgbClr val="2E7D5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543800" y="1947672"/>
            <a:ext cx="1709928" cy="274320"/>
          </a:xfrm>
          <a:prstGeom prst="rect">
            <a:avLst/>
          </a:prstGeom>
          <a:noFill/>
        </p:spPr>
        <p:txBody>
          <a:bodyPr wrap="square" lIns="0" rIns="0" tIns="0" bIns="0">
            <a:spAutoFit/>
          </a:bodyPr>
          <a:lstStyle/>
          <a:p>
            <a:pPr algn="ctr">
              <a:lnSpc>
                <a:spcPct val="115000"/>
              </a:lnSpc>
              <a:spcAft>
                <a:spcPts val="600"/>
              </a:spcAft>
            </a:pPr>
            <a:r>
              <a:rPr sz="1300" b="1">
                <a:solidFill>
                  <a:srgbClr val="2E7D54"/>
                </a:solidFill>
                <a:latin typeface="Segoe UI"/>
              </a:rPr>
              <a:t>GPU job</a:t>
            </a:r>
          </a:p>
        </p:txBody>
      </p:sp>
      <p:sp>
        <p:nvSpPr>
          <p:cNvPr id="21" name="TextBox 20"/>
          <p:cNvSpPr txBox="1"/>
          <p:nvPr/>
        </p:nvSpPr>
        <p:spPr>
          <a:xfrm>
            <a:off x="7498080" y="2313432"/>
            <a:ext cx="1801368" cy="502920"/>
          </a:xfrm>
          <a:prstGeom prst="rect">
            <a:avLst/>
          </a:prstGeom>
          <a:noFill/>
        </p:spPr>
        <p:txBody>
          <a:bodyPr wrap="square" lIns="0" rIns="0" tIns="0" bIns="0">
            <a:spAutoFit/>
          </a:bodyPr>
          <a:lstStyle/>
          <a:p>
            <a:pPr algn="ctr">
              <a:lnSpc>
                <a:spcPct val="115000"/>
              </a:lnSpc>
              <a:spcAft>
                <a:spcPts val="200"/>
              </a:spcAft>
            </a:pPr>
            <a:r>
              <a:rPr sz="1000" b="0">
                <a:solidFill>
                  <a:srgbClr val="22272E"/>
                </a:solidFill>
                <a:latin typeface="Segoe UI"/>
              </a:rPr>
              <a:t>runs on one p5</a:t>
            </a:r>
          </a:p>
          <a:p>
            <a:pPr algn="ctr">
              <a:lnSpc>
                <a:spcPct val="115000"/>
              </a:lnSpc>
              <a:spcAft>
                <a:spcPts val="200"/>
              </a:spcAft>
            </a:pPr>
            <a:r>
              <a:rPr sz="1000" b="0">
                <a:solidFill>
                  <a:srgbClr val="22272E"/>
                </a:solidFill>
                <a:latin typeface="Segoe UI"/>
              </a:rPr>
              <a:t>logs stream back</a:t>
            </a:r>
          </a:p>
        </p:txBody>
      </p:sp>
      <p:sp>
        <p:nvSpPr>
          <p:cNvPr id="22" name="Right Arrow 21"/>
          <p:cNvSpPr/>
          <p:nvPr/>
        </p:nvSpPr>
        <p:spPr>
          <a:xfrm>
            <a:off x="9445752" y="2240280"/>
            <a:ext cx="192024" cy="219456"/>
          </a:xfrm>
          <a:prstGeom prst="rightArrow">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92640" y="1783080"/>
            <a:ext cx="1984248" cy="1143000"/>
          </a:xfrm>
          <a:prstGeom prst="roundRect">
            <a:avLst>
              <a:gd name="adj" fmla="val 4000"/>
            </a:avLst>
          </a:prstGeom>
          <a:solidFill>
            <a:srgbClr val="FFFFFF"/>
          </a:solidFill>
          <a:ln w="19050">
            <a:solidFill>
              <a:srgbClr val="2E7D5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829800" y="1947672"/>
            <a:ext cx="1709928" cy="274320"/>
          </a:xfrm>
          <a:prstGeom prst="rect">
            <a:avLst/>
          </a:prstGeom>
          <a:noFill/>
        </p:spPr>
        <p:txBody>
          <a:bodyPr wrap="square" lIns="0" rIns="0" tIns="0" bIns="0">
            <a:spAutoFit/>
          </a:bodyPr>
          <a:lstStyle/>
          <a:p>
            <a:pPr algn="ctr">
              <a:lnSpc>
                <a:spcPct val="115000"/>
              </a:lnSpc>
              <a:spcAft>
                <a:spcPts val="600"/>
              </a:spcAft>
            </a:pPr>
            <a:r>
              <a:rPr sz="1300" b="1">
                <a:solidFill>
                  <a:srgbClr val="2E7D54"/>
                </a:solidFill>
                <a:latin typeface="Segoe UI"/>
              </a:rPr>
              <a:t>get inside</a:t>
            </a:r>
          </a:p>
        </p:txBody>
      </p:sp>
      <p:sp>
        <p:nvSpPr>
          <p:cNvPr id="25" name="TextBox 24"/>
          <p:cNvSpPr txBox="1"/>
          <p:nvPr/>
        </p:nvSpPr>
        <p:spPr>
          <a:xfrm>
            <a:off x="9784080" y="2313432"/>
            <a:ext cx="1801368" cy="502920"/>
          </a:xfrm>
          <a:prstGeom prst="rect">
            <a:avLst/>
          </a:prstGeom>
          <a:noFill/>
        </p:spPr>
        <p:txBody>
          <a:bodyPr wrap="square" lIns="0" rIns="0" tIns="0" bIns="0">
            <a:spAutoFit/>
          </a:bodyPr>
          <a:lstStyle/>
          <a:p>
            <a:pPr algn="ctr">
              <a:lnSpc>
                <a:spcPct val="115000"/>
              </a:lnSpc>
              <a:spcAft>
                <a:spcPts val="200"/>
              </a:spcAft>
            </a:pPr>
            <a:r>
              <a:rPr sz="1000" b="0">
                <a:solidFill>
                  <a:srgbClr val="22272E"/>
                </a:solidFill>
                <a:latin typeface="Segoe UI"/>
              </a:rPr>
              <a:t>mlaas shell &lt;run&gt;</a:t>
            </a:r>
          </a:p>
          <a:p>
            <a:pPr algn="ctr">
              <a:lnSpc>
                <a:spcPct val="115000"/>
              </a:lnSpc>
              <a:spcAft>
                <a:spcPts val="200"/>
              </a:spcAft>
            </a:pPr>
            <a:r>
              <a:rPr sz="1000" b="0">
                <a:solidFill>
                  <a:srgbClr val="22272E"/>
                </a:solidFill>
                <a:latin typeface="Segoe UI"/>
              </a:rPr>
              <a:t>live, while running</a:t>
            </a:r>
          </a:p>
        </p:txBody>
      </p:sp>
      <p:graphicFrame>
        <p:nvGraphicFramePr>
          <p:cNvPr id="26" name="Table 25"/>
          <p:cNvGraphicFramePr>
            <a:graphicFrameLocks noGrp="1"/>
          </p:cNvGraphicFramePr>
          <p:nvPr/>
        </p:nvGraphicFramePr>
        <p:xfrm>
          <a:off x="548640" y="3200400"/>
          <a:ext cx="11064240" cy="2304288"/>
        </p:xfrm>
        <a:graphic>
          <a:graphicData uri="http://schemas.openxmlformats.org/drawingml/2006/table">
            <a:tbl>
              <a:tblPr firstRow="1" bandRow="1">
                <a:tableStyleId>{5C22544A-7EE6-4342-B048-85BDC9FD1C3A}</a:tableStyleId>
              </a:tblPr>
              <a:tblGrid>
                <a:gridCol w="2651760"/>
                <a:gridCol w="4206240"/>
                <a:gridCol w="4206240"/>
              </a:tblGrid>
              <a:tr h="384048">
                <a:tc>
                  <a:txBody>
                    <a:bodyPr wrap="square"/>
                    <a:lstStyle/>
                    <a:p>
                      <a:pPr algn="l"/>
                      <a:r>
                        <a:rPr sz="1000" b="1">
                          <a:solidFill>
                            <a:srgbClr val="FFFFFF"/>
                          </a:solidFill>
                          <a:latin typeface="Segoe UI"/>
                        </a:rPr>
                        <a:t>Need</a:t>
                      </a:r>
                    </a:p>
                  </a:txBody>
                  <a:tcPr marL="64008" marR="64008" marT="18288" marB="18288" anchor="ctr">
                    <a:solidFill>
                      <a:srgbClr val="1F3A5F"/>
                    </a:solidFill>
                  </a:tcPr>
                </a:tc>
                <a:tc>
                  <a:txBody>
                    <a:bodyPr wrap="square"/>
                    <a:lstStyle/>
                    <a:p>
                      <a:pPr algn="l"/>
                      <a:r>
                        <a:rPr sz="1000" b="1">
                          <a:solidFill>
                            <a:srgbClr val="FFFFFF"/>
                          </a:solidFill>
                          <a:latin typeface="Segoe UI"/>
                        </a:rPr>
                        <a:t>What they type</a:t>
                      </a:r>
                    </a:p>
                  </a:txBody>
                  <a:tcPr marL="64008" marR="64008" marT="18288" marB="18288" anchor="ctr">
                    <a:solidFill>
                      <a:srgbClr val="1F3A5F"/>
                    </a:solidFill>
                  </a:tcPr>
                </a:tc>
                <a:tc>
                  <a:txBody>
                    <a:bodyPr wrap="square"/>
                    <a:lstStyle/>
                    <a:p>
                      <a:pPr algn="l"/>
                      <a:r>
                        <a:rPr sz="1000" b="1">
                          <a:solidFill>
                            <a:srgbClr val="FFFFFF"/>
                          </a:solidFill>
                          <a:latin typeface="Segoe UI"/>
                        </a:rPr>
                        <a:t>Note</a:t>
                      </a:r>
                    </a:p>
                  </a:txBody>
                  <a:tcPr marL="64008" marR="64008" marT="18288" marB="18288" anchor="ctr">
                    <a:solidFill>
                      <a:srgbClr val="1F3A5F"/>
                    </a:solidFill>
                  </a:tcPr>
                </a:tc>
              </a:tr>
              <a:tr h="384048">
                <a:tc>
                  <a:txBody>
                    <a:bodyPr wrap="square"/>
                    <a:lstStyle/>
                    <a:p>
                      <a:pPr algn="l"/>
                      <a:r>
                        <a:rPr sz="1100" b="0">
                          <a:solidFill>
                            <a:srgbClr val="22272E"/>
                          </a:solidFill>
                          <a:latin typeface="Segoe UI"/>
                        </a:rPr>
                        <a:t>Edit code</a:t>
                      </a:r>
                    </a:p>
                  </a:txBody>
                  <a:tcPr marL="64008" marR="64008" marT="18288" marB="18288" anchor="ctr">
                    <a:solidFill>
                      <a:srgbClr val="FFFFFF"/>
                    </a:solidFill>
                  </a:tcPr>
                </a:tc>
                <a:tc>
                  <a:txBody>
                    <a:bodyPr wrap="square"/>
                    <a:lstStyle/>
                    <a:p>
                      <a:pPr algn="l"/>
                      <a:r>
                        <a:rPr sz="1100" b="0">
                          <a:solidFill>
                            <a:srgbClr val="22272E"/>
                          </a:solidFill>
                          <a:latin typeface="Segoe UI"/>
                        </a:rPr>
                        <a:t>kubectl exec -it dev-&lt;name&gt; -- bash</a:t>
                      </a:r>
                    </a:p>
                  </a:txBody>
                  <a:tcPr marL="64008" marR="64008" marT="18288" marB="18288" anchor="ctr">
                    <a:solidFill>
                      <a:srgbClr val="FFFFFF"/>
                    </a:solidFill>
                  </a:tcPr>
                </a:tc>
                <a:tc>
                  <a:txBody>
                    <a:bodyPr wrap="square"/>
                    <a:lstStyle/>
                    <a:p>
                      <a:pPr algn="l"/>
                      <a:r>
                        <a:rPr sz="1100" b="0">
                          <a:solidFill>
                            <a:srgbClr val="22272E"/>
                          </a:solidFill>
                          <a:latin typeface="Segoe UI"/>
                        </a:rPr>
                        <a:t>or VS Code Remote onto the dev pod</a:t>
                      </a:r>
                    </a:p>
                  </a:txBody>
                  <a:tcPr marL="64008" marR="64008" marT="18288" marB="18288" anchor="ctr">
                    <a:solidFill>
                      <a:srgbClr val="FFFFFF"/>
                    </a:solidFill>
                  </a:tcPr>
                </a:tc>
              </a:tr>
              <a:tr h="384048">
                <a:tc>
                  <a:txBody>
                    <a:bodyPr wrap="square"/>
                    <a:lstStyle/>
                    <a:p>
                      <a:pPr algn="l"/>
                      <a:r>
                        <a:rPr sz="1100" b="0">
                          <a:solidFill>
                            <a:srgbClr val="22272E"/>
                          </a:solidFill>
                          <a:latin typeface="Segoe UI"/>
                        </a:rPr>
                        <a:t>Start a run</a:t>
                      </a:r>
                    </a:p>
                  </a:txBody>
                  <a:tcPr marL="64008" marR="64008" marT="18288" marB="18288" anchor="ctr">
                    <a:solidFill>
                      <a:srgbClr val="F4F6F8"/>
                    </a:solidFill>
                  </a:tcPr>
                </a:tc>
                <a:tc>
                  <a:txBody>
                    <a:bodyPr wrap="square"/>
                    <a:lstStyle/>
                    <a:p>
                      <a:pPr algn="l"/>
                      <a:r>
                        <a:rPr sz="1100" b="0">
                          <a:solidFill>
                            <a:srgbClr val="22272E"/>
                          </a:solidFill>
                          <a:latin typeface="Segoe UI"/>
                        </a:rPr>
                        <a:t>mlaas submit train.py --gpus 8</a:t>
                      </a:r>
                    </a:p>
                  </a:txBody>
                  <a:tcPr marL="64008" marR="64008" marT="18288" marB="18288" anchor="ctr">
                    <a:solidFill>
                      <a:srgbClr val="F4F6F8"/>
                    </a:solidFill>
                  </a:tcPr>
                </a:tc>
                <a:tc>
                  <a:txBody>
                    <a:bodyPr wrap="square"/>
                    <a:lstStyle/>
                    <a:p>
                      <a:pPr algn="l"/>
                      <a:r>
                        <a:rPr sz="1100" b="0">
                          <a:solidFill>
                            <a:srgbClr val="22272E"/>
                          </a:solidFill>
                          <a:latin typeface="Segoe UI"/>
                        </a:rPr>
                        <a:t>wrapper writes the Job; kubectl still works</a:t>
                      </a:r>
                    </a:p>
                  </a:txBody>
                  <a:tcPr marL="64008" marR="64008" marT="18288" marB="18288" anchor="ctr">
                    <a:solidFill>
                      <a:srgbClr val="F4F6F8"/>
                    </a:solidFill>
                  </a:tcPr>
                </a:tc>
              </a:tr>
              <a:tr h="384048">
                <a:tc>
                  <a:txBody>
                    <a:bodyPr wrap="square"/>
                    <a:lstStyle/>
                    <a:p>
                      <a:pPr algn="l"/>
                      <a:r>
                        <a:rPr sz="1100" b="0">
                          <a:solidFill>
                            <a:srgbClr val="22272E"/>
                          </a:solidFill>
                          <a:latin typeface="Segoe UI"/>
                        </a:rPr>
                        <a:t>Watch it</a:t>
                      </a:r>
                    </a:p>
                  </a:txBody>
                  <a:tcPr marL="64008" marR="64008" marT="18288" marB="18288" anchor="ctr">
                    <a:solidFill>
                      <a:srgbClr val="FFFFFF"/>
                    </a:solidFill>
                  </a:tcPr>
                </a:tc>
                <a:tc>
                  <a:txBody>
                    <a:bodyPr wrap="square"/>
                    <a:lstStyle/>
                    <a:p>
                      <a:pPr algn="l"/>
                      <a:r>
                        <a:rPr sz="1100" b="0">
                          <a:solidFill>
                            <a:srgbClr val="22272E"/>
                          </a:solidFill>
                          <a:latin typeface="Segoe UI"/>
                        </a:rPr>
                        <a:t>mlaas logs -f &lt;run&gt;</a:t>
                      </a:r>
                    </a:p>
                  </a:txBody>
                  <a:tcPr marL="64008" marR="64008" marT="18288" marB="18288" anchor="ctr">
                    <a:solidFill>
                      <a:srgbClr val="FFFFFF"/>
                    </a:solidFill>
                  </a:tcPr>
                </a:tc>
                <a:tc>
                  <a:txBody>
                    <a:bodyPr wrap="square"/>
                    <a:lstStyle/>
                    <a:p>
                      <a:pPr algn="l"/>
                      <a:r>
                        <a:rPr sz="1100" b="0">
                          <a:solidFill>
                            <a:srgbClr val="22272E"/>
                          </a:solidFill>
                          <a:latin typeface="Segoe UI"/>
                        </a:rPr>
                        <a:t>kubectl logs underneath</a:t>
                      </a:r>
                    </a:p>
                  </a:txBody>
                  <a:tcPr marL="64008" marR="64008" marT="18288" marB="18288" anchor="ctr">
                    <a:solidFill>
                      <a:srgbClr val="FFFFFF"/>
                    </a:solidFill>
                  </a:tcPr>
                </a:tc>
              </a:tr>
              <a:tr h="384048">
                <a:tc>
                  <a:txBody>
                    <a:bodyPr wrap="square"/>
                    <a:lstStyle/>
                    <a:p>
                      <a:pPr algn="l"/>
                      <a:r>
                        <a:rPr sz="1100" b="0">
                          <a:solidFill>
                            <a:srgbClr val="22272E"/>
                          </a:solidFill>
                          <a:latin typeface="Segoe UI"/>
                        </a:rPr>
                        <a:t>Get inside a running job</a:t>
                      </a:r>
                    </a:p>
                  </a:txBody>
                  <a:tcPr marL="64008" marR="64008" marT="18288" marB="18288" anchor="ctr">
                    <a:solidFill>
                      <a:srgbClr val="F4F6F8"/>
                    </a:solidFill>
                  </a:tcPr>
                </a:tc>
                <a:tc>
                  <a:txBody>
                    <a:bodyPr wrap="square"/>
                    <a:lstStyle/>
                    <a:p>
                      <a:pPr algn="l"/>
                      <a:r>
                        <a:rPr sz="1100" b="0">
                          <a:solidFill>
                            <a:srgbClr val="22272E"/>
                          </a:solidFill>
                          <a:latin typeface="Segoe UI"/>
                        </a:rPr>
                        <a:t>mlaas shell &lt;run&gt;</a:t>
                      </a:r>
                    </a:p>
                  </a:txBody>
                  <a:tcPr marL="64008" marR="64008" marT="18288" marB="18288" anchor="ctr">
                    <a:solidFill>
                      <a:srgbClr val="F4F6F8"/>
                    </a:solidFill>
                  </a:tcPr>
                </a:tc>
                <a:tc>
                  <a:txBody>
                    <a:bodyPr wrap="square"/>
                    <a:lstStyle/>
                    <a:p>
                      <a:pPr algn="l"/>
                      <a:r>
                        <a:rPr sz="1100" b="0">
                          <a:solidFill>
                            <a:srgbClr val="22272E"/>
                          </a:solidFill>
                          <a:latin typeface="Segoe UI"/>
                        </a:rPr>
                        <a:t>Deepak's "optional live container access"</a:t>
                      </a:r>
                    </a:p>
                  </a:txBody>
                  <a:tcPr marL="64008" marR="64008" marT="18288" marB="18288" anchor="ctr">
                    <a:solidFill>
                      <a:srgbClr val="F4F6F8"/>
                    </a:solidFill>
                  </a:tcPr>
                </a:tc>
              </a:tr>
              <a:tr h="384048">
                <a:tc>
                  <a:txBody>
                    <a:bodyPr wrap="square"/>
                    <a:lstStyle/>
                    <a:p>
                      <a:pPr algn="l"/>
                      <a:r>
                        <a:rPr sz="1100" b="0">
                          <a:solidFill>
                            <a:srgbClr val="22272E"/>
                          </a:solidFill>
                          <a:latin typeface="Segoe UI"/>
                        </a:rPr>
                        <a:t>Debug on a GPU</a:t>
                      </a:r>
                    </a:p>
                  </a:txBody>
                  <a:tcPr marL="64008" marR="64008" marT="18288" marB="18288" anchor="ctr">
                    <a:solidFill>
                      <a:srgbClr val="FFFFFF"/>
                    </a:solidFill>
                  </a:tcPr>
                </a:tc>
                <a:tc>
                  <a:txBody>
                    <a:bodyPr wrap="square"/>
                    <a:lstStyle/>
                    <a:p>
                      <a:pPr algn="l"/>
                      <a:r>
                        <a:rPr sz="1100" b="0">
                          <a:solidFill>
                            <a:srgbClr val="22272E"/>
                          </a:solidFill>
                          <a:latin typeface="Segoe UI"/>
                        </a:rPr>
                        <a:t>mlaas shell --gpus 1 --ttl 2h</a:t>
                      </a:r>
                    </a:p>
                  </a:txBody>
                  <a:tcPr marL="64008" marR="64008" marT="18288" marB="18288" anchor="ctr">
                    <a:solidFill>
                      <a:srgbClr val="FFFFFF"/>
                    </a:solidFill>
                  </a:tcPr>
                </a:tc>
                <a:tc>
                  <a:txBody>
                    <a:bodyPr wrap="square"/>
                    <a:lstStyle/>
                    <a:p>
                      <a:pPr algn="l"/>
                      <a:r>
                        <a:rPr sz="1100" b="0">
                          <a:solidFill>
                            <a:srgbClr val="22272E"/>
                          </a:solidFill>
                          <a:latin typeface="Segoe UI"/>
                        </a:rPr>
                        <a:t>time-boxed on purpose</a:t>
                      </a:r>
                    </a:p>
                  </a:txBody>
                  <a:tcPr marL="64008" marR="64008" marT="18288" marB="18288" anchor="ctr">
                    <a:solidFill>
                      <a:srgbClr val="FFFFFF"/>
                    </a:solidFill>
                  </a:tcPr>
                </a:tc>
              </a:tr>
            </a:tbl>
          </a:graphicData>
        </a:graphic>
      </p:graphicFrame>
      <p:sp>
        <p:nvSpPr>
          <p:cNvPr id="27" name="Rounded Rectangle 26"/>
          <p:cNvSpPr/>
          <p:nvPr/>
        </p:nvSpPr>
        <p:spPr>
          <a:xfrm>
            <a:off x="548640" y="5577840"/>
            <a:ext cx="11064240" cy="658368"/>
          </a:xfrm>
          <a:prstGeom prst="roundRect">
            <a:avLst>
              <a:gd name="adj" fmla="val 4000"/>
            </a:avLst>
          </a:prstGeom>
          <a:solidFill>
            <a:srgbClr val="ECF3F3"/>
          </a:solidFill>
          <a:ln w="9525">
            <a:solidFill>
              <a:srgbClr val="2E8B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68680" y="5769864"/>
            <a:ext cx="10515600" cy="320040"/>
          </a:xfrm>
          <a:prstGeom prst="rect">
            <a:avLst/>
          </a:prstGeom>
          <a:noFill/>
        </p:spPr>
        <p:txBody>
          <a:bodyPr wrap="square" lIns="0" rIns="0" tIns="0" bIns="0">
            <a:spAutoFit/>
          </a:bodyPr>
          <a:lstStyle/>
          <a:p>
            <a:pPr algn="l">
              <a:lnSpc>
                <a:spcPct val="115000"/>
              </a:lnSpc>
              <a:spcAft>
                <a:spcPts val="600"/>
              </a:spcAft>
            </a:pPr>
            <a:r>
              <a:rPr sz="1200" b="0">
                <a:solidFill>
                  <a:srgbClr val="1F3A5F"/>
                </a:solidFill>
                <a:latin typeface="Segoe UI"/>
              </a:rPr>
              <a:t>Researchers should never write a Kubernetes manifest to start a run. The wrapper is about a day of work — and the biggest lever on whether this feels like a sandbox or a deployment pipeline.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PRIVILEGE MODEL</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Access: no root, in three senses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graphicFrame>
        <p:nvGraphicFramePr>
          <p:cNvPr id="6" name="Table 5"/>
          <p:cNvGraphicFramePr>
            <a:graphicFrameLocks noGrp="1"/>
          </p:cNvGraphicFramePr>
          <p:nvPr/>
        </p:nvGraphicFramePr>
        <p:xfrm>
          <a:off x="548640" y="1463040"/>
          <a:ext cx="11064240" cy="1828800"/>
        </p:xfrm>
        <a:graphic>
          <a:graphicData uri="http://schemas.openxmlformats.org/drawingml/2006/table">
            <a:tbl>
              <a:tblPr firstRow="1" bandRow="1">
                <a:tableStyleId>{5C22544A-7EE6-4342-B048-85BDC9FD1C3A}</a:tableStyleId>
              </a:tblPr>
              <a:tblGrid>
                <a:gridCol w="3017520"/>
                <a:gridCol w="1920240"/>
                <a:gridCol w="6126480"/>
              </a:tblGrid>
              <a:tr h="457200">
                <a:tc>
                  <a:txBody>
                    <a:bodyPr wrap="square"/>
                    <a:lstStyle/>
                    <a:p>
                      <a:pPr algn="l"/>
                      <a:r>
                        <a:rPr sz="1000" b="1">
                          <a:solidFill>
                            <a:srgbClr val="FFFFFF"/>
                          </a:solidFill>
                          <a:latin typeface="Segoe UI"/>
                        </a:rPr>
                        <a:t>Scope</a:t>
                      </a:r>
                    </a:p>
                  </a:txBody>
                  <a:tcPr marL="64008" marR="64008" marT="18288" marB="18288" anchor="ctr">
                    <a:solidFill>
                      <a:srgbClr val="1F3A5F"/>
                    </a:solidFill>
                  </a:tcPr>
                </a:tc>
                <a:tc>
                  <a:txBody>
                    <a:bodyPr wrap="square"/>
                    <a:lstStyle/>
                    <a:p>
                      <a:pPr algn="ctr"/>
                      <a:r>
                        <a:rPr sz="1000" b="1">
                          <a:solidFill>
                            <a:srgbClr val="FFFFFF"/>
                          </a:solidFill>
                          <a:latin typeface="Segoe UI"/>
                        </a:rPr>
                        <a:t>Granted?</a:t>
                      </a:r>
                    </a:p>
                  </a:txBody>
                  <a:tcPr marL="64008" marR="64008" marT="18288" marB="18288" anchor="ctr">
                    <a:solidFill>
                      <a:srgbClr val="1F3A5F"/>
                    </a:solidFill>
                  </a:tcPr>
                </a:tc>
                <a:tc>
                  <a:txBody>
                    <a:bodyPr wrap="square"/>
                    <a:lstStyle/>
                    <a:p>
                      <a:pPr algn="l"/>
                      <a:r>
                        <a:rPr sz="1000" b="1">
                          <a:solidFill>
                            <a:srgbClr val="FFFFFF"/>
                          </a:solidFill>
                          <a:latin typeface="Segoe UI"/>
                        </a:rPr>
                        <a:t>Why</a:t>
                      </a:r>
                    </a:p>
                  </a:txBody>
                  <a:tcPr marL="64008" marR="64008" marT="18288" marB="18288" anchor="ctr">
                    <a:solidFill>
                      <a:srgbClr val="1F3A5F"/>
                    </a:solidFill>
                  </a:tcPr>
                </a:tc>
              </a:tr>
              <a:tr h="457200">
                <a:tc>
                  <a:txBody>
                    <a:bodyPr wrap="square"/>
                    <a:lstStyle/>
                    <a:p>
                      <a:pPr algn="l"/>
                      <a:r>
                        <a:rPr sz="1150" b="0">
                          <a:solidFill>
                            <a:srgbClr val="22272E"/>
                          </a:solidFill>
                          <a:latin typeface="Segoe UI"/>
                        </a:rPr>
                        <a:t>Root on the node / host</a:t>
                      </a:r>
                    </a:p>
                  </a:txBody>
                  <a:tcPr marL="64008" marR="64008" marT="18288" marB="18288" anchor="ctr">
                    <a:solidFill>
                      <a:srgbClr val="FFFFFF"/>
                    </a:solidFill>
                  </a:tcPr>
                </a:tc>
                <a:tc>
                  <a:txBody>
                    <a:bodyPr wrap="square"/>
                    <a:lstStyle/>
                    <a:p>
                      <a:pPr algn="ctr"/>
                      <a:r>
                        <a:rPr sz="1150" b="1">
                          <a:solidFill>
                            <a:srgbClr val="A4343A"/>
                          </a:solidFill>
                          <a:latin typeface="Segoe UI"/>
                        </a:rPr>
                        <a:t>Never</a:t>
                      </a:r>
                    </a:p>
                  </a:txBody>
                  <a:tcPr marL="64008" marR="64008" marT="18288" marB="18288" anchor="ctr">
                    <a:solidFill>
                      <a:srgbClr val="FFFFFF"/>
                    </a:solidFill>
                  </a:tcPr>
                </a:tc>
                <a:tc>
                  <a:txBody>
                    <a:bodyPr wrap="square"/>
                    <a:lstStyle/>
                    <a:p>
                      <a:pPr algn="l"/>
                      <a:r>
                        <a:rPr sz="1150" b="0">
                          <a:solidFill>
                            <a:srgbClr val="22272E"/>
                          </a:solidFill>
                          <a:latin typeface="Segoe UI"/>
                        </a:rPr>
                        <a:t>Nodes are Karpenter-managed and immutable; node access is an operator function</a:t>
                      </a:r>
                    </a:p>
                  </a:txBody>
                  <a:tcPr marL="64008" marR="64008" marT="18288" marB="18288" anchor="ctr">
                    <a:solidFill>
                      <a:srgbClr val="FFFFFF"/>
                    </a:solidFill>
                  </a:tcPr>
                </a:tc>
              </a:tr>
              <a:tr h="457200">
                <a:tc>
                  <a:txBody>
                    <a:bodyPr wrap="square"/>
                    <a:lstStyle/>
                    <a:p>
                      <a:pPr algn="l"/>
                      <a:r>
                        <a:rPr sz="1150" b="0">
                          <a:solidFill>
                            <a:srgbClr val="22272E"/>
                          </a:solidFill>
                          <a:latin typeface="Segoe UI"/>
                        </a:rPr>
                        <a:t>cluster-admin in Kubernetes</a:t>
                      </a:r>
                    </a:p>
                  </a:txBody>
                  <a:tcPr marL="64008" marR="64008" marT="18288" marB="18288" anchor="ctr">
                    <a:solidFill>
                      <a:srgbClr val="F4F6F8"/>
                    </a:solidFill>
                  </a:tcPr>
                </a:tc>
                <a:tc>
                  <a:txBody>
                    <a:bodyPr wrap="square"/>
                    <a:lstStyle/>
                    <a:p>
                      <a:pPr algn="ctr"/>
                      <a:r>
                        <a:rPr sz="1150" b="1">
                          <a:solidFill>
                            <a:srgbClr val="A4343A"/>
                          </a:solidFill>
                          <a:latin typeface="Segoe UI"/>
                        </a:rPr>
                        <a:t>No</a:t>
                      </a:r>
                    </a:p>
                  </a:txBody>
                  <a:tcPr marL="64008" marR="64008" marT="18288" marB="18288" anchor="ctr">
                    <a:solidFill>
                      <a:srgbClr val="F4F6F8"/>
                    </a:solidFill>
                  </a:tcPr>
                </a:tc>
                <a:tc>
                  <a:txBody>
                    <a:bodyPr wrap="square"/>
                    <a:lstStyle/>
                    <a:p>
                      <a:pPr algn="l"/>
                      <a:r>
                        <a:rPr sz="1150" b="0">
                          <a:solidFill>
                            <a:srgbClr val="22272E"/>
                          </a:solidFill>
                          <a:latin typeface="Segoe UI"/>
                        </a:rPr>
                        <a:t>Namespace-scoped: create and delete Jobs, exec into own pods, read logs</a:t>
                      </a:r>
                    </a:p>
                  </a:txBody>
                  <a:tcPr marL="64008" marR="64008" marT="18288" marB="18288" anchor="ctr">
                    <a:solidFill>
                      <a:srgbClr val="F4F6F8"/>
                    </a:solidFill>
                  </a:tcPr>
                </a:tc>
              </a:tr>
              <a:tr h="457200">
                <a:tc>
                  <a:txBody>
                    <a:bodyPr wrap="square"/>
                    <a:lstStyle/>
                    <a:p>
                      <a:pPr algn="l"/>
                      <a:r>
                        <a:rPr sz="1150" b="0">
                          <a:solidFill>
                            <a:srgbClr val="22272E"/>
                          </a:solidFill>
                          <a:latin typeface="Segoe UI"/>
                        </a:rPr>
                        <a:t>Root inside their container</a:t>
                      </a:r>
                    </a:p>
                  </a:txBody>
                  <a:tcPr marL="64008" marR="64008" marT="18288" marB="18288" anchor="ctr">
                    <a:solidFill>
                      <a:srgbClr val="FFFFFF"/>
                    </a:solidFill>
                  </a:tcPr>
                </a:tc>
                <a:tc>
                  <a:txBody>
                    <a:bodyPr wrap="square"/>
                    <a:lstStyle/>
                    <a:p>
                      <a:pPr algn="ctr"/>
                      <a:r>
                        <a:rPr sz="1150" b="1">
                          <a:solidFill>
                            <a:srgbClr val="A4343A"/>
                          </a:solidFill>
                          <a:latin typeface="Segoe UI"/>
                        </a:rPr>
                        <a:t>No, by design</a:t>
                      </a:r>
                    </a:p>
                  </a:txBody>
                  <a:tcPr marL="64008" marR="64008" marT="18288" marB="18288" anchor="ctr">
                    <a:solidFill>
                      <a:srgbClr val="FFFFFF"/>
                    </a:solidFill>
                  </a:tcPr>
                </a:tc>
                <a:tc>
                  <a:txBody>
                    <a:bodyPr wrap="square"/>
                    <a:lstStyle/>
                    <a:p>
                      <a:pPr algn="l"/>
                      <a:r>
                        <a:rPr sz="1150" b="0">
                          <a:solidFill>
                            <a:srgbClr val="22272E"/>
                          </a:solidFill>
                          <a:latin typeface="Segoe UI"/>
                        </a:rPr>
                        <a:t>Non-root UID with a writable home and a virtualenv the researcher owns</a:t>
                      </a:r>
                    </a:p>
                  </a:txBody>
                  <a:tcPr marL="64008" marR="64008" marT="18288" marB="18288" anchor="ctr">
                    <a:solidFill>
                      <a:srgbClr val="FFFFFF"/>
                    </a:solidFill>
                  </a:tcPr>
                </a:tc>
              </a:tr>
            </a:tbl>
          </a:graphicData>
        </a:graphic>
      </p:graphicFrame>
      <p:sp>
        <p:nvSpPr>
          <p:cNvPr id="7" name="TextBox 6"/>
          <p:cNvSpPr txBox="1"/>
          <p:nvPr/>
        </p:nvSpPr>
        <p:spPr>
          <a:xfrm>
            <a:off x="548640" y="3200400"/>
            <a:ext cx="11064240" cy="320040"/>
          </a:xfrm>
          <a:prstGeom prst="rect">
            <a:avLst/>
          </a:prstGeom>
          <a:noFill/>
        </p:spPr>
        <p:txBody>
          <a:bodyPr wrap="square" lIns="0" rIns="0" tIns="0" bIns="0">
            <a:spAutoFit/>
          </a:bodyPr>
          <a:lstStyle/>
          <a:p>
            <a:pPr algn="l">
              <a:lnSpc>
                <a:spcPct val="115000"/>
              </a:lnSpc>
              <a:spcAft>
                <a:spcPts val="600"/>
              </a:spcAft>
            </a:pPr>
            <a:r>
              <a:rPr sz="1100" b="1">
                <a:solidFill>
                  <a:srgbClr val="B0760B"/>
                </a:solidFill>
                <a:latin typeface="Segoe UI"/>
              </a:rPr>
              <a:t>THE FRICTION — AND WHY IT MATTERS</a:t>
            </a:r>
          </a:p>
        </p:txBody>
      </p:sp>
      <p:sp>
        <p:nvSpPr>
          <p:cNvPr id="8" name="TextBox 7"/>
          <p:cNvSpPr txBox="1"/>
          <p:nvPr/>
        </p:nvSpPr>
        <p:spPr>
          <a:xfrm>
            <a:off x="548640" y="3566160"/>
            <a:ext cx="11064240" cy="1005840"/>
          </a:xfrm>
          <a:prstGeom prst="rect">
            <a:avLst/>
          </a:prstGeom>
          <a:noFill/>
        </p:spPr>
        <p:txBody>
          <a:bodyPr wrap="square" lIns="0" rIns="0" tIns="0" bIns="0">
            <a:spAutoFit/>
          </a:bodyPr>
          <a:lstStyle/>
          <a:p>
            <a:pPr algn="l">
              <a:lnSpc>
                <a:spcPct val="115000"/>
              </a:lnSpc>
              <a:spcAft>
                <a:spcPts val="700"/>
              </a:spcAft>
            </a:pPr>
            <a:r>
              <a:rPr sz="1150" b="0">
                <a:solidFill>
                  <a:srgbClr val="22272E"/>
                </a:solidFill>
                <a:latin typeface="Segoe UI"/>
              </a:rPr>
              <a:t>•  pip install works — into their own virtualenv, no root needed. That covers almost everything mid-project.</a:t>
            </a:r>
          </a:p>
          <a:p>
            <a:pPr algn="l">
              <a:lnSpc>
                <a:spcPct val="115000"/>
              </a:lnSpc>
              <a:spcAft>
                <a:spcPts val="700"/>
              </a:spcAft>
            </a:pPr>
            <a:r>
              <a:rPr sz="1150" b="0">
                <a:solidFill>
                  <a:srgbClr val="22272E"/>
                </a:solidFill>
                <a:latin typeface="Segoe UI"/>
              </a:rPr>
              <a:t>•  apt-get does not. System packages are an image change — the discipline that makes stack parity reproducible.</a:t>
            </a:r>
          </a:p>
          <a:p>
            <a:pPr algn="l">
              <a:lnSpc>
                <a:spcPct val="115000"/>
              </a:lnSpc>
              <a:spcAft>
                <a:spcPts val="700"/>
              </a:spcAft>
            </a:pPr>
            <a:r>
              <a:rPr sz="1150" b="0">
                <a:solidFill>
                  <a:srgbClr val="22272E"/>
                </a:solidFill>
                <a:latin typeface="Segoe UI"/>
              </a:rPr>
              <a:t>•  Friction is what sends people back to Alpharetta, so: a fast image rebuild, a generous base image, and a per-user overlay venv.</a:t>
            </a:r>
          </a:p>
        </p:txBody>
      </p:sp>
      <p:sp>
        <p:nvSpPr>
          <p:cNvPr id="9" name="Rounded Rectangle 8"/>
          <p:cNvSpPr/>
          <p:nvPr/>
        </p:nvSpPr>
        <p:spPr>
          <a:xfrm>
            <a:off x="548640" y="4754880"/>
            <a:ext cx="11064240" cy="1463040"/>
          </a:xfrm>
          <a:prstGeom prst="roundRect">
            <a:avLst>
              <a:gd name="adj" fmla="val 4000"/>
            </a:avLst>
          </a:prstGeom>
          <a:solidFill>
            <a:srgbClr val="F4F6F8"/>
          </a:solidFill>
          <a:ln w="9525">
            <a:solidFill>
              <a:srgbClr val="A434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4754880"/>
            <a:ext cx="63500" cy="1463040"/>
          </a:xfrm>
          <a:prstGeom prst="rect">
            <a:avLst/>
          </a:prstGeom>
          <a:solidFill>
            <a:srgbClr val="A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56048"/>
            <a:ext cx="10332720" cy="274320"/>
          </a:xfrm>
          <a:prstGeom prst="rect">
            <a:avLst/>
          </a:prstGeom>
          <a:noFill/>
        </p:spPr>
        <p:txBody>
          <a:bodyPr wrap="square" lIns="0" rIns="0" tIns="0" bIns="0">
            <a:spAutoFit/>
          </a:bodyPr>
          <a:lstStyle/>
          <a:p>
            <a:pPr algn="l">
              <a:lnSpc>
                <a:spcPct val="115000"/>
              </a:lnSpc>
              <a:spcAft>
                <a:spcPts val="600"/>
              </a:spcAft>
            </a:pPr>
            <a:r>
              <a:rPr sz="1300" b="1">
                <a:solidFill>
                  <a:srgbClr val="1F3A5F"/>
                </a:solidFill>
                <a:latin typeface="Segoe UI"/>
              </a:rPr>
              <a:t>Two exceptions to settle with GWD now, not in week six</a:t>
            </a:r>
          </a:p>
        </p:txBody>
      </p:sp>
      <p:sp>
        <p:nvSpPr>
          <p:cNvPr id="12" name="TextBox 11"/>
          <p:cNvSpPr txBox="1"/>
          <p:nvPr/>
        </p:nvSpPr>
        <p:spPr>
          <a:xfrm>
            <a:off x="914400" y="5321808"/>
            <a:ext cx="10332720" cy="82296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  GPU performance counters — NVIDIA restricts these to administrative users. Nsight profiling needs a driver setting or added capabilities, and a team chasing linear scaling will reach for it.</a:t>
            </a:r>
          </a:p>
          <a:p>
            <a:pPr algn="l">
              <a:lnSpc>
                <a:spcPct val="115000"/>
              </a:lnSpc>
              <a:spcAft>
                <a:spcPts val="600"/>
              </a:spcAft>
            </a:pPr>
            <a:r>
              <a:rPr sz="1100" b="0">
                <a:solidFill>
                  <a:srgbClr val="22272E"/>
                </a:solidFill>
                <a:latin typeface="Segoe UI"/>
              </a:rPr>
              <a:t>•  CAP_SYS_PTRACE — for py-spy and gdb. Neither exception needs privileged containers, and neither should be cluster-wide.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PHASING</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The other two are deferred, not rejected</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Rounded Rectangle 5"/>
          <p:cNvSpPr/>
          <p:nvPr/>
        </p:nvSpPr>
        <p:spPr>
          <a:xfrm>
            <a:off x="548640" y="1463040"/>
            <a:ext cx="11064240" cy="1335024"/>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463040"/>
            <a:ext cx="63500" cy="133502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27632"/>
            <a:ext cx="3840480" cy="274320"/>
          </a:xfrm>
          <a:prstGeom prst="rect">
            <a:avLst/>
          </a:prstGeom>
          <a:noFill/>
        </p:spPr>
        <p:txBody>
          <a:bodyPr wrap="square" lIns="0" rIns="0" tIns="0" bIns="0">
            <a:spAutoFit/>
          </a:bodyPr>
          <a:lstStyle/>
          <a:p>
            <a:pPr algn="l">
              <a:lnSpc>
                <a:spcPct val="115000"/>
              </a:lnSpc>
              <a:spcAft>
                <a:spcPts val="600"/>
              </a:spcAft>
            </a:pPr>
            <a:r>
              <a:rPr sz="1000" b="1">
                <a:solidFill>
                  <a:srgbClr val="1F3A5F"/>
                </a:solidFill>
                <a:latin typeface="Segoe UI"/>
              </a:rPr>
              <a:t>PHASE 1  ·  Oct – Nov 2026</a:t>
            </a:r>
          </a:p>
        </p:txBody>
      </p:sp>
      <p:sp>
        <p:nvSpPr>
          <p:cNvPr id="9" name="TextBox 8"/>
          <p:cNvSpPr txBox="1"/>
          <p:nvPr/>
        </p:nvSpPr>
        <p:spPr>
          <a:xfrm>
            <a:off x="914400" y="1938528"/>
            <a:ext cx="3840480" cy="320040"/>
          </a:xfrm>
          <a:prstGeom prst="rect">
            <a:avLst/>
          </a:prstGeom>
          <a:noFill/>
        </p:spPr>
        <p:txBody>
          <a:bodyPr wrap="square" lIns="0" rIns="0" tIns="0" bIns="0">
            <a:spAutoFit/>
          </a:bodyPr>
          <a:lstStyle/>
          <a:p>
            <a:pPr algn="l">
              <a:lnSpc>
                <a:spcPct val="115000"/>
              </a:lnSpc>
              <a:spcAft>
                <a:spcPts val="600"/>
              </a:spcAft>
            </a:pPr>
            <a:r>
              <a:rPr sz="1500" b="1">
                <a:solidFill>
                  <a:srgbClr val="1F3A5F"/>
                </a:solidFill>
                <a:latin typeface="Segoe UI"/>
              </a:rPr>
              <a:t>Research velocity</a:t>
            </a:r>
          </a:p>
        </p:txBody>
      </p:sp>
      <p:sp>
        <p:nvSpPr>
          <p:cNvPr id="10" name="TextBox 9"/>
          <p:cNvSpPr txBox="1"/>
          <p:nvPr/>
        </p:nvSpPr>
        <p:spPr>
          <a:xfrm>
            <a:off x="5029200" y="1645920"/>
            <a:ext cx="640080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EKS + Karpenter + Ray</a:t>
            </a:r>
          </a:p>
        </p:txBody>
      </p:sp>
      <p:sp>
        <p:nvSpPr>
          <p:cNvPr id="11" name="TextBox 10"/>
          <p:cNvSpPr txBox="1"/>
          <p:nvPr/>
        </p:nvSpPr>
        <p:spPr>
          <a:xfrm>
            <a:off x="5029200" y="1993392"/>
            <a:ext cx="6400800" cy="731520"/>
          </a:xfrm>
          <a:prstGeom prst="rect">
            <a:avLst/>
          </a:prstGeom>
          <a:noFill/>
        </p:spPr>
        <p:txBody>
          <a:bodyPr wrap="square" lIns="0" rIns="0" tIns="0" bIns="0">
            <a:spAutoFit/>
          </a:bodyPr>
          <a:lstStyle/>
          <a:p>
            <a:pPr algn="l">
              <a:lnSpc>
                <a:spcPct val="115000"/>
              </a:lnSpc>
              <a:spcAft>
                <a:spcPts val="300"/>
              </a:spcAft>
            </a:pPr>
            <a:r>
              <a:rPr sz="1100" b="0">
                <a:solidFill>
                  <a:srgbClr val="22272E"/>
                </a:solidFill>
                <a:latin typeface="Segoe UI"/>
              </a:rPr>
              <a:t>Four researchers, flat team, one shared pool.</a:t>
            </a:r>
          </a:p>
          <a:p>
            <a:pPr algn="l">
              <a:lnSpc>
                <a:spcPct val="115000"/>
              </a:lnSpc>
              <a:spcAft>
                <a:spcPts val="300"/>
              </a:spcAft>
            </a:pPr>
            <a:r>
              <a:rPr sz="1100" b="0">
                <a:solidFill>
                  <a:srgbClr val="22272E"/>
                </a:solidFill>
                <a:latin typeface="Segoe UI"/>
              </a:rPr>
              <a:t>Judged on linear scaling and how fast researchers get moving.</a:t>
            </a:r>
          </a:p>
        </p:txBody>
      </p:sp>
      <p:sp>
        <p:nvSpPr>
          <p:cNvPr id="12" name="Rounded Rectangle 11"/>
          <p:cNvSpPr/>
          <p:nvPr/>
        </p:nvSpPr>
        <p:spPr>
          <a:xfrm>
            <a:off x="548640" y="2944368"/>
            <a:ext cx="11064240" cy="1335024"/>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2944368"/>
            <a:ext cx="63500" cy="133502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08960"/>
            <a:ext cx="384048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PHASE 2  ·  Dec 2026 – Feb 2027</a:t>
            </a:r>
          </a:p>
        </p:txBody>
      </p:sp>
      <p:sp>
        <p:nvSpPr>
          <p:cNvPr id="15" name="TextBox 14"/>
          <p:cNvSpPr txBox="1"/>
          <p:nvPr/>
        </p:nvSpPr>
        <p:spPr>
          <a:xfrm>
            <a:off x="914400" y="3419856"/>
            <a:ext cx="3840480" cy="320040"/>
          </a:xfrm>
          <a:prstGeom prst="rect">
            <a:avLst/>
          </a:prstGeom>
          <a:noFill/>
        </p:spPr>
        <p:txBody>
          <a:bodyPr wrap="square" lIns="0" rIns="0" tIns="0" bIns="0">
            <a:spAutoFit/>
          </a:bodyPr>
          <a:lstStyle/>
          <a:p>
            <a:pPr algn="l">
              <a:lnSpc>
                <a:spcPct val="115000"/>
              </a:lnSpc>
              <a:spcAft>
                <a:spcPts val="600"/>
              </a:spcAft>
            </a:pPr>
            <a:r>
              <a:rPr sz="1500" b="1">
                <a:solidFill>
                  <a:srgbClr val="1F3A5F"/>
                </a:solidFill>
                <a:latin typeface="Segoe UI"/>
              </a:rPr>
              <a:t>Shared service (SMaaS)</a:t>
            </a:r>
          </a:p>
        </p:txBody>
      </p:sp>
      <p:sp>
        <p:nvSpPr>
          <p:cNvPr id="16" name="TextBox 15"/>
          <p:cNvSpPr txBox="1"/>
          <p:nvPr/>
        </p:nvSpPr>
        <p:spPr>
          <a:xfrm>
            <a:off x="5029200" y="3127248"/>
            <a:ext cx="6400800" cy="274320"/>
          </a:xfrm>
          <a:prstGeom prst="rect">
            <a:avLst/>
          </a:prstGeom>
          <a:noFill/>
        </p:spPr>
        <p:txBody>
          <a:bodyPr wrap="square" lIns="0" rIns="0" tIns="0" bIns="0">
            <a:spAutoFit/>
          </a:bodyPr>
          <a:lstStyle/>
          <a:p>
            <a:pPr algn="l">
              <a:lnSpc>
                <a:spcPct val="115000"/>
              </a:lnSpc>
              <a:spcAft>
                <a:spcPts val="600"/>
              </a:spcAft>
            </a:pPr>
            <a:r>
              <a:rPr sz="1400" b="1">
                <a:solidFill>
                  <a:srgbClr val="2E8B8B"/>
                </a:solidFill>
                <a:latin typeface="Segoe UI"/>
              </a:rPr>
              <a:t>Revisit AWS Batch</a:t>
            </a:r>
          </a:p>
        </p:txBody>
      </p:sp>
      <p:sp>
        <p:nvSpPr>
          <p:cNvPr id="17" name="TextBox 16"/>
          <p:cNvSpPr txBox="1"/>
          <p:nvPr/>
        </p:nvSpPr>
        <p:spPr>
          <a:xfrm>
            <a:off x="5029200" y="3474720"/>
            <a:ext cx="6400800" cy="731520"/>
          </a:xfrm>
          <a:prstGeom prst="rect">
            <a:avLst/>
          </a:prstGeom>
          <a:noFill/>
        </p:spPr>
        <p:txBody>
          <a:bodyPr wrap="square" lIns="0" rIns="0" tIns="0" bIns="0">
            <a:spAutoFit/>
          </a:bodyPr>
          <a:lstStyle/>
          <a:p>
            <a:pPr algn="l">
              <a:lnSpc>
                <a:spcPct val="115000"/>
              </a:lnSpc>
              <a:spcAft>
                <a:spcPts val="300"/>
              </a:spcAft>
            </a:pPr>
            <a:r>
              <a:rPr sz="1100" b="0">
                <a:solidFill>
                  <a:srgbClr val="22272E"/>
                </a:solidFill>
                <a:latin typeface="Segoe UI"/>
              </a:rPr>
              <a:t>Many users across business units.</a:t>
            </a:r>
          </a:p>
          <a:p>
            <a:pPr algn="l">
              <a:lnSpc>
                <a:spcPct val="115000"/>
              </a:lnSpc>
              <a:spcAft>
                <a:spcPts val="300"/>
              </a:spcAft>
            </a:pPr>
            <a:r>
              <a:rPr sz="1100" b="0">
                <a:solidFill>
                  <a:srgbClr val="22272E"/>
                </a:solidFill>
                <a:latin typeface="Segoe UI"/>
              </a:rPr>
              <a:t>Fair-share scheduling becomes the primitive that matters — and it is Batch's strongest card.</a:t>
            </a:r>
          </a:p>
        </p:txBody>
      </p:sp>
      <p:sp>
        <p:nvSpPr>
          <p:cNvPr id="18" name="Rounded Rectangle 17"/>
          <p:cNvSpPr/>
          <p:nvPr/>
        </p:nvSpPr>
        <p:spPr>
          <a:xfrm>
            <a:off x="548640" y="4425696"/>
            <a:ext cx="11064240" cy="1335024"/>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48640" y="4425696"/>
            <a:ext cx="63500" cy="133502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590288"/>
            <a:ext cx="3840480" cy="274320"/>
          </a:xfrm>
          <a:prstGeom prst="rect">
            <a:avLst/>
          </a:prstGeom>
          <a:noFill/>
        </p:spPr>
        <p:txBody>
          <a:bodyPr wrap="square" lIns="0" rIns="0" tIns="0" bIns="0">
            <a:spAutoFit/>
          </a:bodyPr>
          <a:lstStyle/>
          <a:p>
            <a:pPr algn="l">
              <a:lnSpc>
                <a:spcPct val="115000"/>
              </a:lnSpc>
              <a:spcAft>
                <a:spcPts val="600"/>
              </a:spcAft>
            </a:pPr>
            <a:r>
              <a:rPr sz="1000" b="1">
                <a:solidFill>
                  <a:srgbClr val="6B7280"/>
                </a:solidFill>
                <a:latin typeface="Segoe UI"/>
              </a:rPr>
              <a:t>ALONGSIDE  ·  either phase</a:t>
            </a:r>
          </a:p>
        </p:txBody>
      </p:sp>
      <p:sp>
        <p:nvSpPr>
          <p:cNvPr id="21" name="TextBox 20"/>
          <p:cNvSpPr txBox="1"/>
          <p:nvPr/>
        </p:nvSpPr>
        <p:spPr>
          <a:xfrm>
            <a:off x="914400" y="4901184"/>
            <a:ext cx="3840480" cy="320040"/>
          </a:xfrm>
          <a:prstGeom prst="rect">
            <a:avLst/>
          </a:prstGeom>
          <a:noFill/>
        </p:spPr>
        <p:txBody>
          <a:bodyPr wrap="square" lIns="0" rIns="0" tIns="0" bIns="0">
            <a:spAutoFit/>
          </a:bodyPr>
          <a:lstStyle/>
          <a:p>
            <a:pPr algn="l">
              <a:lnSpc>
                <a:spcPct val="115000"/>
              </a:lnSpc>
              <a:spcAft>
                <a:spcPts val="600"/>
              </a:spcAft>
            </a:pPr>
            <a:r>
              <a:rPr sz="1500" b="1">
                <a:solidFill>
                  <a:srgbClr val="1F3A5F"/>
                </a:solidFill>
                <a:latin typeface="Segoe UI"/>
              </a:rPr>
              <a:t>Specific workloads</a:t>
            </a:r>
          </a:p>
        </p:txBody>
      </p:sp>
      <p:sp>
        <p:nvSpPr>
          <p:cNvPr id="22" name="TextBox 21"/>
          <p:cNvSpPr txBox="1"/>
          <p:nvPr/>
        </p:nvSpPr>
        <p:spPr>
          <a:xfrm>
            <a:off x="5029200" y="4608576"/>
            <a:ext cx="6400800" cy="274320"/>
          </a:xfrm>
          <a:prstGeom prst="rect">
            <a:avLst/>
          </a:prstGeom>
          <a:noFill/>
        </p:spPr>
        <p:txBody>
          <a:bodyPr wrap="square" lIns="0" rIns="0" tIns="0" bIns="0">
            <a:spAutoFit/>
          </a:bodyPr>
          <a:lstStyle/>
          <a:p>
            <a:pPr algn="l">
              <a:lnSpc>
                <a:spcPct val="115000"/>
              </a:lnSpc>
              <a:spcAft>
                <a:spcPts val="600"/>
              </a:spcAft>
            </a:pPr>
            <a:r>
              <a:rPr sz="1400" b="1">
                <a:solidFill>
                  <a:srgbClr val="6B7280"/>
                </a:solidFill>
                <a:latin typeface="Segoe UI"/>
              </a:rPr>
              <a:t>Amazon ECS</a:t>
            </a:r>
          </a:p>
        </p:txBody>
      </p:sp>
      <p:sp>
        <p:nvSpPr>
          <p:cNvPr id="23" name="TextBox 22"/>
          <p:cNvSpPr txBox="1"/>
          <p:nvPr/>
        </p:nvSpPr>
        <p:spPr>
          <a:xfrm>
            <a:off x="5029200" y="4956048"/>
            <a:ext cx="6400800" cy="731520"/>
          </a:xfrm>
          <a:prstGeom prst="rect">
            <a:avLst/>
          </a:prstGeom>
          <a:noFill/>
        </p:spPr>
        <p:txBody>
          <a:bodyPr wrap="square" lIns="0" rIns="0" tIns="0" bIns="0">
            <a:spAutoFit/>
          </a:bodyPr>
          <a:lstStyle/>
          <a:p>
            <a:pPr algn="l">
              <a:lnSpc>
                <a:spcPct val="115000"/>
              </a:lnSpc>
              <a:spcAft>
                <a:spcPts val="300"/>
              </a:spcAft>
            </a:pPr>
            <a:r>
              <a:rPr sz="1100" b="0">
                <a:solidFill>
                  <a:srgbClr val="22272E"/>
                </a:solidFill>
                <a:latin typeface="Segoe UI"/>
              </a:rPr>
              <a:t>Preprocessing and mesh generation; a Phase 2 inference tier.</a:t>
            </a:r>
          </a:p>
          <a:p>
            <a:pPr algn="l">
              <a:lnSpc>
                <a:spcPct val="115000"/>
              </a:lnSpc>
              <a:spcAft>
                <a:spcPts val="300"/>
              </a:spcAft>
            </a:pPr>
            <a:r>
              <a:rPr sz="1100" b="0">
                <a:solidFill>
                  <a:srgbClr val="22272E"/>
                </a:solidFill>
                <a:latin typeface="Segoe UI"/>
              </a:rPr>
              <a:t>Fractional GPU on G6f suits small-model serving better than whole-GPU options.</a:t>
            </a:r>
          </a:p>
        </p:txBody>
      </p:sp>
      <p:sp>
        <p:nvSpPr>
          <p:cNvPr id="24" name="TextBox 23"/>
          <p:cNvSpPr txBox="1"/>
          <p:nvPr/>
        </p:nvSpPr>
        <p:spPr>
          <a:xfrm>
            <a:off x="548640" y="5989320"/>
            <a:ext cx="11064240" cy="365760"/>
          </a:xfrm>
          <a:prstGeom prst="rect">
            <a:avLst/>
          </a:prstGeom>
          <a:noFill/>
        </p:spPr>
        <p:txBody>
          <a:bodyPr wrap="square" lIns="0" rIns="0" tIns="0" bIns="0">
            <a:spAutoFit/>
          </a:bodyPr>
          <a:lstStyle/>
          <a:p>
            <a:pPr algn="l">
              <a:lnSpc>
                <a:spcPct val="115000"/>
              </a:lnSpc>
              <a:spcAft>
                <a:spcPts val="600"/>
              </a:spcAft>
            </a:pPr>
            <a:r>
              <a:rPr sz="1150" b="1">
                <a:solidFill>
                  <a:srgbClr val="1F3A5F"/>
                </a:solidFill>
                <a:latin typeface="Segoe UI"/>
              </a:rPr>
              <a:t>Each system is used where it is genuinely strongest, and the split matches the project's own phase boundary.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INTELLECTUAL HONESTY</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What would change this recommendation</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TextBox 5"/>
          <p:cNvSpPr txBox="1"/>
          <p:nvPr/>
        </p:nvSpPr>
        <p:spPr>
          <a:xfrm>
            <a:off x="548640" y="1325880"/>
            <a:ext cx="11064240" cy="320040"/>
          </a:xfrm>
          <a:prstGeom prst="rect">
            <a:avLst/>
          </a:prstGeom>
          <a:noFill/>
        </p:spPr>
        <p:txBody>
          <a:bodyPr wrap="square" lIns="0" rIns="0" tIns="0" bIns="0">
            <a:spAutoFit/>
          </a:bodyPr>
          <a:lstStyle/>
          <a:p>
            <a:pPr algn="l">
              <a:lnSpc>
                <a:spcPct val="115000"/>
              </a:lnSpc>
              <a:spcAft>
                <a:spcPts val="600"/>
              </a:spcAft>
            </a:pPr>
            <a:r>
              <a:rPr sz="1200" b="0">
                <a:solidFill>
                  <a:srgbClr val="6B7280"/>
                </a:solidFill>
                <a:latin typeface="Segoe UI"/>
              </a:rPr>
              <a:t>Stated up front, so the decision can be revisited on evidence rather than argument.</a:t>
            </a:r>
          </a:p>
        </p:txBody>
      </p:sp>
      <p:sp>
        <p:nvSpPr>
          <p:cNvPr id="7" name="Rounded Rectangle 6"/>
          <p:cNvSpPr/>
          <p:nvPr/>
        </p:nvSpPr>
        <p:spPr>
          <a:xfrm>
            <a:off x="548640" y="1783080"/>
            <a:ext cx="11064240" cy="1024128"/>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783080"/>
            <a:ext cx="63500" cy="1024128"/>
          </a:xfrm>
          <a:prstGeom prst="rect">
            <a:avLst/>
          </a:prstGeom>
          <a:solidFill>
            <a:srgbClr val="A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29384"/>
            <a:ext cx="1033272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TRIGGERED 19 Oct — training fits on a single server</a:t>
            </a:r>
          </a:p>
        </p:txBody>
      </p:sp>
      <p:sp>
        <p:nvSpPr>
          <p:cNvPr id="10" name="TextBox 9"/>
          <p:cNvSpPr txBox="1"/>
          <p:nvPr/>
        </p:nvSpPr>
        <p:spPr>
          <a:xfrm>
            <a:off x="914400" y="2258568"/>
            <a:ext cx="10332720" cy="45720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This is no longer hypothetical. Deepak Akhare confirms 4–8 GPUs on one server, multi-server not currently required. Gang scheduling and EFA stop mattering, and all three options reopen — ECS included.</a:t>
            </a:r>
          </a:p>
        </p:txBody>
      </p:sp>
      <p:sp>
        <p:nvSpPr>
          <p:cNvPr id="11" name="Rounded Rectangle 10"/>
          <p:cNvSpPr/>
          <p:nvPr/>
        </p:nvSpPr>
        <p:spPr>
          <a:xfrm>
            <a:off x="548640" y="2953512"/>
            <a:ext cx="11064240" cy="1024128"/>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48640" y="2953512"/>
            <a:ext cx="63500" cy="1024128"/>
          </a:xfrm>
          <a:prstGeom prst="rect">
            <a:avLst/>
          </a:prstGeom>
          <a:solidFill>
            <a:srgbClr val="B0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99816"/>
            <a:ext cx="1033272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If a 5-minute wait is genuinely acceptable</a:t>
            </a:r>
          </a:p>
        </p:txBody>
      </p:sp>
      <p:sp>
        <p:nvSpPr>
          <p:cNvPr id="14" name="TextBox 13"/>
          <p:cNvSpPr txBox="1"/>
          <p:nvPr/>
        </p:nvSpPr>
        <p:spPr>
          <a:xfrm>
            <a:off x="914400" y="3429000"/>
            <a:ext cx="10332720" cy="45720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Batch's managed scheduling, fair-share and native pend-time metrics become close to free. The case against it rests almost entirely on iteration latency.</a:t>
            </a:r>
          </a:p>
        </p:txBody>
      </p:sp>
      <p:sp>
        <p:nvSpPr>
          <p:cNvPr id="15" name="Rounded Rectangle 14"/>
          <p:cNvSpPr/>
          <p:nvPr/>
        </p:nvSpPr>
        <p:spPr>
          <a:xfrm>
            <a:off x="548640" y="4123944"/>
            <a:ext cx="11064240" cy="1024128"/>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48640" y="4123944"/>
            <a:ext cx="63500" cy="1024128"/>
          </a:xfrm>
          <a:prstGeom prst="rect">
            <a:avLst/>
          </a:prstGeom>
          <a:solidFill>
            <a:srgbClr val="B0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70248"/>
            <a:ext cx="1033272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If Kubernetes is rejected organizationally</a:t>
            </a:r>
          </a:p>
        </p:txBody>
      </p:sp>
      <p:sp>
        <p:nvSpPr>
          <p:cNvPr id="18" name="TextBox 17"/>
          <p:cNvSpPr txBox="1"/>
          <p:nvPr/>
        </p:nvSpPr>
        <p:spPr>
          <a:xfrm>
            <a:off x="914400" y="4599432"/>
            <a:ext cx="10332720" cy="45720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If GWD or CTO/HQ will not accept an EKS cluster, the comparison becomes Batch versus ECS — and the answer depends on whether multi-node training is required.</a:t>
            </a:r>
          </a:p>
        </p:txBody>
      </p:sp>
      <p:sp>
        <p:nvSpPr>
          <p:cNvPr id="19" name="Rounded Rectangle 18"/>
          <p:cNvSpPr/>
          <p:nvPr/>
        </p:nvSpPr>
        <p:spPr>
          <a:xfrm>
            <a:off x="548640" y="5294376"/>
            <a:ext cx="11064240" cy="1024128"/>
          </a:xfrm>
          <a:prstGeom prst="roundRect">
            <a:avLst>
              <a:gd name="adj" fmla="val 4000"/>
            </a:avLst>
          </a:prstGeom>
          <a:solidFill>
            <a:srgbClr val="F4F6F8"/>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48640" y="5294376"/>
            <a:ext cx="63500" cy="1024128"/>
          </a:xfrm>
          <a:prstGeom prst="rect">
            <a:avLst/>
          </a:prstGeom>
          <a:solidFill>
            <a:srgbClr val="B07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40680"/>
            <a:ext cx="10332720" cy="274320"/>
          </a:xfrm>
          <a:prstGeom prst="rect">
            <a:avLst/>
          </a:prstGeom>
          <a:noFill/>
        </p:spPr>
        <p:txBody>
          <a:bodyPr wrap="square" lIns="0" rIns="0" tIns="0" bIns="0">
            <a:spAutoFit/>
          </a:bodyPr>
          <a:lstStyle/>
          <a:p>
            <a:pPr algn="l">
              <a:lnSpc>
                <a:spcPct val="115000"/>
              </a:lnSpc>
              <a:spcAft>
                <a:spcPts val="600"/>
              </a:spcAft>
            </a:pPr>
            <a:r>
              <a:rPr sz="1400" b="1">
                <a:solidFill>
                  <a:srgbClr val="1F3A5F"/>
                </a:solidFill>
                <a:latin typeface="Segoe UI"/>
              </a:rPr>
              <a:t>If the team cannot carry the operations</a:t>
            </a:r>
          </a:p>
        </p:txBody>
      </p:sp>
      <p:sp>
        <p:nvSpPr>
          <p:cNvPr id="22" name="TextBox 21"/>
          <p:cNvSpPr txBox="1"/>
          <p:nvPr/>
        </p:nvSpPr>
        <p:spPr>
          <a:xfrm>
            <a:off x="914400" y="5769864"/>
            <a:ext cx="10332720" cy="457200"/>
          </a:xfrm>
          <a:prstGeom prst="rect">
            <a:avLst/>
          </a:prstGeom>
          <a:noFill/>
        </p:spPr>
        <p:txBody>
          <a:bodyPr wrap="square" lIns="0" rIns="0" tIns="0" bIns="0">
            <a:spAutoFit/>
          </a:bodyPr>
          <a:lstStyle/>
          <a:p>
            <a:pPr algn="l">
              <a:lnSpc>
                <a:spcPct val="115000"/>
              </a:lnSpc>
              <a:spcAft>
                <a:spcPts val="600"/>
              </a:spcAft>
            </a:pPr>
            <a:r>
              <a:rPr sz="1100" b="0">
                <a:solidFill>
                  <a:srgbClr val="22272E"/>
                </a:solidFill>
                <a:latin typeface="Segoe UI"/>
              </a:rPr>
              <a:t>EKS has the largest operational surface of the three, against 1.0 + 0.5 + 0.5 FTE already holding a 24-hour unblock commitment. If that proves unrealistic, managed wins.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OPEN QUESTIONS</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What must be settled before we commit</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graphicFrame>
        <p:nvGraphicFramePr>
          <p:cNvPr id="6" name="Table 5"/>
          <p:cNvGraphicFramePr>
            <a:graphicFrameLocks noGrp="1"/>
          </p:cNvGraphicFramePr>
          <p:nvPr/>
        </p:nvGraphicFramePr>
        <p:xfrm>
          <a:off x="548640" y="1463040"/>
          <a:ext cx="11064240" cy="4425696"/>
        </p:xfrm>
        <a:graphic>
          <a:graphicData uri="http://schemas.openxmlformats.org/drawingml/2006/table">
            <a:tbl>
              <a:tblPr firstRow="1" bandRow="1">
                <a:tableStyleId>{5C22544A-7EE6-4342-B048-85BDC9FD1C3A}</a:tableStyleId>
              </a:tblPr>
              <a:tblGrid>
                <a:gridCol w="4754880"/>
                <a:gridCol w="2286000"/>
                <a:gridCol w="4023360"/>
              </a:tblGrid>
              <a:tr h="402336">
                <a:tc>
                  <a:txBody>
                    <a:bodyPr wrap="square"/>
                    <a:lstStyle/>
                    <a:p>
                      <a:pPr algn="l"/>
                      <a:r>
                        <a:rPr sz="1000" b="1">
                          <a:solidFill>
                            <a:srgbClr val="FFFFFF"/>
                          </a:solidFill>
                          <a:latin typeface="Segoe UI"/>
                        </a:rPr>
                        <a:t>Question</a:t>
                      </a:r>
                    </a:p>
                  </a:txBody>
                  <a:tcPr marL="64008" marR="64008" marT="18288" marB="18288" anchor="ctr">
                    <a:solidFill>
                      <a:srgbClr val="1F3A5F"/>
                    </a:solidFill>
                  </a:tcPr>
                </a:tc>
                <a:tc>
                  <a:txBody>
                    <a:bodyPr wrap="square"/>
                    <a:lstStyle/>
                    <a:p>
                      <a:pPr algn="l"/>
                      <a:r>
                        <a:rPr sz="1000" b="1">
                          <a:solidFill>
                            <a:srgbClr val="FFFFFF"/>
                          </a:solidFill>
                          <a:latin typeface="Segoe UI"/>
                        </a:rPr>
                        <a:t>Owner</a:t>
                      </a:r>
                    </a:p>
                  </a:txBody>
                  <a:tcPr marL="64008" marR="64008" marT="18288" marB="18288" anchor="ctr">
                    <a:solidFill>
                      <a:srgbClr val="1F3A5F"/>
                    </a:solidFill>
                  </a:tcPr>
                </a:tc>
                <a:tc>
                  <a:txBody>
                    <a:bodyPr wrap="square"/>
                    <a:lstStyle/>
                    <a:p>
                      <a:pPr algn="l"/>
                      <a:r>
                        <a:rPr sz="1000" b="1">
                          <a:solidFill>
                            <a:srgbClr val="FFFFFF"/>
                          </a:solidFill>
                          <a:latin typeface="Segoe UI"/>
                        </a:rPr>
                        <a:t>Why it blocks</a:t>
                      </a:r>
                    </a:p>
                  </a:txBody>
                  <a:tcPr marL="64008" marR="64008" marT="18288" marB="18288" anchor="ctr">
                    <a:solidFill>
                      <a:srgbClr val="1F3A5F"/>
                    </a:solidFill>
                  </a:tcPr>
                </a:tc>
              </a:tr>
              <a:tr h="402336">
                <a:tc>
                  <a:txBody>
                    <a:bodyPr wrap="square"/>
                    <a:lstStyle/>
                    <a:p>
                      <a:pPr algn="l"/>
                      <a:r>
                        <a:rPr sz="1100" b="0">
                          <a:solidFill>
                            <a:srgbClr val="22272E"/>
                          </a:solidFill>
                          <a:latin typeface="Segoe UI"/>
                        </a:rPr>
                        <a:t>ANSWERED: no — single server, 4–8 GPUs</a:t>
                      </a:r>
                    </a:p>
                  </a:txBody>
                  <a:tcPr marL="64008" marR="64008" marT="18288" marB="18288" anchor="ctr">
                    <a:solidFill>
                      <a:srgbClr val="FFFFFF"/>
                    </a:solidFill>
                  </a:tcPr>
                </a:tc>
                <a:tc>
                  <a:txBody>
                    <a:bodyPr wrap="square"/>
                    <a:lstStyle/>
                    <a:p>
                      <a:pPr algn="l"/>
                      <a:r>
                        <a:rPr sz="1100" b="0">
                          <a:solidFill>
                            <a:srgbClr val="22272E"/>
                          </a:solidFill>
                          <a:latin typeface="Segoe UI"/>
                        </a:rPr>
                        <a:t>Research team</a:t>
                      </a:r>
                    </a:p>
                  </a:txBody>
                  <a:tcPr marL="64008" marR="64008" marT="18288" marB="18288" anchor="ctr">
                    <a:solidFill>
                      <a:srgbClr val="FFFFFF"/>
                    </a:solidFill>
                  </a:tcPr>
                </a:tc>
                <a:tc>
                  <a:txBody>
                    <a:bodyPr wrap="square"/>
                    <a:lstStyle/>
                    <a:p>
                      <a:pPr algn="l"/>
                      <a:r>
                        <a:rPr sz="1100" b="0">
                          <a:solidFill>
                            <a:srgbClr val="22272E"/>
                          </a:solidFill>
                          <a:latin typeface="Segoe UI"/>
                        </a:rPr>
                        <a:t>All three options reopen; see slide 3</a:t>
                      </a:r>
                    </a:p>
                  </a:txBody>
                  <a:tcPr marL="64008" marR="64008" marT="18288" marB="18288" anchor="ctr">
                    <a:solidFill>
                      <a:srgbClr val="FFFFFF"/>
                    </a:solidFill>
                  </a:tcPr>
                </a:tc>
              </a:tr>
              <a:tr h="402336">
                <a:tc>
                  <a:txBody>
                    <a:bodyPr wrap="square"/>
                    <a:lstStyle/>
                    <a:p>
                      <a:pPr algn="l"/>
                      <a:r>
                        <a:rPr sz="1100" b="0">
                          <a:solidFill>
                            <a:srgbClr val="22272E"/>
                          </a:solidFill>
                          <a:latin typeface="Segoe UI"/>
                        </a:rPr>
                        <a:t>Start-up tolerance — stated TBD, leaning seconds</a:t>
                      </a:r>
                    </a:p>
                  </a:txBody>
                  <a:tcPr marL="64008" marR="64008" marT="18288" marB="18288" anchor="ctr">
                    <a:solidFill>
                      <a:srgbClr val="F4F6F8"/>
                    </a:solidFill>
                  </a:tcPr>
                </a:tc>
                <a:tc>
                  <a:txBody>
                    <a:bodyPr wrap="square"/>
                    <a:lstStyle/>
                    <a:p>
                      <a:pPr algn="l"/>
                      <a:r>
                        <a:rPr sz="1100" b="0">
                          <a:solidFill>
                            <a:srgbClr val="22272E"/>
                          </a:solidFill>
                          <a:latin typeface="Segoe UI"/>
                        </a:rPr>
                        <a:t>Research team</a:t>
                      </a:r>
                    </a:p>
                  </a:txBody>
                  <a:tcPr marL="64008" marR="64008" marT="18288" marB="18288" anchor="ctr">
                    <a:solidFill>
                      <a:srgbClr val="F4F6F8"/>
                    </a:solidFill>
                  </a:tcPr>
                </a:tc>
                <a:tc>
                  <a:txBody>
                    <a:bodyPr wrap="square"/>
                    <a:lstStyle/>
                    <a:p>
                      <a:pPr algn="l"/>
                      <a:r>
                        <a:rPr sz="1100" b="0">
                          <a:solidFill>
                            <a:srgbClr val="22272E"/>
                          </a:solidFill>
                          <a:latin typeface="Segoe UI"/>
                        </a:rPr>
                        <a:t>Matters for development, not for multi-day runs</a:t>
                      </a:r>
                    </a:p>
                  </a:txBody>
                  <a:tcPr marL="64008" marR="64008" marT="18288" marB="18288" anchor="ctr">
                    <a:solidFill>
                      <a:srgbClr val="F4F6F8"/>
                    </a:solidFill>
                  </a:tcPr>
                </a:tc>
              </a:tr>
              <a:tr h="402336">
                <a:tc>
                  <a:txBody>
                    <a:bodyPr wrap="square"/>
                    <a:lstStyle/>
                    <a:p>
                      <a:pPr algn="l"/>
                      <a:r>
                        <a:rPr sz="1100" b="0">
                          <a:solidFill>
                            <a:srgbClr val="22272E"/>
                          </a:solidFill>
                          <a:latin typeface="Segoe UI"/>
                        </a:rPr>
                        <a:t>"Argo" — Workflows or CD?</a:t>
                      </a:r>
                    </a:p>
                  </a:txBody>
                  <a:tcPr marL="64008" marR="64008" marT="18288" marB="18288" anchor="ctr">
                    <a:solidFill>
                      <a:srgbClr val="FFFFFF"/>
                    </a:solidFill>
                  </a:tcPr>
                </a:tc>
                <a:tc>
                  <a:txBody>
                    <a:bodyPr wrap="square"/>
                    <a:lstStyle/>
                    <a:p>
                      <a:pPr algn="l"/>
                      <a:r>
                        <a:rPr sz="1100" b="0">
                          <a:solidFill>
                            <a:srgbClr val="22272E"/>
                          </a:solidFill>
                          <a:latin typeface="Segoe UI"/>
                        </a:rPr>
                        <a:t>Architecture team</a:t>
                      </a:r>
                    </a:p>
                  </a:txBody>
                  <a:tcPr marL="64008" marR="64008" marT="18288" marB="18288" anchor="ctr">
                    <a:solidFill>
                      <a:srgbClr val="FFFFFF"/>
                    </a:solidFill>
                  </a:tcPr>
                </a:tc>
                <a:tc>
                  <a:txBody>
                    <a:bodyPr wrap="square"/>
                    <a:lstStyle/>
                    <a:p>
                      <a:pPr algn="l"/>
                      <a:r>
                        <a:rPr sz="1100" b="0">
                          <a:solidFill>
                            <a:srgbClr val="22272E"/>
                          </a:solidFill>
                          <a:latin typeface="Segoe UI"/>
                        </a:rPr>
                        <a:t>Decides whether Flyte and Argo actually conflict</a:t>
                      </a:r>
                    </a:p>
                  </a:txBody>
                  <a:tcPr marL="64008" marR="64008" marT="18288" marB="18288" anchor="ctr">
                    <a:solidFill>
                      <a:srgbClr val="FFFFFF"/>
                    </a:solidFill>
                  </a:tcPr>
                </a:tc>
              </a:tr>
              <a:tr h="402336">
                <a:tc>
                  <a:txBody>
                    <a:bodyPr wrap="square"/>
                    <a:lstStyle/>
                    <a:p>
                      <a:pPr algn="l"/>
                      <a:r>
                        <a:rPr sz="1100" b="0">
                          <a:solidFill>
                            <a:srgbClr val="22272E"/>
                          </a:solidFill>
                          <a:latin typeface="Segoe UI"/>
                        </a:rPr>
                        <a:t>ANSWERED: GNN/transformer on meshes. ParaView?</a:t>
                      </a:r>
                    </a:p>
                  </a:txBody>
                  <a:tcPr marL="64008" marR="64008" marT="18288" marB="18288" anchor="ctr">
                    <a:solidFill>
                      <a:srgbClr val="F4F6F8"/>
                    </a:solidFill>
                  </a:tcPr>
                </a:tc>
                <a:tc>
                  <a:txBody>
                    <a:bodyPr wrap="square"/>
                    <a:lstStyle/>
                    <a:p>
                      <a:pPr algn="l"/>
                      <a:r>
                        <a:rPr sz="1100" b="0">
                          <a:solidFill>
                            <a:srgbClr val="22272E"/>
                          </a:solidFill>
                          <a:latin typeface="Segoe UI"/>
                        </a:rPr>
                        <a:t>Research team</a:t>
                      </a:r>
                    </a:p>
                  </a:txBody>
                  <a:tcPr marL="64008" marR="64008" marT="18288" marB="18288" anchor="ctr">
                    <a:solidFill>
                      <a:srgbClr val="F4F6F8"/>
                    </a:solidFill>
                  </a:tcPr>
                </a:tc>
                <a:tc>
                  <a:txBody>
                    <a:bodyPr wrap="square"/>
                    <a:lstStyle/>
                    <a:p>
                      <a:pPr algn="l"/>
                      <a:r>
                        <a:rPr sz="1100" b="0">
                          <a:solidFill>
                            <a:srgbClr val="22272E"/>
                          </a:solidFill>
                          <a:latin typeface="Segoe UI"/>
                        </a:rPr>
                        <a:t>Only open point: does ParaView run in the sandbox?</a:t>
                      </a:r>
                    </a:p>
                  </a:txBody>
                  <a:tcPr marL="64008" marR="64008" marT="18288" marB="18288" anchor="ctr">
                    <a:solidFill>
                      <a:srgbClr val="F4F6F8"/>
                    </a:solidFill>
                  </a:tcPr>
                </a:tc>
              </a:tr>
              <a:tr h="402336">
                <a:tc>
                  <a:txBody>
                    <a:bodyPr wrap="square"/>
                    <a:lstStyle/>
                    <a:p>
                      <a:pPr algn="l"/>
                      <a:r>
                        <a:rPr sz="1100" b="0">
                          <a:solidFill>
                            <a:srgbClr val="22272E"/>
                          </a:solidFill>
                          <a:latin typeface="Segoe UI"/>
                        </a:rPr>
                        <a:t>Python app tier: FastAPI/Flyte/Dask/MLflow, or EKS/Ray/Argo?</a:t>
                      </a:r>
                    </a:p>
                  </a:txBody>
                  <a:tcPr marL="64008" marR="64008" marT="18288" marB="18288" anchor="ctr">
                    <a:solidFill>
                      <a:srgbClr val="FFFFFF"/>
                    </a:solidFill>
                  </a:tcPr>
                </a:tc>
                <a:tc>
                  <a:txBody>
                    <a:bodyPr wrap="square"/>
                    <a:lstStyle/>
                    <a:p>
                      <a:pPr algn="l"/>
                      <a:r>
                        <a:rPr sz="1100" b="0">
                          <a:solidFill>
                            <a:srgbClr val="22272E"/>
                          </a:solidFill>
                          <a:latin typeface="Segoe UI"/>
                        </a:rPr>
                        <a:t>Architecture team</a:t>
                      </a:r>
                    </a:p>
                  </a:txBody>
                  <a:tcPr marL="64008" marR="64008" marT="18288" marB="18288" anchor="ctr">
                    <a:solidFill>
                      <a:srgbClr val="FFFFFF"/>
                    </a:solidFill>
                  </a:tcPr>
                </a:tc>
                <a:tc>
                  <a:txBody>
                    <a:bodyPr wrap="square"/>
                    <a:lstStyle/>
                    <a:p>
                      <a:pPr algn="l"/>
                      <a:r>
                        <a:rPr sz="1100" b="0">
                          <a:solidFill>
                            <a:srgbClr val="22272E"/>
                          </a:solidFill>
                          <a:latin typeface="Segoe UI"/>
                        </a:rPr>
                        <a:t>Sizes "deploy and support their application"</a:t>
                      </a:r>
                    </a:p>
                  </a:txBody>
                  <a:tcPr marL="64008" marR="64008" marT="18288" marB="18288" anchor="ctr">
                    <a:solidFill>
                      <a:srgbClr val="FFFFFF"/>
                    </a:solidFill>
                  </a:tcPr>
                </a:tc>
              </a:tr>
              <a:tr h="402336">
                <a:tc>
                  <a:txBody>
                    <a:bodyPr wrap="square"/>
                    <a:lstStyle/>
                    <a:p>
                      <a:pPr algn="l"/>
                      <a:r>
                        <a:rPr sz="1100" b="0">
                          <a:solidFill>
                            <a:srgbClr val="22272E"/>
                          </a:solidFill>
                          <a:latin typeface="Segoe UI"/>
                        </a:rPr>
                        <a:t>Multi-node: kickoff says yes, research says no</a:t>
                      </a:r>
                    </a:p>
                  </a:txBody>
                  <a:tcPr marL="64008" marR="64008" marT="18288" marB="18288" anchor="ctr">
                    <a:solidFill>
                      <a:srgbClr val="F4F6F8"/>
                    </a:solidFill>
                  </a:tcPr>
                </a:tc>
                <a:tc>
                  <a:txBody>
                    <a:bodyPr wrap="square"/>
                    <a:lstStyle/>
                    <a:p>
                      <a:pPr algn="l"/>
                      <a:r>
                        <a:rPr sz="1100" b="0">
                          <a:solidFill>
                            <a:srgbClr val="22272E"/>
                          </a:solidFill>
                          <a:latin typeface="Segoe UI"/>
                        </a:rPr>
                        <a:t>Jim Tallman + research</a:t>
                      </a:r>
                    </a:p>
                  </a:txBody>
                  <a:tcPr marL="64008" marR="64008" marT="18288" marB="18288" anchor="ctr">
                    <a:solidFill>
                      <a:srgbClr val="F4F6F8"/>
                    </a:solidFill>
                  </a:tcPr>
                </a:tc>
                <a:tc>
                  <a:txBody>
                    <a:bodyPr wrap="square"/>
                    <a:lstStyle/>
                    <a:p>
                      <a:pPr algn="l"/>
                      <a:r>
                        <a:rPr sz="1100" b="0">
                          <a:solidFill>
                            <a:srgbClr val="22272E"/>
                          </a:solidFill>
                          <a:latin typeface="Segoe UI"/>
                        </a:rPr>
                        <a:t>Decides what the Scaling Benchmark Report proves</a:t>
                      </a:r>
                    </a:p>
                  </a:txBody>
                  <a:tcPr marL="64008" marR="64008" marT="18288" marB="18288" anchor="ctr">
                    <a:solidFill>
                      <a:srgbClr val="F4F6F8"/>
                    </a:solidFill>
                  </a:tcPr>
                </a:tc>
              </a:tr>
              <a:tr h="402336">
                <a:tc>
                  <a:txBody>
                    <a:bodyPr wrap="square"/>
                    <a:lstStyle/>
                    <a:p>
                      <a:pPr algn="l"/>
                      <a:r>
                        <a:rPr sz="1100" b="0">
                          <a:solidFill>
                            <a:srgbClr val="22272E"/>
                          </a:solidFill>
                          <a:latin typeface="Segoe UI"/>
                        </a:rPr>
                        <a:t>GPU funding, and on-demand vs 12-month prepay</a:t>
                      </a:r>
                    </a:p>
                  </a:txBody>
                  <a:tcPr marL="64008" marR="64008" marT="18288" marB="18288" anchor="ctr">
                    <a:solidFill>
                      <a:srgbClr val="FFFFFF"/>
                    </a:solidFill>
                  </a:tcPr>
                </a:tc>
                <a:tc>
                  <a:txBody>
                    <a:bodyPr wrap="square"/>
                    <a:lstStyle/>
                    <a:p>
                      <a:pPr algn="l"/>
                      <a:r>
                        <a:rPr sz="1100" b="0">
                          <a:solidFill>
                            <a:srgbClr val="22272E"/>
                          </a:solidFill>
                          <a:latin typeface="Segoe UI"/>
                        </a:rPr>
                        <a:t>Michael Russo</a:t>
                      </a:r>
                    </a:p>
                  </a:txBody>
                  <a:tcPr marL="64008" marR="64008" marT="18288" marB="18288" anchor="ctr">
                    <a:solidFill>
                      <a:srgbClr val="FFFFFF"/>
                    </a:solidFill>
                  </a:tcPr>
                </a:tc>
                <a:tc>
                  <a:txBody>
                    <a:bodyPr wrap="square"/>
                    <a:lstStyle/>
                    <a:p>
                      <a:pPr algn="l"/>
                      <a:r>
                        <a:rPr sz="1100" b="0">
                          <a:solidFill>
                            <a:srgbClr val="22272E"/>
                          </a:solidFill>
                          <a:latin typeface="Segoe UI"/>
                        </a:rPr>
                        <a:t>Prepay removes the stop/start cost lever</a:t>
                      </a:r>
                    </a:p>
                  </a:txBody>
                  <a:tcPr marL="64008" marR="64008" marT="18288" marB="18288" anchor="ctr">
                    <a:solidFill>
                      <a:srgbClr val="FFFFFF"/>
                    </a:solidFill>
                  </a:tcPr>
                </a:tc>
              </a:tr>
              <a:tr h="402336">
                <a:tc>
                  <a:txBody>
                    <a:bodyPr wrap="square"/>
                    <a:lstStyle/>
                    <a:p>
                      <a:pPr algn="l"/>
                      <a:r>
                        <a:rPr sz="1100" b="0">
                          <a:solidFill>
                            <a:srgbClr val="22272E"/>
                          </a:solidFill>
                          <a:latin typeface="Segoe UI"/>
                        </a:rPr>
                        <a:t>Alpharetta environment inventory</a:t>
                      </a:r>
                    </a:p>
                  </a:txBody>
                  <a:tcPr marL="64008" marR="64008" marT="18288" marB="18288" anchor="ctr">
                    <a:solidFill>
                      <a:srgbClr val="F4F6F8"/>
                    </a:solidFill>
                  </a:tcPr>
                </a:tc>
                <a:tc>
                  <a:txBody>
                    <a:bodyPr wrap="square"/>
                    <a:lstStyle/>
                    <a:p>
                      <a:pPr algn="l"/>
                      <a:r>
                        <a:rPr sz="1100" b="0">
                          <a:solidFill>
                            <a:srgbClr val="22272E"/>
                          </a:solidFill>
                          <a:latin typeface="Segoe UI"/>
                        </a:rPr>
                        <a:t>Architecture team</a:t>
                      </a:r>
                    </a:p>
                  </a:txBody>
                  <a:tcPr marL="64008" marR="64008" marT="18288" marB="18288" anchor="ctr">
                    <a:solidFill>
                      <a:srgbClr val="F4F6F8"/>
                    </a:solidFill>
                  </a:tcPr>
                </a:tc>
                <a:tc>
                  <a:txBody>
                    <a:bodyPr wrap="square"/>
                    <a:lstStyle/>
                    <a:p>
                      <a:pPr algn="l"/>
                      <a:r>
                        <a:rPr sz="1100" b="0">
                          <a:solidFill>
                            <a:srgbClr val="22272E"/>
                          </a:solidFill>
                          <a:latin typeface="Segoe UI"/>
                        </a:rPr>
                        <a:t>D4, D6 and D7 are undefined without it</a:t>
                      </a:r>
                    </a:p>
                  </a:txBody>
                  <a:tcPr marL="64008" marR="64008" marT="18288" marB="18288" anchor="ctr">
                    <a:solidFill>
                      <a:srgbClr val="F4F6F8"/>
                    </a:solidFill>
                  </a:tcPr>
                </a:tc>
              </a:tr>
              <a:tr h="402336">
                <a:tc>
                  <a:txBody>
                    <a:bodyPr wrap="square"/>
                    <a:lstStyle/>
                    <a:p>
                      <a:pPr algn="l"/>
                      <a:r>
                        <a:rPr sz="1100" b="0">
                          <a:solidFill>
                            <a:srgbClr val="22272E"/>
                          </a:solidFill>
                          <a:latin typeface="Segoe UI"/>
                        </a:rPr>
                        <a:t>Is SSM approved, or is Gossamer the path?</a:t>
                      </a:r>
                    </a:p>
                  </a:txBody>
                  <a:tcPr marL="64008" marR="64008" marT="18288" marB="18288" anchor="ctr">
                    <a:solidFill>
                      <a:srgbClr val="FFFFFF"/>
                    </a:solidFill>
                  </a:tcPr>
                </a:tc>
                <a:tc>
                  <a:txBody>
                    <a:bodyPr wrap="square"/>
                    <a:lstStyle/>
                    <a:p>
                      <a:pPr algn="l"/>
                      <a:r>
                        <a:rPr sz="1100" b="0">
                          <a:solidFill>
                            <a:srgbClr val="22272E"/>
                          </a:solidFill>
                          <a:latin typeface="Segoe UI"/>
                        </a:rPr>
                        <a:t>GEV IT / InfoSec</a:t>
                      </a:r>
                    </a:p>
                  </a:txBody>
                  <a:tcPr marL="64008" marR="64008" marT="18288" marB="18288" anchor="ctr">
                    <a:solidFill>
                      <a:srgbClr val="FFFFFF"/>
                    </a:solidFill>
                  </a:tcPr>
                </a:tc>
                <a:tc>
                  <a:txBody>
                    <a:bodyPr wrap="square"/>
                    <a:lstStyle/>
                    <a:p>
                      <a:pPr algn="l"/>
                      <a:r>
                        <a:rPr sz="1100" b="0">
                          <a:solidFill>
                            <a:srgbClr val="22272E"/>
                          </a:solidFill>
                          <a:latin typeface="Segoe UI"/>
                        </a:rPr>
                        <a:t>Shapes the access plane</a:t>
                      </a:r>
                    </a:p>
                  </a:txBody>
                  <a:tcPr marL="64008" marR="64008" marT="18288" marB="18288" anchor="ctr">
                    <a:solidFill>
                      <a:srgbClr val="FFFFFF"/>
                    </a:solidFill>
                  </a:tcPr>
                </a:tc>
              </a:tr>
              <a:tr h="402336">
                <a:tc>
                  <a:txBody>
                    <a:bodyPr wrap="square"/>
                    <a:lstStyle/>
                    <a:p>
                      <a:pPr algn="l"/>
                      <a:r>
                        <a:rPr sz="1100" b="0">
                          <a:solidFill>
                            <a:srgbClr val="22272E"/>
                          </a:solidFill>
                          <a:latin typeface="Segoe UI"/>
                        </a:rPr>
                        <a:t>Does 'static servers' permit a cluster?</a:t>
                      </a:r>
                    </a:p>
                  </a:txBody>
                  <a:tcPr marL="64008" marR="64008" marT="18288" marB="18288" anchor="ctr">
                    <a:solidFill>
                      <a:srgbClr val="F4F6F8"/>
                    </a:solidFill>
                  </a:tcPr>
                </a:tc>
                <a:tc>
                  <a:txBody>
                    <a:bodyPr wrap="square"/>
                    <a:lstStyle/>
                    <a:p>
                      <a:pPr algn="l"/>
                      <a:r>
                        <a:rPr sz="1100" b="0">
                          <a:solidFill>
                            <a:srgbClr val="22272E"/>
                          </a:solidFill>
                          <a:latin typeface="Segoe UI"/>
                        </a:rPr>
                        <a:t>Michael Russo</a:t>
                      </a:r>
                    </a:p>
                  </a:txBody>
                  <a:tcPr marL="64008" marR="64008" marT="18288" marB="18288" anchor="ctr">
                    <a:solidFill>
                      <a:srgbClr val="F4F6F8"/>
                    </a:solidFill>
                  </a:tcPr>
                </a:tc>
                <a:tc>
                  <a:txBody>
                    <a:bodyPr wrap="square"/>
                    <a:lstStyle/>
                    <a:p>
                      <a:pPr algn="l"/>
                      <a:r>
                        <a:rPr sz="1100" b="0">
                          <a:solidFill>
                            <a:srgbClr val="22272E"/>
                          </a:solidFill>
                          <a:latin typeface="Segoe UI"/>
                        </a:rPr>
                        <a:t>SOW wording vs. what we would build</a:t>
                      </a:r>
                    </a:p>
                  </a:txBody>
                  <a:tcPr marL="64008" marR="64008" marT="18288" marB="18288" anchor="ctr">
                    <a:solidFill>
                      <a:srgbClr val="F4F6F8"/>
                    </a:solidFill>
                  </a:tcPr>
                </a:tc>
              </a:tr>
            </a:tbl>
          </a:graphicData>
        </a:graphic>
      </p:graphicFrame>
      <p:sp>
        <p:nvSpPr>
          <p:cNvPr id="7" name="TextBox 6"/>
          <p:cNvSpPr txBox="1"/>
          <p:nvPr/>
        </p:nvSpPr>
        <p:spPr>
          <a:xfrm>
            <a:off x="548640" y="5806440"/>
            <a:ext cx="11064240" cy="365760"/>
          </a:xfrm>
          <a:prstGeom prst="rect">
            <a:avLst/>
          </a:prstGeom>
          <a:noFill/>
        </p:spPr>
        <p:txBody>
          <a:bodyPr wrap="square" lIns="0" rIns="0" tIns="0" bIns="0">
            <a:spAutoFit/>
          </a:bodyPr>
          <a:lstStyle/>
          <a:p>
            <a:pPr algn="l">
              <a:lnSpc>
                <a:spcPct val="115000"/>
              </a:lnSpc>
              <a:spcAft>
                <a:spcPts val="600"/>
              </a:spcAft>
            </a:pPr>
            <a:r>
              <a:rPr sz="1150" b="1">
                <a:solidFill>
                  <a:srgbClr val="1F3A5F"/>
                </a:solidFill>
                <a:latin typeface="Segoe UI"/>
              </a:rPr>
              <a:t>The first two carry the most weight: between them they can reopen or close the entire comparison.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972800" cy="274320"/>
          </a:xfrm>
          <a:prstGeom prst="rect">
            <a:avLst/>
          </a:prstGeom>
          <a:noFill/>
        </p:spPr>
        <p:txBody>
          <a:bodyPr wrap="square" lIns="0" rIns="0" tIns="0" bIns="0">
            <a:spAutoFit/>
          </a:bodyPr>
          <a:lstStyle/>
          <a:p>
            <a:pPr algn="l">
              <a:lnSpc>
                <a:spcPct val="115000"/>
              </a:lnSpc>
              <a:spcAft>
                <a:spcPts val="600"/>
              </a:spcAft>
            </a:pPr>
            <a:r>
              <a:rPr sz="1000" b="1">
                <a:solidFill>
                  <a:srgbClr val="2E8B8B"/>
                </a:solidFill>
                <a:latin typeface="Segoe UI"/>
              </a:rPr>
              <a:t>IF AGREED</a:t>
            </a:r>
          </a:p>
        </p:txBody>
      </p:sp>
      <p:sp>
        <p:nvSpPr>
          <p:cNvPr id="3" name="TextBox 2"/>
          <p:cNvSpPr txBox="1"/>
          <p:nvPr/>
        </p:nvSpPr>
        <p:spPr>
          <a:xfrm>
            <a:off x="548640" y="566928"/>
            <a:ext cx="11155680" cy="548640"/>
          </a:xfrm>
          <a:prstGeom prst="rect">
            <a:avLst/>
          </a:prstGeom>
          <a:noFill/>
        </p:spPr>
        <p:txBody>
          <a:bodyPr wrap="square" lIns="0" rIns="0" tIns="0" bIns="0">
            <a:spAutoFit/>
          </a:bodyPr>
          <a:lstStyle/>
          <a:p>
            <a:pPr algn="l">
              <a:lnSpc>
                <a:spcPct val="115000"/>
              </a:lnSpc>
              <a:spcAft>
                <a:spcPts val="600"/>
              </a:spcAft>
            </a:pPr>
            <a:r>
              <a:rPr sz="2600" b="1">
                <a:solidFill>
                  <a:srgbClr val="1F3A5F"/>
                </a:solidFill>
                <a:latin typeface="Segoe UI"/>
              </a:rPr>
              <a:t>Next steps</a:t>
            </a:r>
          </a:p>
        </p:txBody>
      </p:sp>
      <p:sp>
        <p:nvSpPr>
          <p:cNvPr id="4" name="Rectangle 3"/>
          <p:cNvSpPr/>
          <p:nvPr/>
        </p:nvSpPr>
        <p:spPr>
          <a:xfrm>
            <a:off x="548640" y="1170432"/>
            <a:ext cx="1005840" cy="3810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lIns="0" rIns="0" tIns="0" bIns="0">
            <a:spAutoFit/>
          </a:bodyPr>
          <a:lstStyle/>
          <a:p>
            <a:pPr algn="l">
              <a:lnSpc>
                <a:spcPct val="115000"/>
              </a:lnSpc>
              <a:spcAft>
                <a:spcPts val="600"/>
              </a:spcAft>
            </a:pPr>
            <a:r>
              <a:rPr sz="800" b="0">
                <a:solidFill>
                  <a:srgbClr val="6B7280"/>
                </a:solidFill>
                <a:latin typeface="Segoe UI"/>
              </a:rPr>
              <a:t>GE Vernova Proprietary  ·  Surrogate ML Accelerator  ·  Phase 1 architecture decision</a:t>
            </a:r>
          </a:p>
        </p:txBody>
      </p:sp>
      <p:sp>
        <p:nvSpPr>
          <p:cNvPr id="6" name="Oval 5"/>
          <p:cNvSpPr/>
          <p:nvPr/>
        </p:nvSpPr>
        <p:spPr>
          <a:xfrm>
            <a:off x="640080" y="1600200"/>
            <a:ext cx="457200" cy="457200"/>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457200" cy="274320"/>
          </a:xfrm>
          <a:prstGeom prst="rect">
            <a:avLst/>
          </a:prstGeom>
          <a:noFill/>
        </p:spPr>
        <p:txBody>
          <a:bodyPr wrap="square" lIns="0" rIns="0" tIns="0" bIns="0">
            <a:spAutoFit/>
          </a:bodyPr>
          <a:lstStyle/>
          <a:p>
            <a:pPr algn="ctr">
              <a:lnSpc>
                <a:spcPct val="115000"/>
              </a:lnSpc>
              <a:spcAft>
                <a:spcPts val="600"/>
              </a:spcAft>
            </a:pPr>
            <a:r>
              <a:rPr sz="1400" b="1">
                <a:solidFill>
                  <a:srgbClr val="FFFFFF"/>
                </a:solidFill>
                <a:latin typeface="Segoe UI"/>
              </a:rPr>
              <a:t>1</a:t>
            </a:r>
          </a:p>
        </p:txBody>
      </p:sp>
      <p:sp>
        <p:nvSpPr>
          <p:cNvPr id="8" name="TextBox 7"/>
          <p:cNvSpPr txBox="1"/>
          <p:nvPr/>
        </p:nvSpPr>
        <p:spPr>
          <a:xfrm>
            <a:off x="1325880" y="1618488"/>
            <a:ext cx="4572000" cy="320040"/>
          </a:xfrm>
          <a:prstGeom prst="rect">
            <a:avLst/>
          </a:prstGeom>
          <a:noFill/>
        </p:spPr>
        <p:txBody>
          <a:bodyPr wrap="square" lIns="0" rIns="0" tIns="0" bIns="0">
            <a:spAutoFit/>
          </a:bodyPr>
          <a:lstStyle/>
          <a:p>
            <a:pPr algn="l">
              <a:lnSpc>
                <a:spcPct val="115000"/>
              </a:lnSpc>
              <a:spcAft>
                <a:spcPts val="600"/>
              </a:spcAft>
            </a:pPr>
            <a:r>
              <a:rPr sz="1500" b="1">
                <a:solidFill>
                  <a:srgbClr val="1F3A5F"/>
                </a:solidFill>
                <a:latin typeface="Segoe UI"/>
              </a:rPr>
              <a:t>Confirm the architecture</a:t>
            </a:r>
          </a:p>
        </p:txBody>
      </p:sp>
      <p:sp>
        <p:nvSpPr>
          <p:cNvPr id="9" name="TextBox 8"/>
          <p:cNvSpPr txBox="1"/>
          <p:nvPr/>
        </p:nvSpPr>
        <p:spPr>
          <a:xfrm>
            <a:off x="1325880" y="1901952"/>
            <a:ext cx="9601200" cy="274320"/>
          </a:xfrm>
          <a:prstGeom prst="rect">
            <a:avLst/>
          </a:prstGeom>
          <a:noFill/>
        </p:spPr>
        <p:txBody>
          <a:bodyPr wrap="square" lIns="0" rIns="0" tIns="0" bIns="0">
            <a:spAutoFit/>
          </a:bodyPr>
          <a:lstStyle/>
          <a:p>
            <a:pPr algn="l">
              <a:lnSpc>
                <a:spcPct val="115000"/>
              </a:lnSpc>
              <a:spcAft>
                <a:spcPts val="600"/>
              </a:spcAft>
            </a:pPr>
            <a:r>
              <a:rPr sz="1200" b="0">
                <a:solidFill>
                  <a:srgbClr val="6B7280"/>
                </a:solidFill>
                <a:latin typeface="Segoe UI"/>
              </a:rPr>
              <a:t>Weekly meeting with the research team</a:t>
            </a:r>
          </a:p>
        </p:txBody>
      </p:sp>
      <p:sp>
        <p:nvSpPr>
          <p:cNvPr id="10" name="Oval 9"/>
          <p:cNvSpPr/>
          <p:nvPr/>
        </p:nvSpPr>
        <p:spPr>
          <a:xfrm>
            <a:off x="640080" y="2441448"/>
            <a:ext cx="457200" cy="457200"/>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532888"/>
            <a:ext cx="457200" cy="274320"/>
          </a:xfrm>
          <a:prstGeom prst="rect">
            <a:avLst/>
          </a:prstGeom>
          <a:noFill/>
        </p:spPr>
        <p:txBody>
          <a:bodyPr wrap="square" lIns="0" rIns="0" tIns="0" bIns="0">
            <a:spAutoFit/>
          </a:bodyPr>
          <a:lstStyle/>
          <a:p>
            <a:pPr algn="ctr">
              <a:lnSpc>
                <a:spcPct val="115000"/>
              </a:lnSpc>
              <a:spcAft>
                <a:spcPts val="600"/>
              </a:spcAft>
            </a:pPr>
            <a:r>
              <a:rPr sz="1400" b="1">
                <a:solidFill>
                  <a:srgbClr val="FFFFFF"/>
                </a:solidFill>
                <a:latin typeface="Segoe UI"/>
              </a:rPr>
              <a:t>2</a:t>
            </a:r>
          </a:p>
        </p:txBody>
      </p:sp>
      <p:sp>
        <p:nvSpPr>
          <p:cNvPr id="12" name="TextBox 11"/>
          <p:cNvSpPr txBox="1"/>
          <p:nvPr/>
        </p:nvSpPr>
        <p:spPr>
          <a:xfrm>
            <a:off x="1325880" y="2459736"/>
            <a:ext cx="4572000" cy="320040"/>
          </a:xfrm>
          <a:prstGeom prst="rect">
            <a:avLst/>
          </a:prstGeom>
          <a:noFill/>
        </p:spPr>
        <p:txBody>
          <a:bodyPr wrap="square" lIns="0" rIns="0" tIns="0" bIns="0">
            <a:spAutoFit/>
          </a:bodyPr>
          <a:lstStyle/>
          <a:p>
            <a:pPr algn="l">
              <a:lnSpc>
                <a:spcPct val="115000"/>
              </a:lnSpc>
              <a:spcAft>
                <a:spcPts val="600"/>
              </a:spcAft>
            </a:pPr>
            <a:r>
              <a:rPr sz="1500" b="1">
                <a:solidFill>
                  <a:srgbClr val="1F3A5F"/>
                </a:solidFill>
                <a:latin typeface="Segoe UI"/>
              </a:rPr>
              <a:t>Close the two decisive questions</a:t>
            </a:r>
          </a:p>
        </p:txBody>
      </p:sp>
      <p:sp>
        <p:nvSpPr>
          <p:cNvPr id="13" name="TextBox 12"/>
          <p:cNvSpPr txBox="1"/>
          <p:nvPr/>
        </p:nvSpPr>
        <p:spPr>
          <a:xfrm>
            <a:off x="1325880" y="2743200"/>
            <a:ext cx="9601200" cy="274320"/>
          </a:xfrm>
          <a:prstGeom prst="rect">
            <a:avLst/>
          </a:prstGeom>
          <a:noFill/>
        </p:spPr>
        <p:txBody>
          <a:bodyPr wrap="square" lIns="0" rIns="0" tIns="0" bIns="0">
            <a:spAutoFit/>
          </a:bodyPr>
          <a:lstStyle/>
          <a:p>
            <a:pPr algn="l">
              <a:lnSpc>
                <a:spcPct val="115000"/>
              </a:lnSpc>
              <a:spcAft>
                <a:spcPts val="600"/>
              </a:spcAft>
            </a:pPr>
            <a:r>
              <a:rPr sz="1200" b="0">
                <a:solidFill>
                  <a:srgbClr val="6B7280"/>
                </a:solidFill>
                <a:latin typeface="Segoe UI"/>
              </a:rPr>
              <a:t>Multi-node requirement, acceptable start latency</a:t>
            </a:r>
          </a:p>
        </p:txBody>
      </p:sp>
      <p:sp>
        <p:nvSpPr>
          <p:cNvPr id="14" name="Oval 13"/>
          <p:cNvSpPr/>
          <p:nvPr/>
        </p:nvSpPr>
        <p:spPr>
          <a:xfrm>
            <a:off x="640080" y="3282696"/>
            <a:ext cx="457200" cy="457200"/>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74136"/>
            <a:ext cx="457200" cy="274320"/>
          </a:xfrm>
          <a:prstGeom prst="rect">
            <a:avLst/>
          </a:prstGeom>
          <a:noFill/>
        </p:spPr>
        <p:txBody>
          <a:bodyPr wrap="square" lIns="0" rIns="0" tIns="0" bIns="0">
            <a:spAutoFit/>
          </a:bodyPr>
          <a:lstStyle/>
          <a:p>
            <a:pPr algn="ctr">
              <a:lnSpc>
                <a:spcPct val="115000"/>
              </a:lnSpc>
              <a:spcAft>
                <a:spcPts val="600"/>
              </a:spcAft>
            </a:pPr>
            <a:r>
              <a:rPr sz="1400" b="1">
                <a:solidFill>
                  <a:srgbClr val="FFFFFF"/>
                </a:solidFill>
                <a:latin typeface="Segoe UI"/>
              </a:rPr>
              <a:t>3</a:t>
            </a:r>
          </a:p>
        </p:txBody>
      </p:sp>
      <p:sp>
        <p:nvSpPr>
          <p:cNvPr id="16" name="TextBox 15"/>
          <p:cNvSpPr txBox="1"/>
          <p:nvPr/>
        </p:nvSpPr>
        <p:spPr>
          <a:xfrm>
            <a:off x="1325880" y="3300984"/>
            <a:ext cx="4572000" cy="320040"/>
          </a:xfrm>
          <a:prstGeom prst="rect">
            <a:avLst/>
          </a:prstGeom>
          <a:noFill/>
        </p:spPr>
        <p:txBody>
          <a:bodyPr wrap="square" lIns="0" rIns="0" tIns="0" bIns="0">
            <a:spAutoFit/>
          </a:bodyPr>
          <a:lstStyle/>
          <a:p>
            <a:pPr algn="l">
              <a:lnSpc>
                <a:spcPct val="115000"/>
              </a:lnSpc>
              <a:spcAft>
                <a:spcPts val="600"/>
              </a:spcAft>
            </a:pPr>
            <a:r>
              <a:rPr sz="1500" b="1">
                <a:solidFill>
                  <a:srgbClr val="1F3A5F"/>
                </a:solidFill>
                <a:latin typeface="Segoe UI"/>
              </a:rPr>
              <a:t>Place the capacity reservation</a:t>
            </a:r>
          </a:p>
        </p:txBody>
      </p:sp>
      <p:sp>
        <p:nvSpPr>
          <p:cNvPr id="17" name="TextBox 16"/>
          <p:cNvSpPr txBox="1"/>
          <p:nvPr/>
        </p:nvSpPr>
        <p:spPr>
          <a:xfrm>
            <a:off x="1325880" y="3584448"/>
            <a:ext cx="9601200" cy="274320"/>
          </a:xfrm>
          <a:prstGeom prst="rect">
            <a:avLst/>
          </a:prstGeom>
          <a:noFill/>
        </p:spPr>
        <p:txBody>
          <a:bodyPr wrap="square" lIns="0" rIns="0" tIns="0" bIns="0">
            <a:spAutoFit/>
          </a:bodyPr>
          <a:lstStyle/>
          <a:p>
            <a:pPr algn="l">
              <a:lnSpc>
                <a:spcPct val="115000"/>
              </a:lnSpc>
              <a:spcAft>
                <a:spcPts val="600"/>
              </a:spcAft>
            </a:pPr>
            <a:r>
              <a:rPr sz="1200" b="0">
                <a:solidFill>
                  <a:srgbClr val="6B7280"/>
                </a:solidFill>
                <a:latin typeface="Segoe UI"/>
              </a:rPr>
              <a:t>Blocked on server count and funding</a:t>
            </a:r>
          </a:p>
        </p:txBody>
      </p:sp>
      <p:sp>
        <p:nvSpPr>
          <p:cNvPr id="18" name="Oval 17"/>
          <p:cNvSpPr/>
          <p:nvPr/>
        </p:nvSpPr>
        <p:spPr>
          <a:xfrm>
            <a:off x="640080" y="4123944"/>
            <a:ext cx="457200" cy="457200"/>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215384"/>
            <a:ext cx="457200" cy="274320"/>
          </a:xfrm>
          <a:prstGeom prst="rect">
            <a:avLst/>
          </a:prstGeom>
          <a:noFill/>
        </p:spPr>
        <p:txBody>
          <a:bodyPr wrap="square" lIns="0" rIns="0" tIns="0" bIns="0">
            <a:spAutoFit/>
          </a:bodyPr>
          <a:lstStyle/>
          <a:p>
            <a:pPr algn="ctr">
              <a:lnSpc>
                <a:spcPct val="115000"/>
              </a:lnSpc>
              <a:spcAft>
                <a:spcPts val="600"/>
              </a:spcAft>
            </a:pPr>
            <a:r>
              <a:rPr sz="1400" b="1">
                <a:solidFill>
                  <a:srgbClr val="FFFFFF"/>
                </a:solidFill>
                <a:latin typeface="Segoe UI"/>
              </a:rPr>
              <a:t>4</a:t>
            </a:r>
          </a:p>
        </p:txBody>
      </p:sp>
      <p:sp>
        <p:nvSpPr>
          <p:cNvPr id="20" name="TextBox 19"/>
          <p:cNvSpPr txBox="1"/>
          <p:nvPr/>
        </p:nvSpPr>
        <p:spPr>
          <a:xfrm>
            <a:off x="1325880" y="4142232"/>
            <a:ext cx="4572000" cy="320040"/>
          </a:xfrm>
          <a:prstGeom prst="rect">
            <a:avLst/>
          </a:prstGeom>
          <a:noFill/>
        </p:spPr>
        <p:txBody>
          <a:bodyPr wrap="square" lIns="0" rIns="0" tIns="0" bIns="0">
            <a:spAutoFit/>
          </a:bodyPr>
          <a:lstStyle/>
          <a:p>
            <a:pPr algn="l">
              <a:lnSpc>
                <a:spcPct val="115000"/>
              </a:lnSpc>
              <a:spcAft>
                <a:spcPts val="600"/>
              </a:spcAft>
            </a:pPr>
            <a:r>
              <a:rPr sz="1500" b="1">
                <a:solidFill>
                  <a:srgbClr val="1F3A5F"/>
                </a:solidFill>
                <a:latin typeface="Segoe UI"/>
              </a:rPr>
              <a:t>Enter the GWD Base process</a:t>
            </a:r>
          </a:p>
        </p:txBody>
      </p:sp>
      <p:sp>
        <p:nvSpPr>
          <p:cNvPr id="21" name="TextBox 20"/>
          <p:cNvSpPr txBox="1"/>
          <p:nvPr/>
        </p:nvSpPr>
        <p:spPr>
          <a:xfrm>
            <a:off x="1325880" y="4425696"/>
            <a:ext cx="9601200" cy="274320"/>
          </a:xfrm>
          <a:prstGeom prst="rect">
            <a:avLst/>
          </a:prstGeom>
          <a:noFill/>
        </p:spPr>
        <p:txBody>
          <a:bodyPr wrap="square" lIns="0" rIns="0" tIns="0" bIns="0">
            <a:spAutoFit/>
          </a:bodyPr>
          <a:lstStyle/>
          <a:p>
            <a:pPr algn="l">
              <a:lnSpc>
                <a:spcPct val="115000"/>
              </a:lnSpc>
              <a:spcAft>
                <a:spcPts val="600"/>
              </a:spcAft>
            </a:pPr>
            <a:r>
              <a:rPr sz="1200" b="0">
                <a:solidFill>
                  <a:srgbClr val="6B7280"/>
                </a:solidFill>
                <a:latin typeface="Segoe UI"/>
              </a:rPr>
              <a:t>Submit the architecture for CTO/HQ review</a:t>
            </a:r>
          </a:p>
        </p:txBody>
      </p:sp>
      <p:sp>
        <p:nvSpPr>
          <p:cNvPr id="22" name="Oval 21"/>
          <p:cNvSpPr/>
          <p:nvPr/>
        </p:nvSpPr>
        <p:spPr>
          <a:xfrm>
            <a:off x="640080" y="4965192"/>
            <a:ext cx="457200" cy="457200"/>
          </a:xfrm>
          <a:prstGeom prst="ellipse">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056632"/>
            <a:ext cx="457200" cy="274320"/>
          </a:xfrm>
          <a:prstGeom prst="rect">
            <a:avLst/>
          </a:prstGeom>
          <a:noFill/>
        </p:spPr>
        <p:txBody>
          <a:bodyPr wrap="square" lIns="0" rIns="0" tIns="0" bIns="0">
            <a:spAutoFit/>
          </a:bodyPr>
          <a:lstStyle/>
          <a:p>
            <a:pPr algn="ctr">
              <a:lnSpc>
                <a:spcPct val="115000"/>
              </a:lnSpc>
              <a:spcAft>
                <a:spcPts val="600"/>
              </a:spcAft>
            </a:pPr>
            <a:r>
              <a:rPr sz="1400" b="1">
                <a:solidFill>
                  <a:srgbClr val="FFFFFF"/>
                </a:solidFill>
                <a:latin typeface="Segoe UI"/>
              </a:rPr>
              <a:t>5</a:t>
            </a:r>
          </a:p>
        </p:txBody>
      </p:sp>
      <p:sp>
        <p:nvSpPr>
          <p:cNvPr id="24" name="TextBox 23"/>
          <p:cNvSpPr txBox="1"/>
          <p:nvPr/>
        </p:nvSpPr>
        <p:spPr>
          <a:xfrm>
            <a:off x="1325880" y="4983480"/>
            <a:ext cx="4572000" cy="320040"/>
          </a:xfrm>
          <a:prstGeom prst="rect">
            <a:avLst/>
          </a:prstGeom>
          <a:noFill/>
        </p:spPr>
        <p:txBody>
          <a:bodyPr wrap="square" lIns="0" rIns="0" tIns="0" bIns="0">
            <a:spAutoFit/>
          </a:bodyPr>
          <a:lstStyle/>
          <a:p>
            <a:pPr algn="l">
              <a:lnSpc>
                <a:spcPct val="115000"/>
              </a:lnSpc>
              <a:spcAft>
                <a:spcPts val="600"/>
              </a:spcAft>
            </a:pPr>
            <a:r>
              <a:rPr sz="1500" b="1">
                <a:solidFill>
                  <a:srgbClr val="1F3A5F"/>
                </a:solidFill>
                <a:latin typeface="Segoe UI"/>
              </a:rPr>
              <a:t>Start the landing zone</a:t>
            </a:r>
          </a:p>
        </p:txBody>
      </p:sp>
      <p:sp>
        <p:nvSpPr>
          <p:cNvPr id="25" name="TextBox 24"/>
          <p:cNvSpPr txBox="1"/>
          <p:nvPr/>
        </p:nvSpPr>
        <p:spPr>
          <a:xfrm>
            <a:off x="1325880" y="5266944"/>
            <a:ext cx="9601200" cy="274320"/>
          </a:xfrm>
          <a:prstGeom prst="rect">
            <a:avLst/>
          </a:prstGeom>
          <a:noFill/>
        </p:spPr>
        <p:txBody>
          <a:bodyPr wrap="square" lIns="0" rIns="0" tIns="0" bIns="0">
            <a:spAutoFit/>
          </a:bodyPr>
          <a:lstStyle/>
          <a:p>
            <a:pPr algn="l">
              <a:lnSpc>
                <a:spcPct val="115000"/>
              </a:lnSpc>
              <a:spcAft>
                <a:spcPts val="600"/>
              </a:spcAft>
            </a:pPr>
            <a:r>
              <a:rPr sz="1200" b="0">
                <a:solidFill>
                  <a:srgbClr val="6B7280"/>
                </a:solidFill>
                <a:latin typeface="Segoe UI"/>
              </a:rPr>
              <a:t>Terraform, single-AZ GPU subnet, placement group</a:t>
            </a:r>
          </a:p>
        </p:txBody>
      </p:sp>
      <p:sp>
        <p:nvSpPr>
          <p:cNvPr id="26" name="TextBox 25"/>
          <p:cNvSpPr txBox="1"/>
          <p:nvPr/>
        </p:nvSpPr>
        <p:spPr>
          <a:xfrm>
            <a:off x="548640" y="5943600"/>
            <a:ext cx="11064240" cy="365760"/>
          </a:xfrm>
          <a:prstGeom prst="rect">
            <a:avLst/>
          </a:prstGeom>
          <a:noFill/>
        </p:spPr>
        <p:txBody>
          <a:bodyPr wrap="square" lIns="0" rIns="0" tIns="0" bIns="0">
            <a:spAutoFit/>
          </a:bodyPr>
          <a:lstStyle/>
          <a:p>
            <a:pPr algn="l">
              <a:lnSpc>
                <a:spcPct val="115000"/>
              </a:lnSpc>
              <a:spcAft>
                <a:spcPts val="600"/>
              </a:spcAft>
            </a:pPr>
            <a:r>
              <a:rPr sz="1050" b="0">
                <a:solidFill>
                  <a:srgbClr val="6B7280"/>
                </a:solidFill>
                <a:latin typeface="Segoe UI"/>
              </a:rPr>
              <a:t>Full analysis: Projects/Burstable MLaaS/Architecture/ — three architecture documents, two execution plans, and the researcher question 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